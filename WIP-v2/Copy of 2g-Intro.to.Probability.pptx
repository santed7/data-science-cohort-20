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tUiJmFJkyEJuzcFY7Jwb5xl9+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2BD528-F6E5-4268-93A5-72E25E3063DB}">
  <a:tblStyle styleId="{8B2BD528-F6E5-4268-93A5-72E25E3063D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d28cdfdd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21d28cdfdd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12.gif"/><Relationship Id="rId5" Type="http://schemas.openxmlformats.org/officeDocument/2006/relationships/hyperlink" Target="https://en.wikipedia.org/wiki/Combination" TargetMode="External"/><Relationship Id="rId6" Type="http://schemas.openxmlformats.org/officeDocument/2006/relationships/hyperlink" Target="https://en.wikipedia.org/wiki/Euler%27s_constant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Intro to Probability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457200" y="344404"/>
            <a:ext cx="82296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9"/>
              <a:buFont typeface="Arial"/>
              <a:buNone/>
            </a:pPr>
            <a:r>
              <a:rPr b="0" i="0" lang="en" sz="3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is Probability Important in Data Science?</a:t>
            </a:r>
            <a:endParaRPr b="0" i="0" sz="3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51175" y="1278850"/>
            <a:ext cx="8635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lets us model uncertainties.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Probabilities can be used to make classifications.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lets us make statements about a population.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ML methods depend on probability distribution assumptions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 Regression assumes the residuals are normally distributed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Gaussian Naive Bayes assumes the predictors are normally distributed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distributions can be useful to create ‘toy’ datasets to test out methods.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Probability?</a:t>
            </a:r>
            <a:endParaRPr/>
          </a:p>
        </p:txBody>
      </p:sp>
      <p:pic>
        <p:nvPicPr>
          <p:cNvPr descr="P(A) = \frac{\# \; of \; ways \; A \; can \; happen}{total \; number \; of \; outcomes}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275" y="1461449"/>
            <a:ext cx="7184050" cy="11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550700" y="3109175"/>
            <a:ext cx="7916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is an event. We read P(A) as “the probability of event A” or “the probability of A”. Note that the probability of a single event is called a 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marginal probability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idx="1" type="body"/>
          </p:nvPr>
        </p:nvSpPr>
        <p:spPr>
          <a:xfrm>
            <a:off x="311700" y="1256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blue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idx="1" type="body"/>
          </p:nvPr>
        </p:nvSpPr>
        <p:spPr>
          <a:xfrm>
            <a:off x="311700" y="1256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blue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grpSp>
        <p:nvGrpSpPr>
          <p:cNvPr id="80" name="Google Shape;80;p5"/>
          <p:cNvGrpSpPr/>
          <p:nvPr/>
        </p:nvGrpSpPr>
        <p:grpSpPr>
          <a:xfrm>
            <a:off x="4956325" y="2688625"/>
            <a:ext cx="3702800" cy="344100"/>
            <a:chOff x="4956325" y="2688625"/>
            <a:chExt cx="3702800" cy="344100"/>
          </a:xfrm>
        </p:grpSpPr>
        <p:sp>
          <p:nvSpPr>
            <p:cNvPr id="81" name="Google Shape;81;p5"/>
            <p:cNvSpPr/>
            <p:nvPr/>
          </p:nvSpPr>
          <p:spPr>
            <a:xfrm>
              <a:off x="4956325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5376700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5797075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217450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6637825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7058200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7478575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7898950" y="2688625"/>
              <a:ext cx="355800" cy="344100"/>
            </a:xfrm>
            <a:prstGeom prst="ellipse">
              <a:avLst/>
            </a:prstGeom>
            <a:solidFill>
              <a:srgbClr val="3C78D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8303325" y="2688625"/>
              <a:ext cx="355800" cy="344100"/>
            </a:xfrm>
            <a:prstGeom prst="ellipse">
              <a:avLst/>
            </a:prstGeom>
            <a:solidFill>
              <a:srgbClr val="3C78D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5"/>
          <p:cNvSpPr/>
          <p:nvPr/>
        </p:nvSpPr>
        <p:spPr>
          <a:xfrm rot="-5400000">
            <a:off x="6561650" y="1754650"/>
            <a:ext cx="449100" cy="361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771725" y="3843450"/>
            <a:ext cx="20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(Blue) = \frac{2}{9}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025" y="2260638"/>
            <a:ext cx="3702799" cy="1408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</a:t>
            </a:r>
            <a:r>
              <a:rPr b="1" lang="en">
                <a:solidFill>
                  <a:schemeClr val="dk1"/>
                </a:solidFill>
              </a:rPr>
              <a:t>non</a:t>
            </a:r>
            <a:r>
              <a:rPr lang="en">
                <a:solidFill>
                  <a:schemeClr val="dk1"/>
                </a:solidFill>
              </a:rPr>
              <a:t>-blue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</a:t>
            </a:r>
            <a:r>
              <a:rPr b="1" lang="en">
                <a:solidFill>
                  <a:schemeClr val="dk1"/>
                </a:solidFill>
              </a:rPr>
              <a:t>non</a:t>
            </a:r>
            <a:r>
              <a:rPr lang="en">
                <a:solidFill>
                  <a:schemeClr val="dk1"/>
                </a:solidFill>
              </a:rPr>
              <a:t>-blue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grpSp>
        <p:nvGrpSpPr>
          <p:cNvPr id="105" name="Google Shape;105;p7"/>
          <p:cNvGrpSpPr/>
          <p:nvPr/>
        </p:nvGrpSpPr>
        <p:grpSpPr>
          <a:xfrm>
            <a:off x="4956325" y="2688625"/>
            <a:ext cx="3702800" cy="344100"/>
            <a:chOff x="4956325" y="2688625"/>
            <a:chExt cx="3702800" cy="344100"/>
          </a:xfrm>
        </p:grpSpPr>
        <p:sp>
          <p:nvSpPr>
            <p:cNvPr id="106" name="Google Shape;106;p7"/>
            <p:cNvSpPr/>
            <p:nvPr/>
          </p:nvSpPr>
          <p:spPr>
            <a:xfrm>
              <a:off x="4956325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5376700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5797075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6217450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6637825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7058200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7478575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7898950" y="2688625"/>
              <a:ext cx="355800" cy="344100"/>
            </a:xfrm>
            <a:prstGeom prst="ellipse">
              <a:avLst/>
            </a:prstGeom>
            <a:solidFill>
              <a:srgbClr val="3C78D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303325" y="2688625"/>
              <a:ext cx="355800" cy="344100"/>
            </a:xfrm>
            <a:prstGeom prst="ellipse">
              <a:avLst/>
            </a:prstGeom>
            <a:solidFill>
              <a:srgbClr val="3C78D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7"/>
          <p:cNvSpPr/>
          <p:nvPr/>
        </p:nvSpPr>
        <p:spPr>
          <a:xfrm rot="-5400000">
            <a:off x="6561650" y="1754650"/>
            <a:ext cx="449100" cy="361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5771725" y="3843450"/>
            <a:ext cx="20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(Non Blue) = \frac{7}{9}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475" y="2513800"/>
            <a:ext cx="3812876" cy="10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rolling doubles on two six-sided die?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129" name="Google Shape;129;p9"/>
          <p:cNvSpPr txBox="1"/>
          <p:nvPr>
            <p:ph idx="1" type="body"/>
          </p:nvPr>
        </p:nvSpPr>
        <p:spPr>
          <a:xfrm>
            <a:off x="311700" y="11524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rolling doubles on two six-sided die?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30" name="Google Shape;130;p9"/>
          <p:cNvGraphicFramePr/>
          <p:nvPr/>
        </p:nvGraphicFramePr>
        <p:xfrm>
          <a:off x="1083816" y="217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{8B2BD528-F6E5-4268-93A5-72E25E3063DB}</a:tableStyleId>
              </a:tblPr>
              <a:tblGrid>
                <a:gridCol w="739350"/>
                <a:gridCol w="739350"/>
                <a:gridCol w="739350"/>
                <a:gridCol w="739350"/>
                <a:gridCol w="739350"/>
                <a:gridCol w="739350"/>
                <a:gridCol w="739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1" name="Google Shape;131;p9"/>
          <p:cNvSpPr txBox="1"/>
          <p:nvPr/>
        </p:nvSpPr>
        <p:spPr>
          <a:xfrm rot="-5400000">
            <a:off x="154791" y="3128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2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3278991" y="1604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1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271850" y="1659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outcomes: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x 6 = 36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311700" y="11524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rolling doubles on two six sided die?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40" name="Google Shape;140;p10"/>
          <p:cNvGraphicFramePr/>
          <p:nvPr/>
        </p:nvGraphicFramePr>
        <p:xfrm>
          <a:off x="1083816" y="217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{8B2BD528-F6E5-4268-93A5-72E25E3063DB}</a:tableStyleId>
              </a:tblPr>
              <a:tblGrid>
                <a:gridCol w="739350"/>
                <a:gridCol w="739350"/>
                <a:gridCol w="739350"/>
                <a:gridCol w="739350"/>
                <a:gridCol w="739350"/>
                <a:gridCol w="739350"/>
                <a:gridCol w="739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0"/>
          <p:cNvSpPr txBox="1"/>
          <p:nvPr/>
        </p:nvSpPr>
        <p:spPr>
          <a:xfrm rot="-5400000">
            <a:off x="154791" y="3128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2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3278991" y="1604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1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6271850" y="1659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outcomes: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x 6 = 36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6271850" y="2421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ways: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311700" y="11524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rolling doubles on two six sided die?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51" name="Google Shape;151;p11"/>
          <p:cNvGraphicFramePr/>
          <p:nvPr/>
        </p:nvGraphicFramePr>
        <p:xfrm>
          <a:off x="1083816" y="217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{8B2BD528-F6E5-4268-93A5-72E25E3063DB}</a:tableStyleId>
              </a:tblPr>
              <a:tblGrid>
                <a:gridCol w="739350"/>
                <a:gridCol w="739350"/>
                <a:gridCol w="739350"/>
                <a:gridCol w="739350"/>
                <a:gridCol w="739350"/>
                <a:gridCol w="739350"/>
                <a:gridCol w="739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1"/>
          <p:cNvSpPr txBox="1"/>
          <p:nvPr/>
        </p:nvSpPr>
        <p:spPr>
          <a:xfrm rot="-5400000">
            <a:off x="154791" y="3128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2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3278991" y="1604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1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6271850" y="1659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outcomes: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x 6 = 36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6271850" y="2421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ways: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6271850" y="3183650"/>
            <a:ext cx="2865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ways ÷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outcomes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6 / 36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1/6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Rules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311700" y="1152475"/>
            <a:ext cx="73413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Addition Rule ( “OR” events)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Multiplication Rule ( “AND” events 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Rules</a:t>
            </a:r>
            <a:endParaRPr/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311700" y="1152475"/>
            <a:ext cx="42603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Addition Rule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P(A or B) = P(A) + P(B) - P(A and B)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539975" y="2452750"/>
            <a:ext cx="3679200" cy="1978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1290450" y="2861050"/>
            <a:ext cx="1180500" cy="1162200"/>
          </a:xfrm>
          <a:prstGeom prst="ellipse">
            <a:avLst/>
          </a:prstGeom>
          <a:solidFill>
            <a:srgbClr val="B6D7A8">
              <a:alpha val="474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2202475" y="2861050"/>
            <a:ext cx="1180500" cy="1162200"/>
          </a:xfrm>
          <a:prstGeom prst="ellipse">
            <a:avLst/>
          </a:prstGeom>
          <a:solidFill>
            <a:srgbClr val="3C78D8">
              <a:alpha val="24705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11989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33373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4683225" y="1164625"/>
            <a:ext cx="42603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Addition Rule (Mutually Exclusive)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P(A or B) = P(A) + P(B)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807175" y="2452750"/>
            <a:ext cx="3679200" cy="1978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5321600" y="2989175"/>
            <a:ext cx="1180500" cy="1162200"/>
          </a:xfrm>
          <a:prstGeom prst="ellipse">
            <a:avLst/>
          </a:prstGeom>
          <a:solidFill>
            <a:srgbClr val="B6D7A8">
              <a:alpha val="474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6680225" y="2989175"/>
            <a:ext cx="1180500" cy="1162200"/>
          </a:xfrm>
          <a:prstGeom prst="ellipse">
            <a:avLst/>
          </a:prstGeom>
          <a:solidFill>
            <a:srgbClr val="3C78D8">
              <a:alpha val="24705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54661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76045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Rules</a:t>
            </a:r>
            <a:endParaRPr/>
          </a:p>
        </p:txBody>
      </p:sp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311700" y="1152475"/>
            <a:ext cx="42603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Addition Rule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P(A or B) = P(A) + P(B) - P(A and B)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539975" y="2452750"/>
            <a:ext cx="3679200" cy="1978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1290450" y="2861050"/>
            <a:ext cx="1180500" cy="1162200"/>
          </a:xfrm>
          <a:prstGeom prst="ellipse">
            <a:avLst/>
          </a:prstGeom>
          <a:solidFill>
            <a:srgbClr val="B6D7A8">
              <a:alpha val="474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2202475" y="2861050"/>
            <a:ext cx="1180500" cy="1162200"/>
          </a:xfrm>
          <a:prstGeom prst="ellipse">
            <a:avLst/>
          </a:prstGeom>
          <a:solidFill>
            <a:srgbClr val="3C78D8">
              <a:alpha val="24705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11989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33373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4683225" y="1164625"/>
            <a:ext cx="42603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Addition Rule (Mutually Exclusive)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P(A or B) = P(A) + P(B)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4807175" y="2452750"/>
            <a:ext cx="3679200" cy="1978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5321600" y="2989175"/>
            <a:ext cx="1180500" cy="1162200"/>
          </a:xfrm>
          <a:prstGeom prst="ellipse">
            <a:avLst/>
          </a:prstGeom>
          <a:solidFill>
            <a:srgbClr val="B6D7A8">
              <a:alpha val="474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6680225" y="2989175"/>
            <a:ext cx="1180500" cy="1162200"/>
          </a:xfrm>
          <a:prstGeom prst="ellipse">
            <a:avLst/>
          </a:prstGeom>
          <a:solidFill>
            <a:srgbClr val="3C78D8">
              <a:alpha val="24705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54661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76045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311700" y="4561525"/>
            <a:ext cx="86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not sure, use the non-mutually exclusive formula.  P(A and B) == 0, for mutually exclusive events.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03" name="Google Shape;20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blue marble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 yellow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09" name="Google Shape;20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blue marble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 yellow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3168600" y="2489400"/>
            <a:ext cx="2806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P(Blue or Yellow)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P(Blue) + P(Yellow)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2/9 + 3/9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5/9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16" name="Google Shape;21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draw a single card from a deck of cards, what is the probability the card is either a diamond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an ace?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draw a single card from a deck of cards, what is the probability the card is either a diamond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an ace?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835550" y="1888925"/>
            <a:ext cx="54729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P(Diamond) =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P(Ace) =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 and Ace) =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 or Ace)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29" name="Google Shape;22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draw a single card from a deck of cards, what is the probability the card is either a diamond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an ace?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1835550" y="1888925"/>
            <a:ext cx="54729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P(Diamond) = 13/52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P(Ace) = 4/52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 and Ace) = (13/52) x (4/52) = 1/52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 or Ace)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P(Diamond) + P(Ace) - P(Diamond and Ace)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13/52 + 4/52 - 1/52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16/52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Rules</a:t>
            </a:r>
            <a:endParaRPr/>
          </a:p>
        </p:txBody>
      </p:sp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311700" y="1152475"/>
            <a:ext cx="83280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Multiplication Rule - Note: This rule only applies for independent events! 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If the first event happening impacts the probability of the second event, the events are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dependent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If the first event happening does not impact the probability of the second event, the events are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independent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P(A and B) = P(A)*P(B)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Note that the probability of two events occurring is called a </a:t>
            </a:r>
            <a:r>
              <a:rPr b="1" lang="en">
                <a:solidFill>
                  <a:schemeClr val="dk1"/>
                </a:solidFill>
              </a:rPr>
              <a:t>joint probability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Multiplication Rule Examples</a:t>
            </a:r>
            <a:endParaRPr/>
          </a:p>
        </p:txBody>
      </p:sp>
      <p:sp>
        <p:nvSpPr>
          <p:cNvPr id="242" name="Google Shape;24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roll two six-sided die, what is the probability that you roll two 5s?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Multiplication Rule Examples</a:t>
            </a:r>
            <a:endParaRPr/>
          </a:p>
        </p:txBody>
      </p:sp>
      <p:sp>
        <p:nvSpPr>
          <p:cNvPr id="248" name="Google Shape;24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roll two six-sided die, what is the probability that you roll two 5s?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768775" y="1903650"/>
            <a:ext cx="5106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P(First Roll = 5) =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P(Second Roll = 5) =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P(First &amp; Second Rolls = 5) =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Multiplication Rule Examples</a:t>
            </a:r>
            <a:endParaRPr/>
          </a:p>
        </p:txBody>
      </p:sp>
      <p:sp>
        <p:nvSpPr>
          <p:cNvPr id="255" name="Google Shape;25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roll two six-sided die, what is the probability that you roll two 5s?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768775" y="1903650"/>
            <a:ext cx="5106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P(First Roll = 5) = 1/6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P(Second Roll = 5) = 1/6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P(First &amp; Second Rolls = 5) = 1/6 x 1/6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1/36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311700" y="145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1. A bag contains 2 orange, 3 purple and 2 yellow balls. Two of the balls are randomly drawn </a:t>
            </a:r>
            <a:r>
              <a:rPr b="1" lang="en">
                <a:solidFill>
                  <a:schemeClr val="dk1"/>
                </a:solidFill>
              </a:rPr>
              <a:t>with replacement</a:t>
            </a:r>
            <a:r>
              <a:rPr lang="en">
                <a:solidFill>
                  <a:schemeClr val="dk1"/>
                </a:solidFill>
              </a:rPr>
              <a:t>. What is the probability that </a:t>
            </a:r>
            <a:r>
              <a:rPr b="1" lang="en">
                <a:solidFill>
                  <a:schemeClr val="dk1"/>
                </a:solidFill>
              </a:rPr>
              <a:t>none</a:t>
            </a:r>
            <a:r>
              <a:rPr lang="en">
                <a:solidFill>
                  <a:schemeClr val="dk1"/>
                </a:solidFill>
              </a:rPr>
              <a:t> of the balls drawn is yellow?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68" name="Google Shape;268;p25"/>
          <p:cNvSpPr txBox="1"/>
          <p:nvPr>
            <p:ph idx="1" type="body"/>
          </p:nvPr>
        </p:nvSpPr>
        <p:spPr>
          <a:xfrm>
            <a:off x="311700" y="145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1. A bag contains 2 orange, 3 purple and 2 yellow balls. Two of the balls are randomly drawn </a:t>
            </a:r>
            <a:r>
              <a:rPr b="1" lang="en">
                <a:solidFill>
                  <a:schemeClr val="dk1"/>
                </a:solidFill>
              </a:rPr>
              <a:t>with replacement</a:t>
            </a:r>
            <a:r>
              <a:rPr lang="en">
                <a:solidFill>
                  <a:schemeClr val="dk1"/>
                </a:solidFill>
              </a:rPr>
              <a:t>. What is the probability that </a:t>
            </a:r>
            <a:r>
              <a:rPr b="1" lang="en">
                <a:solidFill>
                  <a:schemeClr val="dk1"/>
                </a:solidFill>
              </a:rPr>
              <a:t>none</a:t>
            </a:r>
            <a:r>
              <a:rPr lang="en">
                <a:solidFill>
                  <a:schemeClr val="dk1"/>
                </a:solidFill>
              </a:rPr>
              <a:t> of the balls drawn is yellow?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Total number of balls = 2 + 3 + 2 = 7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draw_1 = Yellow ) = 2/7 =&gt; P( draw_1 != Yellow ) = 5/7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draw_2 = Yellow ) = 2/7 =&gt; P( draw_2 != Yellow ) = 5/7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none yellow ) = P( draw_1 != Yellow ) x P( draw_2 != Yellow 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= 5/7 x 5/7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= 25/49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74" name="Google Shape;274;p26"/>
          <p:cNvSpPr txBox="1"/>
          <p:nvPr>
            <p:ph idx="1" type="body"/>
          </p:nvPr>
        </p:nvSpPr>
        <p:spPr>
          <a:xfrm>
            <a:off x="311700" y="145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2. A normal deck of cards has 52 cards in it. Assuming that you </a:t>
            </a:r>
            <a:r>
              <a:rPr b="1" lang="en">
                <a:solidFill>
                  <a:schemeClr val="dk1"/>
                </a:solidFill>
              </a:rPr>
              <a:t>DON'T</a:t>
            </a:r>
            <a:r>
              <a:rPr lang="en">
                <a:solidFill>
                  <a:schemeClr val="dk1"/>
                </a:solidFill>
              </a:rPr>
              <a:t> replace the card you had drawn before the next draw, what is the probability that you will draw three kings in a row?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80" name="Google Shape;280;p27"/>
          <p:cNvSpPr txBox="1"/>
          <p:nvPr>
            <p:ph idx="1" type="body"/>
          </p:nvPr>
        </p:nvSpPr>
        <p:spPr>
          <a:xfrm>
            <a:off x="311700" y="145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2. A normal deck of cards has 52 cards in it. Assuming that you </a:t>
            </a:r>
            <a:r>
              <a:rPr b="1" lang="en">
                <a:solidFill>
                  <a:schemeClr val="dk1"/>
                </a:solidFill>
              </a:rPr>
              <a:t>DON'T</a:t>
            </a:r>
            <a:r>
              <a:rPr lang="en">
                <a:solidFill>
                  <a:schemeClr val="dk1"/>
                </a:solidFill>
              </a:rPr>
              <a:t> replace the card you had drawn before the next draw, what is the probability that you will draw three kings in a row?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draw_1 = king ) = 4/52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draw_2 = king ) = 3/51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draw_3 = king ) = 2/50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P( 3 kings ) = P( draw_1 = king ) x P( draw_2 = king ) x P( draw_3 = king 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= 4/52 x 3/51 x 2/50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solidFill>
                  <a:schemeClr val="dk1"/>
                </a:solidFill>
              </a:rPr>
              <a:t>= 1/5,525</a:t>
            </a:r>
            <a:endParaRPr b="1" baseline="3000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86" name="Google Shape;28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(i) be both colour-blind and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(ii) be colour-blind and not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(iii) be colour-blind or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(iv) be neither colour-blind nor left-handed.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92" name="Google Shape;292;p29"/>
          <p:cNvSpPr txBox="1"/>
          <p:nvPr>
            <p:ph idx="1" type="body"/>
          </p:nvPr>
        </p:nvSpPr>
        <p:spPr>
          <a:xfrm>
            <a:off x="311700" y="1152475"/>
            <a:ext cx="8520600" cy="4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Let’s assume 10,000 men …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(i) be both colour-blind and left-handed 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0.16% = 80/10,000 x 2,000/10,000 = 16/10,000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(ii) be colour-blind and not left-handed 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0.64% = 80/10,000 x (10,000 - 2,000)/10,000 = 640/10,000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(iii) be colour-blind or left-handed 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20.64% = 80/10,000 + 2,000/10,000 - 16/10,000 = 2,064/10,000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(iv) be neither colour-blind nor left-handed.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79.36% = (10,000 - 80)/10,000 * (10,000 - 2,000)/10,000 = 7,936/10,000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d28cdfdd2_3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98" name="Google Shape;298;g21d28cdfdd2_3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(i) be both colour-blind and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0.16% = 0.008 x 0.2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(ii) be colour-blind and not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0.64% = 0.008 x ( 1 - 0.2 )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(iii) be colour-blind or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20.64% = 0.008 + 0.2 - 0.0016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(iv) be neither colour-blind nor left-handed.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79.36% = ( 1 - 0.008 ) x ( 1 - 0.2 ) = 1 - (iii)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304" name="Google Shape;304;p30"/>
          <p:cNvSpPr txBox="1"/>
          <p:nvPr>
            <p:ph idx="1" type="body"/>
          </p:nvPr>
        </p:nvSpPr>
        <p:spPr>
          <a:xfrm>
            <a:off x="311700" y="1152475"/>
            <a:ext cx="85206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05" name="Google Shape;305;p30"/>
          <p:cNvGraphicFramePr/>
          <p:nvPr/>
        </p:nvGraphicFramePr>
        <p:xfrm>
          <a:off x="3769400" y="249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{8B2BD528-F6E5-4268-93A5-72E25E3063DB}</a:tableStyleId>
              </a:tblPr>
              <a:tblGrid>
                <a:gridCol w="1265725"/>
                <a:gridCol w="1265725"/>
                <a:gridCol w="1265725"/>
                <a:gridCol w="1265725"/>
              </a:tblGrid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0.16%</a:t>
                      </a:r>
                      <a:br>
                        <a:rPr lang="en" sz="1400" u="none" cap="none" strike="noStrike"/>
                      </a:br>
                      <a:r>
                        <a:rPr lang="en" sz="1400" u="none" cap="none" strike="noStrike"/>
                        <a:t>(0.2*0.008)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19.84</a:t>
                      </a:r>
                      <a:br>
                        <a:rPr lang="en" sz="1400" u="none" cap="none" strike="noStrike"/>
                      </a:br>
                      <a:r>
                        <a:rPr lang="en" sz="1400" u="none" cap="none" strike="noStrike"/>
                        <a:t>(0.2*0.992)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0.64%</a:t>
                      </a:r>
                      <a:br>
                        <a:rPr lang="en" sz="1400" u="none" cap="none" strike="noStrike"/>
                      </a:br>
                      <a:r>
                        <a:rPr lang="en" sz="1400" u="none" cap="none" strike="noStrike"/>
                        <a:t>(0.8*0.008)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79.36%</a:t>
                      </a:r>
                      <a:br>
                        <a:rPr lang="en" sz="1400" u="none" cap="none" strike="noStrike"/>
                      </a:br>
                      <a:r>
                        <a:rPr lang="en" sz="1400" u="none" cap="none" strike="noStrike"/>
                        <a:t>(0.8*0.992)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0.8%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99.2%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6" name="Google Shape;306;p30"/>
          <p:cNvSpPr txBox="1"/>
          <p:nvPr/>
        </p:nvSpPr>
        <p:spPr>
          <a:xfrm>
            <a:off x="43125" y="2583675"/>
            <a:ext cx="3619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(i) be both colour-blind and left-handed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(ii) be colour-blind and not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(iii) be colour-blind or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(iv) be neither colour-blind nor left-handed.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/>
        </p:nvSpPr>
        <p:spPr>
          <a:xfrm>
            <a:off x="457200" y="205979"/>
            <a:ext cx="82296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Random Variables 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647850" y="3863975"/>
            <a:ext cx="784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distribution</a:t>
            </a:r>
            <a:r>
              <a:rPr b="0" i="0" lang="en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a function that provides the likelihood of seeing each value in a random variable’s sample space.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 txBox="1"/>
          <p:nvPr/>
        </p:nvSpPr>
        <p:spPr>
          <a:xfrm>
            <a:off x="649600" y="856625"/>
            <a:ext cx="71349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random variable </a:t>
            </a: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variable that can take on more than one value.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dealing with random variables, it is often useful to think about the </a:t>
            </a: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sample space </a:t>
            </a: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that variable.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Rolling a die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Height of men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/>
        </p:nvSpPr>
        <p:spPr>
          <a:xfrm>
            <a:off x="457200" y="205979"/>
            <a:ext cx="82296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Discrete vs. Continuous Probabilities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1513350" y="1219350"/>
            <a:ext cx="2577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Discrete random variables are defined by a </a:t>
            </a: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mass function.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Continuous random variables are defined by a </a:t>
            </a: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density function</a:t>
            </a: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1600" y="1022275"/>
            <a:ext cx="2403651" cy="159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3150" y="2892075"/>
            <a:ext cx="1893400" cy="19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75" y="3172775"/>
            <a:ext cx="3823000" cy="19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Distributions</a:t>
            </a:r>
            <a:endParaRPr/>
          </a:p>
        </p:txBody>
      </p:sp>
      <p:sp>
        <p:nvSpPr>
          <p:cNvPr id="328" name="Google Shape;328;p33"/>
          <p:cNvSpPr txBox="1"/>
          <p:nvPr/>
        </p:nvSpPr>
        <p:spPr>
          <a:xfrm>
            <a:off x="387900" y="1017725"/>
            <a:ext cx="783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distributions have a functional form that is defined by a set of parameters.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187" y="1999050"/>
            <a:ext cx="249697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 txBox="1"/>
          <p:nvPr/>
        </p:nvSpPr>
        <p:spPr>
          <a:xfrm>
            <a:off x="387900" y="2678775"/>
            <a:ext cx="3595800" cy="585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is the probability of success (e.g., heads)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 is the number of trials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20-07-12 at 7.03.31 PM.png" id="331" name="Google Shape;331;p33"/>
          <p:cNvPicPr preferRelativeResize="0"/>
          <p:nvPr/>
        </p:nvPicPr>
        <p:blipFill rotWithShape="1">
          <a:blip r:embed="rId5">
            <a:alphaModFix/>
          </a:blip>
          <a:srcRect b="8264" l="0" r="0" t="8256"/>
          <a:stretch/>
        </p:blipFill>
        <p:spPr>
          <a:xfrm>
            <a:off x="4901475" y="3437302"/>
            <a:ext cx="3822900" cy="157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2" name="Google Shape;332;p33"/>
          <p:cNvSpPr txBox="1"/>
          <p:nvPr/>
        </p:nvSpPr>
        <p:spPr>
          <a:xfrm>
            <a:off x="997575" y="1592475"/>
            <a:ext cx="25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Binomial Distribution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5588775" y="1632075"/>
            <a:ext cx="25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Distribution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5015025" y="2646625"/>
            <a:ext cx="3595800" cy="585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μ is the sample mean and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σ is the sample standard deviation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(x) = \frac{1}{\sqrt{2\pi\sigma^2}}exp(-\frac{(x-\mu)^2}{2\sigma^2})" id="335" name="Google Shape;33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12" y="1992900"/>
            <a:ext cx="2913737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Distributions</a:t>
            </a:r>
            <a:endParaRPr/>
          </a:p>
        </p:txBody>
      </p:sp>
      <p:pic>
        <p:nvPicPr>
          <p:cNvPr id="341" name="Google Shape;3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187" y="1999050"/>
            <a:ext cx="249697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997575" y="1592475"/>
            <a:ext cx="25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Binomial Distribution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5588775" y="1632075"/>
            <a:ext cx="25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Distribution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(x) = \frac{1}{\sqrt{2\pi\sigma^2}}exp(-\frac{(x-\mu)^2}{2\sigma^2})" id="344" name="Google Shape;34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3212" y="1992900"/>
            <a:ext cx="2913737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/>
        </p:nvSpPr>
        <p:spPr>
          <a:xfrm>
            <a:off x="492800" y="3162300"/>
            <a:ext cx="230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n, choose 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Also, n choose x, nCx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nCk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nCr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Math Combination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 flipH="1" rot="10800000">
            <a:off x="1277400" y="2611450"/>
            <a:ext cx="44820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34"/>
          <p:cNvCxnSpPr/>
          <p:nvPr/>
        </p:nvCxnSpPr>
        <p:spPr>
          <a:xfrm rot="10800000">
            <a:off x="7022450" y="2425400"/>
            <a:ext cx="432600" cy="51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34"/>
          <p:cNvSpPr txBox="1"/>
          <p:nvPr/>
        </p:nvSpPr>
        <p:spPr>
          <a:xfrm>
            <a:off x="6459009" y="3009900"/>
            <a:ext cx="230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raised to the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Euler's constant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Distributions</a:t>
            </a:r>
            <a:endParaRPr/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There are many other probability distributions. We will discuss them and how to generate samples from probability distributions in Python in a later lecture.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55" name="Google Shape;3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8725" y="2050100"/>
            <a:ext cx="2818025" cy="28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