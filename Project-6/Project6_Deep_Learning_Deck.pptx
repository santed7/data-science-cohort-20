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12B5A5"/>
            </a:solidFill>
            <a:ln w="38100" cap="flat">
              <a:solidFill>
                <a:srgbClr val="12B5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B5A5"/>
              </a:solidFill>
              <a:ln w="9525" cap="flat">
                <a:solidFill>
                  <a:srgbClr val="12B5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0.58</c:v>
                </c:pt>
                <c:pt idx="1">
                  <c:v>0.66</c:v>
                </c:pt>
                <c:pt idx="2">
                  <c:v>0.72</c:v>
                </c:pt>
                <c:pt idx="3">
                  <c:v>0.77</c:v>
                </c:pt>
                <c:pt idx="4">
                  <c:v>0.81</c:v>
                </c:pt>
                <c:pt idx="5">
                  <c:v>0.85</c:v>
                </c:pt>
                <c:pt idx="6">
                  <c:v>0.88</c:v>
                </c:pt>
                <c:pt idx="7">
                  <c:v>0.91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13294B"/>
            </a:solidFill>
            <a:ln w="38100" cap="flat">
              <a:solidFill>
                <a:srgbClr val="1329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3294B"/>
              </a:solidFill>
              <a:ln w="9525" cap="flat">
                <a:solidFill>
                  <a:srgbClr val="1329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0.57</c:v>
                </c:pt>
                <c:pt idx="1">
                  <c:v>0.64</c:v>
                </c:pt>
                <c:pt idx="2">
                  <c:v>0.69</c:v>
                </c:pt>
                <c:pt idx="3">
                  <c:v>0.72</c:v>
                </c:pt>
                <c:pt idx="4">
                  <c:v>0.74</c:v>
                </c:pt>
                <c:pt idx="5">
                  <c:v>0.745</c:v>
                </c:pt>
                <c:pt idx="6">
                  <c:v>0.75</c:v>
                </c:pt>
                <c:pt idx="7">
                  <c:v>0.748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B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2148840"/>
            <a:ext cx="1554480" cy="1554480"/>
          </a:xfrm>
          <a:prstGeom prst="rect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921240" y="2423160"/>
            <a:ext cx="1554480" cy="1554480"/>
          </a:xfrm>
          <a:prstGeom prst="rect">
            <a:avLst/>
          </a:prstGeom>
          <a:solidFill>
            <a:srgbClr val="0E7C7B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2697480"/>
            <a:ext cx="1554480" cy="155448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315468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1981" y="33211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6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" y="19659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Classification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Deep Learning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neural network to tell a cat from a dog — and learning why the labels, not the model, are the tricky part.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5440680"/>
            <a:ext cx="54864" cy="64008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5440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Vernon T. Cox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Student, CNM  ·  GitHub: santed7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for you, historically hard for a computer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6126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toddler can glance at a photo and say “dog.” For decades, getting a computer to do the same reliably was one of the hardest problems in the field.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approaches needed humans to hand-describe what a dog “looks like” — fur, ears, snout. That never generalized well.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flipped the script: instead of being told the rules, the network learns the patterns directly from thousands of labeled examples.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040880" y="1691640"/>
            <a:ext cx="4572000" cy="1417320"/>
          </a:xfrm>
          <a:prstGeom prst="rect">
            <a:avLst/>
          </a:prstGeom>
          <a:solidFill>
            <a:srgbClr val="EEF2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0" y="1691640"/>
            <a:ext cx="73152" cy="1417320"/>
          </a:xfrm>
          <a:prstGeom prst="rect">
            <a:avLst/>
          </a:prstGeom>
          <a:solidFill>
            <a:srgbClr val="5B6B7B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 — hand-coded rules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22128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write features. Brittle, slow, and poor on new images.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040880" y="3337560"/>
            <a:ext cx="4572000" cy="1417320"/>
          </a:xfrm>
          <a:prstGeom prst="rect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40880" y="3337560"/>
            <a:ext cx="73152" cy="141732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WAY — learned patterns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385876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discovers its own features from examples. Accurate and general.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a cat from a dog was an early flagship win for deep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feed the model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images arrive pre-packaged as Python “pickle” files — not a folder of named pictures. That detail matters later.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2526030" cy="2743200"/>
          </a:xfrm>
          <a:prstGeom prst="rect">
            <a:avLst/>
          </a:prstGeom>
          <a:solidFill>
            <a:srgbClr val="EEF2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788920"/>
            <a:ext cx="566928" cy="56692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93632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566160"/>
            <a:ext cx="2068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X.pickle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7240" y="4160520"/>
            <a:ext cx="2068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images — a stack of grayscale pixel grids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94710" y="2468880"/>
            <a:ext cx="2526030" cy="2743200"/>
          </a:xfrm>
          <a:prstGeom prst="rect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69030" y="2788920"/>
            <a:ext cx="566928" cy="566928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431" y="293632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23310" y="3566160"/>
            <a:ext cx="2068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y.pickle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3623310" y="4160520"/>
            <a:ext cx="2068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labels — a single 0 or 1 per image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40780" y="2468880"/>
            <a:ext cx="2526030" cy="2743200"/>
          </a:xfrm>
          <a:prstGeom prst="rect">
            <a:avLst/>
          </a:prstGeom>
          <a:solidFill>
            <a:srgbClr val="EEF2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15100" y="2788920"/>
            <a:ext cx="566928" cy="56692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501" y="293632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69380" y="3566160"/>
            <a:ext cx="2068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1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469380" y="4160520"/>
            <a:ext cx="2068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classes: one is cat, one is dog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9086850" y="2468880"/>
            <a:ext cx="2526030" cy="2743200"/>
          </a:xfrm>
          <a:prstGeom prst="rect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361170" y="2788920"/>
            <a:ext cx="566928" cy="566928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571" y="2936321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15450" y="3566160"/>
            <a:ext cx="2068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dog.jpg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9315450" y="4160520"/>
            <a:ext cx="2068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held-out image the model never trains on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are scaled from 0–255 down to 0–1 so the network trains faster and more stably.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convolutional network sees an image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spots bigger ideas than the one before — edges become fur, fur becomes ears, ears become “dog.”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2542032" cy="2468880"/>
          </a:xfrm>
          <a:prstGeom prst="rect">
            <a:avLst/>
          </a:prstGeom>
          <a:solidFill>
            <a:srgbClr val="EEF2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788920"/>
            <a:ext cx="603504" cy="60350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788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4672" y="35387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4672" y="402336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small filters across the image to find local patterns (edges, textures).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88" y="3602736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2424" y="2514600"/>
            <a:ext cx="2542032" cy="2468880"/>
          </a:xfrm>
          <a:prstGeom prst="rect">
            <a:avLst/>
          </a:prstGeom>
          <a:solidFill>
            <a:srgbClr val="EEF2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48456" y="2788920"/>
            <a:ext cx="603504" cy="60350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5" name="Text 11"/>
          <p:cNvSpPr/>
          <p:nvPr/>
        </p:nvSpPr>
        <p:spPr>
          <a:xfrm>
            <a:off x="3648456" y="2788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648456" y="35387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Pooling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48456" y="402336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the picture, keeping the strongest signals and dropping noise.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3602736"/>
            <a:ext cx="274320" cy="2743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36208" y="2514600"/>
            <a:ext cx="2542032" cy="2468880"/>
          </a:xfrm>
          <a:prstGeom prst="rect">
            <a:avLst/>
          </a:prstGeom>
          <a:solidFill>
            <a:srgbClr val="EEF2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2788920"/>
            <a:ext cx="603504" cy="60350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1" name="Text 16"/>
          <p:cNvSpPr/>
          <p:nvPr/>
        </p:nvSpPr>
        <p:spPr>
          <a:xfrm>
            <a:off x="6492240" y="2788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492240" y="35387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Flatten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492240" y="402336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Unrolls the 2-D feature maps into one long list of numbers.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1956" y="3602736"/>
            <a:ext cx="274320" cy="2743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79992" y="2514600"/>
            <a:ext cx="2542032" cy="2468880"/>
          </a:xfrm>
          <a:prstGeom prst="rect">
            <a:avLst/>
          </a:prstGeom>
          <a:solidFill>
            <a:srgbClr val="EEF2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336024" y="2788920"/>
            <a:ext cx="603504" cy="60350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7" name="Text 21"/>
          <p:cNvSpPr/>
          <p:nvPr/>
        </p:nvSpPr>
        <p:spPr>
          <a:xfrm>
            <a:off x="9336024" y="2788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9336024" y="35387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336024" y="402336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layer plus sigmoid weighs everything into one probability (0–1).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stack two convolution + pooling blocks — plenty for a teaching example.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layer stack we actually built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766560" cy="54864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82296" cy="548640"/>
          </a:xfrm>
          <a:prstGeom prst="rect">
            <a:avLst/>
          </a:prstGeom>
          <a:solidFill>
            <a:srgbClr val="5B6B7B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 (H × W × channels)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6766560" cy="54864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404872"/>
            <a:ext cx="82296" cy="54864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4048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ReLU  × 64 filters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2404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local patterns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26664"/>
            <a:ext cx="6766560" cy="54864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026664"/>
            <a:ext cx="82296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0266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2×2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46320" y="30266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+ keep strongest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648456"/>
            <a:ext cx="6766560" cy="54864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3648456"/>
            <a:ext cx="82296" cy="54864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36484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ReLU  × 64 filters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36484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into bigger shapes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270248"/>
            <a:ext cx="6766560" cy="54864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4270248"/>
            <a:ext cx="82296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4270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2×2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46320" y="4270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again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892040"/>
            <a:ext cx="6766560" cy="54864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4892040"/>
            <a:ext cx="82296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5"/>
          <p:cNvSpPr/>
          <p:nvPr/>
        </p:nvSpPr>
        <p:spPr>
          <a:xfrm>
            <a:off x="804672" y="4892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→ Dense (64) → Dropout 30%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84632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features, fight overfitting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5513832"/>
            <a:ext cx="6766560" cy="54864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1" name="Shape 28"/>
          <p:cNvSpPr/>
          <p:nvPr/>
        </p:nvSpPr>
        <p:spPr>
          <a:xfrm>
            <a:off x="548640" y="5513832"/>
            <a:ext cx="82296" cy="54864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2" name="Text 29"/>
          <p:cNvSpPr/>
          <p:nvPr/>
        </p:nvSpPr>
        <p:spPr>
          <a:xfrm>
            <a:off x="804672" y="5513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(1) + Sigmoid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846320" y="5513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probability out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680960" y="1783080"/>
            <a:ext cx="3931920" cy="4251960"/>
          </a:xfrm>
          <a:prstGeom prst="rect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001000" y="2057400"/>
            <a:ext cx="548640" cy="548640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646" y="2200046"/>
            <a:ext cx="263347" cy="263347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800100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one output neuron?</a:t>
            </a:r>
            <a:endParaRPr lang="en-US" sz="1700" dirty="0"/>
          </a:p>
        </p:txBody>
      </p:sp>
      <p:sp>
        <p:nvSpPr>
          <p:cNvPr id="38" name="Text 34"/>
          <p:cNvSpPr/>
          <p:nvPr/>
        </p:nvSpPr>
        <p:spPr>
          <a:xfrm>
            <a:off x="8001000" y="31546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Cat-vs-dog is a yes/no question, so a single sigmoid is all we need. It returns one number between 0 and 1 — the probability of class 1.</a:t>
            </a:r>
            <a:endParaRPr lang="en-US" sz="1350" dirty="0"/>
          </a:p>
        </p:txBody>
      </p:sp>
      <p:sp>
        <p:nvSpPr>
          <p:cNvPr id="39" name="Shape 35"/>
          <p:cNvSpPr/>
          <p:nvPr/>
        </p:nvSpPr>
        <p:spPr>
          <a:xfrm>
            <a:off x="8001000" y="4343400"/>
            <a:ext cx="3291840" cy="182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0" name="Text 36"/>
          <p:cNvSpPr/>
          <p:nvPr/>
        </p:nvSpPr>
        <p:spPr>
          <a:xfrm>
            <a:off x="8001000" y="4526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are read straight from the data, so the model keeps working even if the image size changes.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Watching it learn — and watching for overfitting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epoch is one full pass over the data. We hold back a slice the model never trains on so we can tell real learning from memorizing.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37744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726680" y="2377440"/>
            <a:ext cx="3886200" cy="1554480"/>
          </a:xfrm>
          <a:prstGeom prst="rect">
            <a:avLst/>
          </a:prstGeom>
          <a:solidFill>
            <a:srgbClr val="EEF2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726680" y="2377440"/>
            <a:ext cx="73152" cy="155448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0" name="Text 6"/>
          <p:cNvSpPr/>
          <p:nvPr/>
        </p:nvSpPr>
        <p:spPr>
          <a:xfrm>
            <a:off x="8001000" y="25420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gap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001000" y="290779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training keeps climbing but validation flattens, the model is memorizing — not learning. That gap is your overfitting alarm.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726680" y="4114800"/>
            <a:ext cx="3886200" cy="1554480"/>
          </a:xfrm>
          <a:prstGeom prst="rect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26680" y="4114800"/>
            <a:ext cx="73152" cy="155448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4" name="Text 10"/>
          <p:cNvSpPr/>
          <p:nvPr/>
        </p:nvSpPr>
        <p:spPr>
          <a:xfrm>
            <a:off x="8001000" y="427939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 isn't always more epochs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001000" y="486460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validation stops improving, extra epochs just overfit. Dropout and a held-out split keep us honest.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5989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curves for teaching the shape of the result.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GOTCHA THAT BIT US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was right — the labels lied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20480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8680" y="27432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 0.841 — confident.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printout said the opposite animal.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data came from a pickle, not named folders. The numbers 0 and 1 carry no names — the cat/dog mapping isn't stored anywhere in the data.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backwards label table flips every single answer, no matter how good the model is.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309360" y="1783080"/>
            <a:ext cx="5303520" cy="4114800"/>
          </a:xfrm>
          <a:prstGeom prst="rect">
            <a:avLst/>
          </a:prstGeom>
          <a:solidFill>
            <a:srgbClr val="EEF2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81" y="220480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62940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truth.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0/1 → word mapping once; every later cell reads from it.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by eye.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labeled thumbnails. If a clear dog is titled “dog,” the mapping is right.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the animal.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probability and the prediction from the same table, so they can never disagree.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PROBABILITY TO PREDICTION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502152" cy="2788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441448"/>
            <a:ext cx="603504" cy="603504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479" y="2598359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322783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learns the features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15568" y="397764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hand-coded rules. Stacked convolutions turn raw pixels into the concept of “dog.”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17720" y="2148840"/>
            <a:ext cx="3502152" cy="2788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2441448"/>
            <a:ext cx="603504" cy="603504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239" y="2598359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0328" y="322783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validation, not just training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910328" y="397764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two curves is the clearest signal of overfitting.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412480" y="2148840"/>
            <a:ext cx="3502152" cy="2788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05088" y="2441448"/>
            <a:ext cx="603504" cy="603504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999" y="2598359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05088" y="322783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 the labels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705088" y="397764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only as trustworthy as the 0/1 → word mapping you print it through.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 </a:t>
            </a:r>
            <a:pPr indent="0" marL="0">
              <a:buNone/>
            </a:pPr>
            <a:r>
              <a:rPr lang="en-US" sz="1500" i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solved a problem that stumped researchers for decades — and the hardest bug was a label table, not the math.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Vernon T. Cox  ·  Data Science Student, CNM  ·  GitHub: santed7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6: Image Classification with Deep Learning</dc:title>
  <dc:subject>PptxGenJS Presentation</dc:subject>
  <dc:creator>Vernon T. Cox</dc:creator>
  <cp:lastModifiedBy>Vernon T. Cox</cp:lastModifiedBy>
  <cp:revision>1</cp:revision>
  <dcterms:created xsi:type="dcterms:W3CDTF">2026-06-05T21:02:01Z</dcterms:created>
  <dcterms:modified xsi:type="dcterms:W3CDTF">2026-06-05T21:02:01Z</dcterms:modified>
</cp:coreProperties>
</file>