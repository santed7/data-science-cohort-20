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CADCFC">
              <a:alpha val="18000"/>
            </a:srgbClr>
          </a:solidFill>
          <a:ln w="12700">
            <a:solidFill>
              <a:srgbClr val="CADCFC">
                <a:alpha val="1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1828800" cy="1828800"/>
          </a:xfrm>
          <a:prstGeom prst="ellipse">
            <a:avLst/>
          </a:prstGeom>
          <a:solidFill>
            <a:srgbClr val="E8C547">
              <a:alpha val="30000"/>
            </a:srgbClr>
          </a:solidFill>
          <a:ln w="12700">
            <a:solidFill>
              <a:srgbClr val="E8C547">
                <a:alpha val="3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37160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SanTed Quantum Scheduling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22402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Quantum-Optimized Scheduling for Complex Operations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2286000" cy="4572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92608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Vernon T. Cox, DBA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327355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Albuquerque, New Mexico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62102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20, 2005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96849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SDVOSB · HUBZone Certified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31596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20-1529126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ADCFC">
              <a:alpha val="2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Mexico Quantum Technologies Award  ·  2026 Program Year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1645920"/>
            <a:ext cx="28346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5486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474720" y="36576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Scheduling tools organize plans — they can't find the best one.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3383280" y="1051560"/>
            <a:ext cx="5394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383280" y="1051560"/>
            <a:ext cx="64008" cy="105156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566160" y="112471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Republic Services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566160" y="1399032"/>
            <a:ext cx="5074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17,000+ vehicles, 10,000 daily routes — suboptimal routing wastes millions in fuel and labor annually.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83280" y="2240280"/>
            <a:ext cx="5394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2240280"/>
            <a:ext cx="64008" cy="105156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566160" y="231343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Greyhound Lines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566160" y="2587752"/>
            <a:ext cx="5074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bus network across thousands of route miles — manual scheduling leaves efficiency on the table every day.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383280" y="3429000"/>
            <a:ext cx="539496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383280" y="3429000"/>
            <a:ext cx="64008" cy="105156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566160" y="35021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Programs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566160" y="3776472"/>
            <a:ext cx="5074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$241M defense programs where schedule errors trigger cost overruns, audit findings, and contract penalties.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Solution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quantum-native scheduling engine that finds the best possible schedule — not just a workable one.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651760" cy="310896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600200"/>
            <a:ext cx="2651760" cy="54864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7190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2194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Proven Platform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SPS architecture with AI forecasting and OTQ framework — validated by NAVAIR, AFNWC, Intel, FedEx, and Meta over 20 years.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0" y="1600200"/>
            <a:ext cx="2651760" cy="310896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600200"/>
            <a:ext cx="2651760" cy="54864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7190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37560" y="2194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Quantum Engine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37560" y="260604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D-Wave quantum annealing hardware evaluates every scheduling combination simultaneously via cloud API — real hardware, not simulation.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1600200"/>
            <a:ext cx="2651760" cy="310896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600200"/>
            <a:ext cx="2651760" cy="54864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719072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172200" y="21945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Invisible Upgrade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172200" y="260604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use the same tools and interfaces they use today. A scheduler submits a problem and receives a better answer. That is the product.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4736592"/>
            <a:ext cx="8412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MVP: Quantum-integrated SPS platform piloted with NAVAIR and Los Alamos National Laboratory — benchmarked against classical outputs.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 Size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1645920" cy="4572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1920240" cy="2743200"/>
          </a:xfrm>
          <a:prstGeom prst="rect">
            <a:avLst/>
          </a:prstGeom>
          <a:solidFill>
            <a:srgbClr val="243070"/>
          </a:solidFill>
          <a:ln w="6350">
            <a:solidFill>
              <a:srgbClr val="3D52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325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$20B+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221284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Scheduling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Market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" y="2926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Global, 2024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68880" y="1188720"/>
            <a:ext cx="1920240" cy="2743200"/>
          </a:xfrm>
          <a:prstGeom prst="rect">
            <a:avLst/>
          </a:prstGeom>
          <a:solidFill>
            <a:srgbClr val="243070"/>
          </a:solidFill>
          <a:ln w="6350">
            <a:solidFill>
              <a:srgbClr val="3D52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325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11%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468880" y="221284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CAGR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2030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468880" y="2926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logistics complexity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0" y="1188720"/>
            <a:ext cx="1920240" cy="2743200"/>
          </a:xfrm>
          <a:prstGeom prst="rect">
            <a:avLst/>
          </a:prstGeom>
          <a:solidFill>
            <a:srgbClr val="243070"/>
          </a:solidFill>
          <a:ln w="6350">
            <a:solidFill>
              <a:srgbClr val="3D52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325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17,000+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72000" y="221284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Republic Services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Alone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0" y="2926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customer, massive scale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675120" y="1188720"/>
            <a:ext cx="1920240" cy="2743200"/>
          </a:xfrm>
          <a:prstGeom prst="rect">
            <a:avLst/>
          </a:prstGeom>
          <a:solidFill>
            <a:srgbClr val="243070"/>
          </a:solidFill>
          <a:ln w="6350">
            <a:solidFill>
              <a:srgbClr val="3D529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1325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6675120" y="221284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Quantum-Native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Competitors Today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675120" y="29260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opportunity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73659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Grand View Research (2024 Scheduling Software Market Report) · Republic Services Annual Report 2023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Competition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192024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144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286000" y="896112"/>
            <a:ext cx="146304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31720" y="914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794760" y="896112"/>
            <a:ext cx="25603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0" y="914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Gap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896112"/>
            <a:ext cx="256032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9144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SQS Advantage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371600"/>
            <a:ext cx="1920240" cy="914400"/>
          </a:xfrm>
          <a:prstGeom prst="rect">
            <a:avLst/>
          </a:prstGeom>
          <a:solidFill>
            <a:srgbClr val="FFFFFF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41732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Project / Primavera P6 / Deltek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286000" y="1371600"/>
            <a:ext cx="1463040" cy="914400"/>
          </a:xfrm>
          <a:prstGeom prst="rect">
            <a:avLst/>
          </a:prstGeom>
          <a:solidFill>
            <a:srgbClr val="FFFFFF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50008" y="1417320"/>
            <a:ext cx="1335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tools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794760" y="1371600"/>
            <a:ext cx="2560320" cy="914400"/>
          </a:xfrm>
          <a:prstGeom prst="rect">
            <a:avLst/>
          </a:prstGeom>
          <a:solidFill>
            <a:srgbClr val="FFFFFF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58768" y="1417320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algorithms — cannot guarantee optimal solutions at scale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0" y="1371600"/>
            <a:ext cx="2560320" cy="914400"/>
          </a:xfrm>
          <a:prstGeom prst="rect">
            <a:avLst/>
          </a:prstGeom>
          <a:solidFill>
            <a:srgbClr val="E8F5EE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64808" y="1417320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finds what classical can't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2377440"/>
            <a:ext cx="1920240" cy="914400"/>
          </a:xfrm>
          <a:prstGeom prst="rect">
            <a:avLst/>
          </a:prstGeom>
          <a:solidFill>
            <a:srgbClr val="F4F6FB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048" y="242316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OptimoRoute / Google OR-Tools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286000" y="2377440"/>
            <a:ext cx="1463040" cy="914400"/>
          </a:xfrm>
          <a:prstGeom prst="rect">
            <a:avLst/>
          </a:prstGeom>
          <a:solidFill>
            <a:srgbClr val="F4F6FB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50008" y="2423160"/>
            <a:ext cx="1335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optimization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794760" y="2377440"/>
            <a:ext cx="2560320" cy="914400"/>
          </a:xfrm>
          <a:prstGeom prst="rect">
            <a:avLst/>
          </a:prstGeom>
          <a:solidFill>
            <a:srgbClr val="F4F6FB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58768" y="2423160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Heuristic-based — degrades as fleet size and constraints grow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0" y="2377440"/>
            <a:ext cx="2560320" cy="914400"/>
          </a:xfrm>
          <a:prstGeom prst="rect">
            <a:avLst/>
          </a:prstGeom>
          <a:solidFill>
            <a:srgbClr val="E8F5EE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64808" y="2423160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all combinations simultaneously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20040" y="3383280"/>
            <a:ext cx="1920240" cy="914400"/>
          </a:xfrm>
          <a:prstGeom prst="rect">
            <a:avLst/>
          </a:prstGeom>
          <a:solidFill>
            <a:srgbClr val="FFFFFF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429000"/>
            <a:ext cx="17922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QCWare / quantum research labs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2286000" y="3383280"/>
            <a:ext cx="1463040" cy="914400"/>
          </a:xfrm>
          <a:prstGeom prst="rect">
            <a:avLst/>
          </a:prstGeom>
          <a:solidFill>
            <a:srgbClr val="FFFFFF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50008" y="3429000"/>
            <a:ext cx="13350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technology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794760" y="3383280"/>
            <a:ext cx="2560320" cy="914400"/>
          </a:xfrm>
          <a:prstGeom prst="rect">
            <a:avLst/>
          </a:prstGeom>
          <a:solidFill>
            <a:srgbClr val="FFFFFF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858768" y="3429000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commercial fleet or federal scheduling product today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400800" y="3383280"/>
            <a:ext cx="2560320" cy="914400"/>
          </a:xfrm>
          <a:prstGeom prst="rect">
            <a:avLst/>
          </a:prstGeom>
          <a:solidFill>
            <a:srgbClr val="E8F5EE"/>
          </a:solidFill>
          <a:ln w="3810">
            <a:solidFill>
              <a:srgbClr val="CADCF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64808" y="3429000"/>
            <a:ext cx="243230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20-yr domain depth + SDVOSB access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320040" y="4434840"/>
            <a:ext cx="8641080" cy="42062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462272"/>
            <a:ext cx="8321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competitor combines quantum optimization + federal scheduling compliance expertise + commercial fleet relationships.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743200" cy="5029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9326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1 — Validation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2743200" cy="338328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5087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quantum algorithms engineer (Albuquerque)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22585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D-Wave Leap API with SPS platform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57200" y="300837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with NAVAIR + LANL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57200" y="3758184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vs. classical — document ROI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0" y="914400"/>
            <a:ext cx="27432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9326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2 — Commercialization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743200" cy="338328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37560" y="15087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sales to Republic Services + Greyhound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337560" y="22585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Federal task order vehicles (SDVOSB / HUBZone)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337560" y="300837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pilots to recurring contracts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337560" y="3758184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SBIR Phase II application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080760" y="914400"/>
            <a:ext cx="2743200" cy="50292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080760" y="9326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3 — Scale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80760" y="1417320"/>
            <a:ext cx="2743200" cy="338328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217920" y="15087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revenue across both market segments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217920" y="2258568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fundraise supported by performance data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17920" y="3008376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quantum algorithms team in NM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17920" y="3758184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</a:t>
            </a:r>
            <a:pPr algn="l"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market positioning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model: per-engagement fees · SDVOSB + HUBZone set-aside contracts · Recurring task order vehicles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Forecast &amp; Investors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828800" cy="45720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51560"/>
            <a:ext cx="2743200" cy="1554480"/>
          </a:xfrm>
          <a:prstGeom prst="rect">
            <a:avLst/>
          </a:prstGeom>
          <a:solidFill>
            <a:srgbClr val="243070"/>
          </a:solidFill>
          <a:ln w="6350">
            <a:solidFill>
              <a:srgbClr val="3D529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15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Dreamspring CDFI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4356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$100,000+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loan &amp; line of credit · Institutional lender · Albuquerque, NM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743200" cy="1554480"/>
          </a:xfrm>
          <a:prstGeom prst="rect">
            <a:avLst/>
          </a:prstGeom>
          <a:solidFill>
            <a:srgbClr val="243070"/>
          </a:solidFill>
          <a:ln w="6350">
            <a:solidFill>
              <a:srgbClr val="3D52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46120" y="1115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Investment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46120" y="14356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$29,000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37560" y="19659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Vernon T. Cox · Platform development since 2005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26480" y="1051560"/>
            <a:ext cx="2743200" cy="1554480"/>
          </a:xfrm>
          <a:prstGeom prst="rect">
            <a:avLst/>
          </a:prstGeom>
          <a:solidFill>
            <a:srgbClr val="243070"/>
          </a:solidFill>
          <a:ln w="6350">
            <a:solidFill>
              <a:srgbClr val="3D529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11556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NMQTA Request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126480" y="143560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8C5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$200,000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217920" y="1965960"/>
            <a:ext cx="2560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engine development · 12-month milestone plan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27889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Path to Profitability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65760" y="3218688"/>
            <a:ext cx="54864" cy="384048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21868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Current: Annual revenue under $50K · Lean operations · Modest operating loss driven by platform development investment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3749040"/>
            <a:ext cx="54864" cy="384048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749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2: First per-engagement contracts with Republic Services, Greyhound, or federal clients → revenue multiple of current annual income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279392"/>
            <a:ext cx="54864" cy="384048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2793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3: Recurring contract vehicles + SBIR Phase II → sustained profitability · Series A positioning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prior funding secured: $129,000+  ·  NMQTA award is not first money in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4206240" cy="393192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4206240" cy="54864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024128"/>
            <a:ext cx="658368" cy="658368"/>
          </a:xfrm>
          <a:prstGeom prst="ellipse">
            <a:avLst/>
          </a:prstGeom>
          <a:solidFill>
            <a:srgbClr val="1E2761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0241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25880" y="102412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Vernon T. Cox, DBA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25880" y="13716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Principal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1783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of Business Administration (DBA)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48640" y="2359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of Business Administration (MBA)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26609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Secret Clearance · MS Project SME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48640" y="29626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Monte Carlo simulation · NIPR GPT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" y="33101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584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NAVAIR / COMFRC — IMS &amp; EVM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3858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AFNWC — $241M IPMDAR programs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48640" y="4133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· FedEx · Amtrak · Meta · LANL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407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20+ years federal &amp; commercial scheduling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46320" y="914400"/>
            <a:ext cx="4206240" cy="3931920"/>
          </a:xfrm>
          <a:prstGeom prst="rect">
            <a:avLst/>
          </a:prstGeom>
          <a:solidFill>
            <a:srgbClr val="F4F6FB"/>
          </a:solidFill>
          <a:ln w="6350">
            <a:solidFill>
              <a:srgbClr val="CADCF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914400"/>
            <a:ext cx="4206240" cy="54864"/>
          </a:xfrm>
          <a:prstGeom prst="rect">
            <a:avLst/>
          </a:prstGeom>
          <a:solidFill>
            <a:srgbClr val="E8C547"/>
          </a:solidFill>
          <a:ln w="12700">
            <a:solidFill>
              <a:srgbClr val="E8C54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0" y="1024128"/>
            <a:ext cx="658368" cy="658368"/>
          </a:xfrm>
          <a:prstGeom prst="ellipse">
            <a:avLst/>
          </a:prstGeom>
          <a:solidFill>
            <a:srgbClr val="1E2761"/>
          </a:solidFill>
          <a:ln w="6350">
            <a:solidFill>
              <a:srgbClr val="CADC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102412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806440" y="1024128"/>
            <a:ext cx="3108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Taniela T. Cox, CPA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806440" y="137160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&amp; Compliance Lead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17830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of Science in Accounting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0" y="2359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Public Accountant (CPA)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0" y="26609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experience — CLA (CliftonLarsonAllen)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029200" y="296265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Zia Fiji international finance background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029200" y="33101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29200" y="3584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compliance &amp; fiscal management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029200" y="385876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expense reporting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0" y="413308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documentation &amp; audit readiness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0" y="44074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C5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pPr indent="0" marL="0">
              <a:buNone/>
            </a:pPr>
            <a:r>
              <a:rPr lang="en-US" sz="10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Two-year post-award reporting oversight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algorithms engineer — to be hired with NMQTA funds · Albuquerque, NM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SanTed Quantum Scheduling — NMQTA Pitch Deck</dc:title>
  <dc:subject>PptxGenJS Presentation</dc:subject>
  <dc:creator>PptxGenJS</dc:creator>
  <cp:lastModifiedBy>PptxGenJS</cp:lastModifiedBy>
  <cp:revision>1</cp:revision>
  <dcterms:created xsi:type="dcterms:W3CDTF">2026-04-20T00:42:27Z</dcterms:created>
  <dcterms:modified xsi:type="dcterms:W3CDTF">2026-04-20T00:42:27Z</dcterms:modified>
</cp:coreProperties>
</file>