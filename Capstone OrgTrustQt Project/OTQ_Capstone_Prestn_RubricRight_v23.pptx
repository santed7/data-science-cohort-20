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74" r:id="rId25"/>
    <p:sldId id="258" r:id="rId4"/>
    <p:sldId id="259" r:id="rId5"/>
    <p:sldId id="260" r:id="rId6"/>
    <p:sldId id="261" r:id="rId7"/>
    <p:sldId id="262" r:id="rId8"/>
    <p:sldId id="263" r:id="rId9"/>
    <p:sldId id="264" r:id="rId10"/>
    <p:sldId id="265" r:id="rId11"/>
    <p:sldId id="268" r:id="rId14"/>
    <p:sldId id="273" r:id="rId24"/>
    <p:sldId id="271" r:id="rId22"/>
    <p:sldId id="272" r:id="rId23"/>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charts/_rels/chart1.xml.rels><?xml version="1.0" encoding="UTF-8"?><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6263B"/>
                </a:solidFill>
                <a:latin typeface="Arial"/>
              </a:defRPr>
            </a:pPr>
            <a:r>
              <a:rPr sz="1300" b="0" i="0" u="none" strike="noStrike">
                <a:solidFill>
                  <a:srgbClr val="16263B"/>
                </a:solidFill>
                <a:latin typeface="Arial"/>
              </a:rPr>
              <a:t>Starting score by interaction type</a:t>
            </a:r>
          </a:p>
        </c:rich>
      </c:tx>
      <c:layout/>
      <c:overlay val="0"/>
    </c:title>
    <c:autoTitleDeleted val="0"/>
    <c:plotArea>
      <c:layout/>
      <c:barChart>
        <c:barDir val="col"/>
        <c:grouping val="clustered"/>
        <c:varyColors val="0"/>
        <c:ser>
          <c:idx val="0"/>
          <c:order val="0"/>
          <c:tx>
            <c:strRef>
              <c:f>Sheet1!$B$1</c:f>
              <c:strCache>
                <c:ptCount val="1"/>
                <c:pt idx="0">
                  <c:v>Score</c:v>
                </c:pt>
              </c:strCache>
            </c:strRef>
          </c:tx>
          <c:spPr>
            <a:solidFill>
              <a:srgbClr val="028090"/>
            </a:solidFill>
            <a:effectLst/>
          </c:spPr>
          <c:invertIfNegative val="0"/>
          <c:dLbls>
            <c:numFmt formatCode="0.0" sourceLinked="0"/>
            <c:txPr>
              <a:bodyPr/>
              <a:lstStyle/>
              <a:p>
                <a:pPr>
                  <a:defRPr b="1" i="0" strike="noStrike" sz="1100" u="none">
                    <a:solidFill>
                      <a:srgbClr val="16263B"/>
                    </a:solidFill>
                    <a:latin typeface="Arial"/>
                  </a:defRPr>
                </a:pPr>
              </a:p>
            </c:txPr>
            <c:showLegendKey val="0"/>
            <c:showVal val="1"/>
            <c:showCatName val="0"/>
            <c:showSerName val="0"/>
            <c:showPercent val="0"/>
            <c:showBubbleSize val="0"/>
            <c:showLeaderLines val="0"/>
          </c:dLbls>
          <c:dPt>
            <c:idx val="0"/>
            <c:invertIfNegative val="0"/>
            <c:bubble3D val="0"/>
            <c:spPr>
              <a:solidFill>
                <a:srgbClr val="028090"/>
              </a:solidFill>
              <a:effectLst/>
            </c:spPr>
          </c:dPt>
          <c:dPt>
            <c:idx val="1"/>
            <c:invertIfNegative val="0"/>
            <c:bubble3D val="0"/>
            <c:spPr>
              <a:solidFill>
                <a:srgbClr val="00A896"/>
              </a:solidFill>
              <a:effectLst/>
            </c:spPr>
          </c:dPt>
          <c:dPt>
            <c:idx val="2"/>
            <c:invertIfNegative val="0"/>
            <c:bubble3D val="0"/>
            <c:spPr>
              <a:solidFill>
                <a:srgbClr val="00A896"/>
              </a:solidFill>
              <a:effectLst/>
            </c:spPr>
          </c:dPt>
          <c:dPt>
            <c:idx val="3"/>
            <c:invertIfNegative val="0"/>
            <c:bubble3D val="0"/>
            <c:spPr>
              <a:solidFill>
                <a:srgbClr val="02C39A"/>
              </a:solidFill>
              <a:effectLst/>
            </c:spPr>
          </c:dPt>
          <c:dPt>
            <c:idx val="4"/>
            <c:invertIfNegative val="0"/>
            <c:bubble3D val="0"/>
            <c:spPr>
              <a:solidFill>
                <a:srgbClr val="9DC9CE"/>
              </a:solidFill>
              <a:effectLst/>
            </c:spPr>
          </c:dPt>
          <c:cat>
            <c:multiLvlStrRef>
              <c:f>Sheet1!$A$2:$A$6</c:f>
              <c:multiLvlStrCache>
                <c:ptCount val="5"/>
                <c:lvl>
                  <c:pt idx="0">
                    <c:v>Meeting</c:v>
                  </c:pt>
                  <c:pt idx="1">
                    <c:v>Chat</c:v>
                  </c:pt>
                  <c:pt idx="2">
                    <c:v>Call</c:v>
                  </c:pt>
                  <c:pt idx="3">
                    <c:v>Email</c:v>
                  </c:pt>
                  <c:pt idx="4">
                    <c:v>Other</c:v>
                  </c:pt>
                </c:lvl>
              </c:multiLvlStrCache>
            </c:multiLvlStrRef>
          </c:cat>
          <c:val>
            <c:numRef>
              <c:f>Sheet1!$B$2:$B$6</c:f>
              <c:numCache>
                <c:formatCode>General</c:formatCode>
                <c:ptCount val="5"/>
                <c:pt idx="0">
                  <c:v>24.5</c:v>
                </c:pt>
                <c:pt idx="1">
                  <c:v>9.5</c:v>
                </c:pt>
                <c:pt idx="2">
                  <c:v>8.5</c:v>
                </c:pt>
                <c:pt idx="3">
                  <c:v>6</c:v>
                </c:pt>
                <c:pt idx="4">
                  <c:v>5</c:v>
                </c:pt>
              </c:numCache>
            </c:numRef>
          </c:val>
        </c:ser>
        <c:dLbls>
          <c:numFmt formatCode="0.0" sourceLinked="0"/>
          <c:txPr>
            <a:bodyPr/>
            <a:lstStyle/>
            <a:p>
              <a:pPr>
                <a:defRPr b="1" i="0" strike="noStrike" sz="1100" u="none">
                  <a:solidFill>
                    <a:srgbClr val="1626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title>
          <c:tx>
            <c:rich>
              <a:bodyPr/>
              <a:lstStyle/>
              <a:p>
                <a:pPr>
                  <a:defRPr sz="1100" b="0" i="0" u="none" strike="noStrike">
                    <a:solidFill>
                      <a:srgbClr val="5C6B7A"/>
                    </a:solidFill>
                    <a:latin typeface="Arial"/>
                  </a:defRPr>
                </a:pPr>
                <a:r>
                  <a:rPr sz="1100" b="0" i="0" u="none" strike="noStrike">
                    <a:solidFill>
                      <a:srgbClr val="5C6B7A"/>
                    </a:solidFill>
                    <a:latin typeface="Arial"/>
                  </a:rPr>
                  <a:t>Interaction type</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C6B7A"/>
                </a:solidFill>
                <a:latin typeface="Arial"/>
              </a:defRPr>
            </a:pPr>
            <a:endParaRPr lang="en-US"/>
          </a:p>
        </c:txPr>
        <c:crossAx val="2094734552"/>
        <c:crosses val="autoZero"/>
        <c:auto val="1"/>
        <c:lblAlgn val="ctr"/>
        <c:noMultiLvlLbl val="1"/>
      </c:catAx>
      <c:valAx>
        <c:axId val="2094734552"/>
        <c:scaling>
          <c:orientation val="minMax"/>
          <c:max val="28"/>
          <c:min val="0"/>
        </c:scaling>
        <c:delete val="0"/>
        <c:axPos val="l"/>
        <c:majorGridlines>
          <c:spPr>
            <a:ln w="6350" cap="flat">
              <a:solidFill>
                <a:srgbClr val="D6E2EA"/>
              </a:solidFill>
              <a:prstDash val="solid"/>
              <a:round/>
            </a:ln>
          </c:spPr>
        </c:majorGridlines>
        <c:title>
          <c:tx>
            <c:rich>
              <a:bodyPr/>
              <a:lstStyle/>
              <a:p>
                <a:pPr>
                  <a:defRPr sz="1100" b="0" i="0" u="none" strike="noStrike">
                    <a:solidFill>
                      <a:srgbClr val="5C6B7A"/>
                    </a:solidFill>
                    <a:latin typeface="Arial"/>
                  </a:defRPr>
                </a:pPr>
                <a:r>
                  <a:rPr sz="1100" b="0" i="0" u="none" strike="noStrike">
                    <a:solidFill>
                      <a:srgbClr val="5C6B7A"/>
                    </a:solidFill>
                    <a:latin typeface="Arial"/>
                  </a:rPr>
                  <a:t>Engagement points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C6B7A"/>
                </a:solidFill>
                <a:latin typeface="Arial"/>
              </a:defRPr>
            </a:pPr>
            <a:endParaRPr lang="en-US"/>
          </a:p>
        </c:txPr>
        <c:crossAx val="2094734554"/>
        <c:crosses val="autoZero"/>
        <c:crossBetween val="between"/>
      </c:valAx>
      <c:spPr>
        <a:solidFill>
          <a:srgbClr val="EAF2F6"/>
        </a:solidFill>
        <a:ln>
          <a:noFill/>
        </a:ln>
        <a:effectLst/>
      </c:spPr>
    </c:plotArea>
    <c:plotVisOnly val="1"/>
    <c:dispBlanksAs val="span"/>
  </c:chart>
  <c:spPr>
    <a:solidFill>
      <a:srgbClr val="EAF2F6"/>
    </a:solidFill>
    <a:ln>
      <a:noFill/>
    </a:ln>
    <a:effectLst/>
  </c:spPr>
  <c:externalData r:id="rId1">
    <c:autoUpdate val="0"/>
  </c:externalData>
</c:chartSpace>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Vernon Cox, with Srilatha Alla. Our project asks a simple question: can the way a team communicates tell us how healthy the team is? We read everyday message patterns — not the words — and turn them into a signal. The QR code opens our notebook runnable in Colab. About 30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'em what we're gonna tell 'em. Five beats: the problem, what we look at, the data plus our scoring, results and the dashboard, then take-homes and next steps. 20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in plain terms. Trust decides whether people speak up early or share half-finished ideas. But we usually only check once a year, with a survey that's slow, biased, and disruptive. Meanwhile teams already produce thousands of signals a day. Our goal: use those, with no extra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actually look at — and our reviewer's key point. We measure engagement (how much people talk and meet), we predict responsiveness (how fast they reply), and trust is the thing underneath that we're really after. We're careful not to overclaim: we don't say we measure trust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the data comes from. We pull from the three tools people already use — Slack, Teams, Outlook — and merge them into one table of 106 events. Since we don't have a real company's data yet, we built safe practice data from Bible figures, the apostles, in exactly the same format a real export would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data. Each row is a single interaction with a few plain facts: which tool, what type, who, where, how long, how many people, and a reply-speed clue. Crucially, we keep counts and timing — never the contents of any message. 106 events, 3 sources, about 8 fields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we turn interactions into numbers. Every event gets an engagement score: start with the type — meetings count most, email least — then add a little for how long it ran and how many people were involved. Then we add everything up per day to get daily team numbers. All the rules are simple and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peek under the hood. On the left, the scoring rule we just described, exactly as it runs: a base by type, a small duration bonus, and a log-scaled reach. On the right, the model: five daily features, a Ridge regression with its strength tuned by grid search, then we score it on days it never saw. You can scan the QR to run all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 exploratory view from the notebook. Most events are short chats with a couple of people; meetings are rarer but score much higher. The bottom-right panel is the one to watch — total daily engagement against response time — which is the relationship the model goes on to learn.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model in plain terms. It learns the link between engagement and reply speed. Because our clues overlap a lot, we used Ridge regression — a model built to stay steady and stay readable when that happens. And we didn't trust one run: we compared other models, tuned settings, tested on days it had never seen, and ranked which clues mattered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built beyond the notebook: a simple website. You drop in the files, it runs the whole pipeline for you, and the results and charts come right back — including day-by-day predictions. Someone with no coding background can use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'em what you told 'em. Four take-homes: always-on beats once a year; how people talk predicts how fast they reply; we're honest that we measure talk, not trust itself yet; and it's private by design — counts and timing only, never message content. If they remember one slide, this is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What's next and questions. The big next step is checking our score against a trusted, validated trust survey on a real team — that's what would let us truly say 'trust.' Then real company data, scores per team and person, and tracking real outcomes. The QR code opens the notebook in Colab. Thank the instructor and SME, and open the floor.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7-1.png"/><Relationship Id="rId3" Type="http://schemas.openxmlformats.org/officeDocument/2006/relationships/image" Target="../media/image-7-2.png"/><Relationship Id="rId4" Type="http://schemas.openxmlformats.org/officeDocument/2006/relationships/image" Target="../media/image-7-3.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3.xml.rels><?xml version="1.0" encoding="UTF-8"?><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1.xml"/><Relationship Id="rId8" Type="http://schemas.openxmlformats.org/officeDocument/2006/relationships/notesSlide" Target="../notesSlides/notesSlide13.xml"/></Relationships>
</file>

<file path=ppt/slides/_rels/slide14.xml.rels><?xml version="1.0" encoding="UTF-8"?><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Relationships xmlns="http://schemas.openxmlformats.org/package/2006/relationships"><Relationship Id="rId1" Type="http://schemas.openxmlformats.org/officeDocument/2006/relationships/image" Target="../media/image-stage1.png"/><Relationship Id="rId2" Type="http://schemas.openxmlformats.org/officeDocument/2006/relationships/image" Target="../media/image-9-2.png"/><Relationship Id="rId3" Type="http://schemas.openxmlformats.org/officeDocument/2006/relationships/slideLayout" Target="../slideLayouts/slideLayout1.xml"/></Relationships>
</file>

<file path=ppt/slides/_rels/slide17.xml.rels><?xml version="1.0" encoding="UTF-8"?><Relationships xmlns="http://schemas.openxmlformats.org/package/2006/relationships"><Relationship Id="rId1" Type="http://schemas.openxmlformats.org/officeDocument/2006/relationships/image" Target="../media/image-stage2.png"/><Relationship Id="rId2" Type="http://schemas.openxmlformats.org/officeDocument/2006/relationships/image" Target="../media/image-9-2.png"/><Relationship Id="rId3" Type="http://schemas.openxmlformats.org/officeDocument/2006/relationships/slideLayout" Target="../slideLayouts/slideLayout1.xml"/></Relationships>
</file>

<file path=ppt/slides/_rels/slide18.xml.rels><?xml version="1.0" encoding="UTF-8"?><Relationships xmlns="http://schemas.openxmlformats.org/package/2006/relationships"><Relationship Id="rId1" Type="http://schemas.openxmlformats.org/officeDocument/2006/relationships/image" Target="../media/image-breakdown.png"/><Relationship Id="rId2" Type="http://schemas.openxmlformats.org/officeDocument/2006/relationships/image" Target="../media/image-9-2.png"/><Relationship Id="rId3" Type="http://schemas.openxmlformats.org/officeDocument/2006/relationships/slideLayout" Target="../slideLayouts/slideLayout1.xml"/></Relationships>
</file>

<file path=ppt/slides/_rels/slide19.xml.rels><?xml version="1.0" encoding="UTF-8"?><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243F"/>
        </a:solidFill>
      </p:bgPr>
    </p:bg>
    <p:spTree>
      <p:nvGrpSpPr>
        <p:cNvPr id="1" name=""/>
        <p:cNvGrpSpPr/>
        <p:nvPr/>
      </p:nvGrpSpPr>
      <p:grpSpPr>
        <a:xfrm>
          <a:off x="0" y="0"/>
          <a:ext cx="0" cy="0"/>
          <a:chOff x="0" y="0"/>
          <a:chExt cx="0" cy="0"/>
        </a:xfrm>
      </p:grpSpPr>
      <p:sp>
        <p:nvSpPr>
          <p:cNvPr id="2" name="Shape 0"/>
          <p:cNvSpPr/>
          <p:nvPr/>
        </p:nvSpPr>
        <p:spPr>
          <a:xfrm>
            <a:off x="8229600" y="-320040"/>
            <a:ext cx="4206240" cy="4206240"/>
          </a:xfrm>
          <a:prstGeom prst="ellipse">
            <a:avLst/>
          </a:prstGeom>
          <a:solidFill>
            <a:srgbClr val="028090"/>
          </a:solidFill>
          <a:ln/>
        </p:spPr>
      </p:sp>
      <p:pic>
        <p:nvPicPr>
          <p:cNvPr id="3" name="Image 0" descr="/home/claude/team.png"/>
          <p:cNvPicPr>
            <a:picLocks noChangeAspect="1"/>
          </p:cNvPicPr>
          <p:nvPr/>
        </p:nvPicPr>
        <p:blipFill>
          <a:blip r:embed="rId1"/>
          <a:stretch>
            <a:fillRect/>
          </a:stretch>
        </p:blipFill>
        <p:spPr>
          <a:xfrm>
            <a:off x="8321040" y="-228600"/>
            <a:ext cx="4023360" cy="4023360"/>
          </a:xfrm>
          <a:prstGeom prst="ellipse">
            <a:avLst/>
          </a:prstGeom>
        </p:spPr>
      </p:pic>
      <p:sp>
        <p:nvSpPr>
          <p:cNvPr id="4" name="Text 1"/>
          <p:cNvSpPr/>
          <p:nvPr/>
        </p:nvSpPr>
        <p:spPr>
          <a:xfrm>
            <a:off x="822960" y="1554480"/>
            <a:ext cx="9144000" cy="365760"/>
          </a:xfrm>
          <a:prstGeom prst="rect">
            <a:avLst/>
          </a:prstGeom>
          <a:noFill/>
          <a:ln/>
        </p:spPr>
        <p:txBody>
          <a:bodyPr wrap="square" lIns="0" tIns="0" rIns="0" bIns="0" rtlCol="0" anchor="ctr"/>
          <a:lstStyle/>
          <a:p>
            <a:pPr indent="0" marL="0">
              <a:buNone/>
            </a:pPr>
            <a:r>
              <a:rPr lang="en-US" sz="1500" b="1" spc="400" kern="0" dirty="0">
                <a:solidFill>
                  <a:srgbClr val="00A896"/>
                </a:solidFill>
                <a:latin typeface="Arial" pitchFamily="34" charset="0"/>
                <a:ea typeface="Arial" pitchFamily="34" charset="-122"/>
                <a:cs typeface="Arial" pitchFamily="34" charset="-120"/>
              </a:rPr>
              <a:t>ORGANIZATIONAL TRUST QUOTIENT®</a:t>
            </a:r>
            <a:endParaRPr lang="en-US" sz="1500" dirty="0"/>
          </a:p>
        </p:txBody>
      </p:sp>
      <p:sp>
        <p:nvSpPr>
          <p:cNvPr id="5" name="Text 2"/>
          <p:cNvSpPr/>
          <p:nvPr/>
        </p:nvSpPr>
        <p:spPr>
          <a:xfrm>
            <a:off x="822960" y="2057400"/>
            <a:ext cx="9875520" cy="1737360"/>
          </a:xfrm>
          <a:prstGeom prst="rect">
            <a:avLst/>
          </a:prstGeom>
          <a:noFill/>
          <a:ln/>
        </p:spPr>
        <p:txBody>
          <a:bodyPr wrap="square" lIns="0" tIns="0" rIns="0" bIns="0" rtlCol="0" anchor="ctr"/>
          <a:lstStyle/>
          <a:p>
            <a:pPr indent="0" marL="0">
              <a:lnSpc>
                <a:spcPct val="100000"/>
              </a:lnSpc>
              <a:buNone/>
            </a:pPr>
            <a:r>
              <a:rPr lang="en-US" sz="4200" b="1" dirty="0">
                <a:solidFill>
                  <a:srgbClr val="FFFFFF"/>
                </a:solidFill>
                <a:latin typeface="Georgia" pitchFamily="34" charset="0"/>
                <a:ea typeface="Georgia" pitchFamily="34" charset="-122"/>
                <a:cs typeface="Georgia" pitchFamily="34" charset="-120"/>
              </a:rPr>
              <a:t>Reading team health</a:t>
            </a:r>
            <a:endParaRPr lang="en-US" sz="4200" dirty="0"/>
          </a:p>
          <a:p>
            <a:pPr indent="0" marL="0">
              <a:lnSpc>
                <a:spcPct val="100000"/>
              </a:lnSpc>
              <a:buNone/>
            </a:pPr>
            <a:r>
              <a:rPr lang="en-US" sz="4200" b="1" dirty="0">
                <a:solidFill>
                  <a:srgbClr val="FFFFFF"/>
                </a:solidFill>
                <a:latin typeface="Georgia" pitchFamily="34" charset="0"/>
                <a:ea typeface="Georgia" pitchFamily="34" charset="-122"/>
                <a:cs typeface="Georgia" pitchFamily="34" charset="-120"/>
              </a:rPr>
              <a:t>from everyday messages</a:t>
            </a:r>
            <a:endParaRPr lang="en-US" sz="4200" dirty="0"/>
          </a:p>
        </p:txBody>
      </p:sp>
      <p:sp>
        <p:nvSpPr>
          <p:cNvPr id="6" name="Text 3"/>
          <p:cNvSpPr/>
          <p:nvPr/>
        </p:nvSpPr>
        <p:spPr>
          <a:xfrm>
            <a:off x="822960" y="3931920"/>
            <a:ext cx="9601200" cy="411480"/>
          </a:xfrm>
          <a:prstGeom prst="rect">
            <a:avLst/>
          </a:prstGeom>
          <a:noFill/>
          <a:ln/>
        </p:spPr>
        <p:txBody>
          <a:bodyPr wrap="square" lIns="0" tIns="0" rIns="0" bIns="0" rtlCol="0" anchor="ctr"/>
          <a:lstStyle/>
          <a:p>
            <a:pPr indent="0" marL="0">
              <a:buNone/>
            </a:pPr>
            <a:r>
              <a:rPr lang="en-US" sz="1700" i="1" dirty="0">
                <a:solidFill>
                  <a:srgbClr val="C7D6E5"/>
                </a:solidFill>
                <a:latin typeface="Arial" pitchFamily="34" charset="0"/>
                <a:ea typeface="Arial" pitchFamily="34" charset="-122"/>
                <a:cs typeface="Arial" pitchFamily="34" charset="-120"/>
              </a:rPr>
              <a:t>How people talk at work → a signal of how the team is doing</a:t>
            </a:r>
            <a:endParaRPr lang="en-US" sz="1700" dirty="0"/>
          </a:p>
        </p:txBody>
      </p:sp>
      <p:sp>
        <p:nvSpPr>
          <p:cNvPr id="7" name="Shape 4"/>
          <p:cNvSpPr/>
          <p:nvPr/>
        </p:nvSpPr>
        <p:spPr>
          <a:xfrm>
            <a:off x="841248" y="4800600"/>
            <a:ext cx="3840480" cy="0"/>
          </a:xfrm>
          <a:prstGeom prst="line">
            <a:avLst/>
          </a:prstGeom>
          <a:noFill/>
          <a:ln w="19050">
            <a:solidFill>
              <a:srgbClr val="028090"/>
            </a:solidFill>
            <a:prstDash val="solid"/>
          </a:ln>
        </p:spPr>
      </p:sp>
      <p:sp>
        <p:nvSpPr>
          <p:cNvPr id="8" name="Text 5"/>
          <p:cNvSpPr/>
          <p:nvPr/>
        </p:nvSpPr>
        <p:spPr>
          <a:xfrm>
            <a:off x="822960" y="4937760"/>
            <a:ext cx="9144000" cy="109728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Vernon T. Cox  ·  Srilatha Alla</a:t>
            </a:r>
            <a:endParaRPr lang="en-US" sz="1500" dirty="0"/>
          </a:p>
          <a:p>
            <a:pPr indent="0" marL="0">
              <a:buNone/>
            </a:pPr>
            <a:r>
              <a:rPr lang="en-US" sz="1200" dirty="0">
                <a:solidFill>
                  <a:srgbClr val="9DB2C7"/>
                </a:solidFill>
                <a:latin typeface="Arial" pitchFamily="34" charset="0"/>
                <a:ea typeface="Arial" pitchFamily="34" charset="-122"/>
                <a:cs typeface="Arial" pitchFamily="34" charset="-120"/>
              </a:rPr>
              <a:t>CNM Ingenuity — Data Science Bootcamp Capstone</a:t>
            </a:r>
            <a:endParaRPr lang="en-US" sz="1500" dirty="0"/>
          </a:p>
          <a:p>
            <a:pPr indent="0" marL="0">
              <a:buNone/>
            </a:pPr>
            <a:r>
              <a:rPr lang="en-US" sz="1200" dirty="0">
                <a:solidFill>
                  <a:srgbClr val="9DB2C7"/>
                </a:solidFill>
                <a:latin typeface="Arial" pitchFamily="34" charset="0"/>
                <a:ea typeface="Arial" pitchFamily="34" charset="-122"/>
                <a:cs typeface="Arial" pitchFamily="34" charset="-120"/>
              </a:rPr>
              <a:t>Instructor: Robert Citek</a:t>
            </a:r>
            <a:endParaRPr lang="en-US" sz="1500" dirty="0"/>
          </a:p>
          <a:p>
            <a:pPr indent="0" marL="0">
              <a:buNone/>
            </a:pPr>
            <a:r>
              <a:rPr lang="en-US" sz="1200" dirty="0">
                <a:solidFill>
                  <a:srgbClr val="9DB2C7"/>
                </a:solidFill>
                <a:latin typeface="Arial" pitchFamily="34" charset="0"/>
                <a:ea typeface="Arial" pitchFamily="34" charset="-122"/>
                <a:cs typeface="Arial" pitchFamily="34" charset="-120"/>
              </a:rPr>
              <a:t>SME: Prof. R. DelCampo — UNM Anderson</a:t>
            </a:r>
            <a:endParaRPr lang="en-US" sz="1500" dirty="0"/>
          </a:p>
        </p:txBody>
      </p:sp>
      <p:sp>
        <p:nvSpPr>
          <p:cNvPr id="9" name="Shape 6"/>
          <p:cNvSpPr/>
          <p:nvPr/>
        </p:nvSpPr>
        <p:spPr>
          <a:xfrm>
            <a:off x="10104120" y="4846320"/>
            <a:ext cx="1600200" cy="1600200"/>
          </a:xfrm>
          <a:prstGeom prst="roundRect">
            <a:avLst>
              <a:gd name="adj" fmla="val 4571"/>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pic>
        <p:nvPicPr>
          <p:cNvPr id="10" name="Image 1" descr="/home/claude/qr_colab.png"/>
          <p:cNvPicPr>
            <a:picLocks noChangeAspect="1"/>
          </p:cNvPicPr>
          <p:nvPr/>
        </p:nvPicPr>
        <p:blipFill>
          <a:blip r:embed="rId2"/>
          <a:stretch>
            <a:fillRect/>
          </a:stretch>
        </p:blipFill>
        <p:spPr>
          <a:xfrm>
            <a:off x="10264140" y="5006340"/>
            <a:ext cx="1280160" cy="1280160"/>
          </a:xfrm>
          <a:prstGeom prst="rect">
            <a:avLst/>
          </a:prstGeom>
        </p:spPr>
      </p:pic>
      <p:sp>
        <p:nvSpPr>
          <p:cNvPr id="11" name="Text 7"/>
          <p:cNvSpPr/>
          <p:nvPr/>
        </p:nvSpPr>
        <p:spPr>
          <a:xfrm>
            <a:off x="9692640" y="4553712"/>
            <a:ext cx="2423160" cy="256032"/>
          </a:xfrm>
          <a:prstGeom prst="rect">
            <a:avLst/>
          </a:prstGeom>
          <a:noFill/>
          <a:ln/>
        </p:spPr>
        <p:txBody>
          <a:bodyPr wrap="square" lIns="0" tIns="0" rIns="0" bIns="0" rtlCol="0" anchor="ctr"/>
          <a:lstStyle/>
          <a:p>
            <a:pPr algn="ctr" indent="0" marL="0">
              <a:buNone/>
            </a:pPr>
            <a:r>
              <a:rPr lang="en-US" sz="1050" b="1" dirty="0">
                <a:solidFill>
                  <a:srgbClr val="00A896"/>
                </a:solidFill>
                <a:latin typeface="Arial" pitchFamily="34" charset="0"/>
                <a:ea typeface="Arial" pitchFamily="34" charset="-122"/>
                <a:cs typeface="Arial" pitchFamily="34" charset="-120"/>
              </a:rPr>
              <a:t>Scan to request a briefing</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AF2F6"/>
        </a:solidFill>
      </p:bgPr>
    </p:bg>
    <p:spTree>
      <p:nvGrpSpPr>
        <p:cNvPr id="1" name=""/>
        <p:cNvGrpSpPr/>
        <p:nvPr/>
      </p:nvGrpSpPr>
      <p:grpSpPr>
        <a:xfrm>
          <a:off x="0" y="0"/>
          <a:ext cx="0" cy="0"/>
          <a:chOff x="0" y="0"/>
          <a:chExt cx="0" cy="0"/>
        </a:xfrm>
      </p:grpSpPr>
      <p:sp>
        <p:nvSpPr>
          <p:cNvPr id="2" name="Text 0"/>
          <p:cNvSpPr/>
          <p:nvPr/>
        </p:nvSpPr>
        <p:spPr>
          <a:xfrm>
            <a:off x="640080" y="502920"/>
            <a:ext cx="10058400" cy="274320"/>
          </a:xfrm>
          <a:prstGeom prst="rect">
            <a:avLst/>
          </a:prstGeom>
          <a:noFill/>
          <a:ln/>
        </p:spPr>
        <p:txBody>
          <a:bodyPr wrap="square" lIns="0" tIns="0" rIns="0" bIns="0" rtlCol="0" anchor="ctr"/>
          <a:lstStyle/>
          <a:p>
            <a:pPr algn="l" indent="0" marL="0">
              <a:buNone/>
            </a:pPr>
            <a:r>
              <a:rPr lang="en-US" sz="1200" b="1" spc="300" kern="0" dirty="0">
                <a:solidFill>
                  <a:srgbClr val="028090"/>
                </a:solidFill>
                <a:latin typeface="Arial" pitchFamily="34" charset="0"/>
                <a:ea typeface="Arial" pitchFamily="34" charset="-122"/>
                <a:cs typeface="Arial" pitchFamily="34" charset="-120"/>
              </a:rPr>
              <a:t>PREVIEW — WHAT WE'LL COVER</a:t>
            </a:r>
            <a:endParaRPr lang="en-US" sz="1200" dirty="0"/>
          </a:p>
        </p:txBody>
      </p:sp>
      <p:sp>
        <p:nvSpPr>
          <p:cNvPr id="3" name="Text 1"/>
          <p:cNvSpPr/>
          <p:nvPr/>
        </p:nvSpPr>
        <p:spPr>
          <a:xfrm>
            <a:off x="640080" y="822960"/>
            <a:ext cx="9601200" cy="1097280"/>
          </a:xfrm>
          <a:prstGeom prst="rect">
            <a:avLst/>
          </a:prstGeom>
          <a:noFill/>
          <a:ln/>
        </p:spPr>
        <p:txBody>
          <a:bodyPr wrap="square" lIns="0" tIns="0" rIns="0" bIns="0" rtlCol="0" anchor="t"/>
          <a:lstStyle/>
          <a:p>
            <a:pPr algn="l" indent="0" marL="0">
              <a:buNone/>
            </a:pPr>
            <a:r>
              <a:rPr lang="en-US" sz="2900" b="1" dirty="0">
                <a:solidFill>
                  <a:srgbClr val="16263B"/>
                </a:solidFill>
                <a:latin typeface="Georgia" pitchFamily="34" charset="0"/>
                <a:ea typeface="Georgia" pitchFamily="34" charset="-122"/>
                <a:cs typeface="Georgia" pitchFamily="34" charset="-120"/>
              </a:rPr>
              <a:t>The next 10 minutes</a:t>
            </a:r>
            <a:endParaRPr lang="en-US" sz="2900" dirty="0"/>
          </a:p>
        </p:txBody>
      </p:sp>
      <p:sp>
        <p:nvSpPr>
          <p:cNvPr id="4" name="Shape 2"/>
          <p:cNvSpPr/>
          <p:nvPr/>
        </p:nvSpPr>
        <p:spPr>
          <a:xfrm>
            <a:off x="640080" y="1783080"/>
            <a:ext cx="10881360" cy="777240"/>
          </a:xfrm>
          <a:prstGeom prst="roundRect">
            <a:avLst>
              <a:gd name="adj" fmla="val 10588"/>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5" name="Shape 3"/>
          <p:cNvSpPr/>
          <p:nvPr/>
        </p:nvSpPr>
        <p:spPr>
          <a:xfrm>
            <a:off x="914400" y="1892808"/>
            <a:ext cx="548640" cy="548640"/>
          </a:xfrm>
          <a:prstGeom prst="ellipse">
            <a:avLst/>
          </a:prstGeom>
          <a:solidFill>
            <a:srgbClr val="028090"/>
          </a:solidFill>
          <a:ln/>
          <a:effectLst>
            <a:outerShdw sx="100000" sy="100000" kx="0" ky="0" algn="bl" rotWithShape="0" blurRad="114300" dist="38100" dir="5400000">
              <a:srgbClr val="0A1A2E">
                <a:alpha val="16000"/>
              </a:srgbClr>
            </a:outerShdw>
          </a:effectLst>
        </p:spPr>
      </p:sp>
      <p:sp>
        <p:nvSpPr>
          <p:cNvPr id="6" name="Text 4"/>
          <p:cNvSpPr/>
          <p:nvPr/>
        </p:nvSpPr>
        <p:spPr>
          <a:xfrm>
            <a:off x="914400" y="189280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1</a:t>
            </a:r>
            <a:endParaRPr lang="en-US" sz="2000" dirty="0"/>
          </a:p>
        </p:txBody>
      </p:sp>
      <p:sp>
        <p:nvSpPr>
          <p:cNvPr id="7" name="Shape 5"/>
          <p:cNvSpPr/>
          <p:nvPr/>
        </p:nvSpPr>
        <p:spPr>
          <a:xfrm>
            <a:off x="1783080" y="1906524"/>
            <a:ext cx="530352" cy="530352"/>
          </a:xfrm>
          <a:prstGeom prst="ellipse">
            <a:avLst/>
          </a:prstGeom>
          <a:solidFill>
            <a:srgbClr val="11243F"/>
          </a:solidFill>
          <a:ln/>
          <a:effectLst>
            <a:outerShdw sx="100000" sy="100000" kx="0" ky="0" algn="bl" rotWithShape="0" blurRad="114300" dist="38100" dir="5400000">
              <a:srgbClr val="0A1A2E">
                <a:alpha val="16000"/>
              </a:srgbClr>
            </a:outerShdw>
          </a:effectLst>
        </p:spPr>
      </p:sp>
      <p:pic>
        <p:nvPicPr>
          <p:cNvPr id="8" name="Image 0" descr="preencoded.png"/>
          <p:cNvPicPr>
            <a:picLocks noChangeAspect="1"/>
          </p:cNvPicPr>
          <p:nvPr/>
        </p:nvPicPr>
        <p:blipFill>
          <a:blip r:embed="rId1"/>
          <a:stretch>
            <a:fillRect/>
          </a:stretch>
        </p:blipFill>
        <p:spPr>
          <a:xfrm>
            <a:off x="1920972" y="2044416"/>
            <a:ext cx="254569" cy="254569"/>
          </a:xfrm>
          <a:prstGeom prst="rect">
            <a:avLst/>
          </a:prstGeom>
        </p:spPr>
      </p:pic>
      <p:sp>
        <p:nvSpPr>
          <p:cNvPr id="9" name="Text 6"/>
          <p:cNvSpPr/>
          <p:nvPr/>
        </p:nvSpPr>
        <p:spPr>
          <a:xfrm>
            <a:off x="2606040" y="1783080"/>
            <a:ext cx="8595360" cy="777240"/>
          </a:xfrm>
          <a:prstGeom prst="rect">
            <a:avLst/>
          </a:prstGeom>
          <a:noFill/>
          <a:ln/>
        </p:spPr>
        <p:txBody>
          <a:bodyPr wrap="square" lIns="0" tIns="0" rIns="0" bIns="0" rtlCol="0" anchor="ctr"/>
          <a:lstStyle/>
          <a:p>
            <a:pPr indent="0" marL="0">
              <a:buNone/>
            </a:pPr>
            <a:r>
              <a:rPr lang="en-US" sz="1900" b="1" dirty="0">
                <a:solidFill>
                  <a:srgbClr val="16263B"/>
                </a:solidFill>
                <a:latin typeface="Arial" pitchFamily="34" charset="0"/>
                <a:ea typeface="Arial" pitchFamily="34" charset="-122"/>
                <a:cs typeface="Arial" pitchFamily="34" charset="-120"/>
              </a:rPr>
              <a:t>The problem we set out to solve</a:t>
            </a:r>
            <a:endParaRPr lang="en-US" sz="1900" dirty="0"/>
          </a:p>
        </p:txBody>
      </p:sp>
      <p:sp>
        <p:nvSpPr>
          <p:cNvPr id="10" name="Shape 7"/>
          <p:cNvSpPr/>
          <p:nvPr/>
        </p:nvSpPr>
        <p:spPr>
          <a:xfrm>
            <a:off x="640080" y="2697480"/>
            <a:ext cx="10881360" cy="777240"/>
          </a:xfrm>
          <a:prstGeom prst="roundRect">
            <a:avLst>
              <a:gd name="adj" fmla="val 10588"/>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1" name="Shape 8"/>
          <p:cNvSpPr/>
          <p:nvPr/>
        </p:nvSpPr>
        <p:spPr>
          <a:xfrm>
            <a:off x="914400" y="2807208"/>
            <a:ext cx="548640" cy="548640"/>
          </a:xfrm>
          <a:prstGeom prst="ellipse">
            <a:avLst/>
          </a:prstGeom>
          <a:solidFill>
            <a:srgbClr val="028090"/>
          </a:solidFill>
          <a:ln/>
          <a:effectLst>
            <a:outerShdw sx="100000" sy="100000" kx="0" ky="0" algn="bl" rotWithShape="0" blurRad="114300" dist="38100" dir="5400000">
              <a:srgbClr val="0A1A2E">
                <a:alpha val="16000"/>
              </a:srgbClr>
            </a:outerShdw>
          </a:effectLst>
        </p:spPr>
      </p:sp>
      <p:sp>
        <p:nvSpPr>
          <p:cNvPr id="12" name="Text 9"/>
          <p:cNvSpPr/>
          <p:nvPr/>
        </p:nvSpPr>
        <p:spPr>
          <a:xfrm>
            <a:off x="914400" y="280720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2</a:t>
            </a:r>
            <a:endParaRPr lang="en-US" sz="2000" dirty="0"/>
          </a:p>
        </p:txBody>
      </p:sp>
      <p:sp>
        <p:nvSpPr>
          <p:cNvPr id="13" name="Shape 10"/>
          <p:cNvSpPr/>
          <p:nvPr/>
        </p:nvSpPr>
        <p:spPr>
          <a:xfrm>
            <a:off x="1783080" y="2820924"/>
            <a:ext cx="530352" cy="530352"/>
          </a:xfrm>
          <a:prstGeom prst="ellipse">
            <a:avLst/>
          </a:prstGeom>
          <a:solidFill>
            <a:srgbClr val="11243F"/>
          </a:solidFill>
          <a:ln/>
          <a:effectLst>
            <a:outerShdw sx="100000" sy="100000" kx="0" ky="0" algn="bl" rotWithShape="0" blurRad="114300" dist="38100" dir="5400000">
              <a:srgbClr val="0A1A2E">
                <a:alpha val="16000"/>
              </a:srgbClr>
            </a:outerShdw>
          </a:effectLst>
        </p:spPr>
      </p:sp>
      <p:pic>
        <p:nvPicPr>
          <p:cNvPr id="14" name="Image 1" descr="preencoded.png"/>
          <p:cNvPicPr>
            <a:picLocks noChangeAspect="1"/>
          </p:cNvPicPr>
          <p:nvPr/>
        </p:nvPicPr>
        <p:blipFill>
          <a:blip r:embed="rId2"/>
          <a:stretch>
            <a:fillRect/>
          </a:stretch>
        </p:blipFill>
        <p:spPr>
          <a:xfrm>
            <a:off x="1920972" y="2958816"/>
            <a:ext cx="254569" cy="254569"/>
          </a:xfrm>
          <a:prstGeom prst="rect">
            <a:avLst/>
          </a:prstGeom>
        </p:spPr>
      </p:pic>
      <p:sp>
        <p:nvSpPr>
          <p:cNvPr id="15" name="Text 11"/>
          <p:cNvSpPr/>
          <p:nvPr/>
        </p:nvSpPr>
        <p:spPr>
          <a:xfrm>
            <a:off x="2606040" y="2697480"/>
            <a:ext cx="8595360" cy="777240"/>
          </a:xfrm>
          <a:prstGeom prst="rect">
            <a:avLst/>
          </a:prstGeom>
          <a:noFill/>
          <a:ln/>
        </p:spPr>
        <p:txBody>
          <a:bodyPr wrap="square" lIns="0" tIns="0" rIns="0" bIns="0" rtlCol="0" anchor="ctr"/>
          <a:lstStyle/>
          <a:p>
            <a:pPr indent="0" marL="0">
              <a:buNone/>
            </a:pPr>
            <a:r>
              <a:rPr lang="en-US" sz="1900" b="1" dirty="0">
                <a:solidFill>
                  <a:srgbClr val="16263B"/>
                </a:solidFill>
                <a:latin typeface="Arial" pitchFamily="34" charset="0"/>
                <a:ea typeface="Arial" pitchFamily="34" charset="-122"/>
                <a:cs typeface="Arial" pitchFamily="34" charset="-120"/>
              </a:rPr>
              <a:t>What OTQ looks at</a:t>
            </a:r>
            <a:endParaRPr lang="en-US" sz="1900" dirty="0"/>
          </a:p>
        </p:txBody>
      </p:sp>
      <p:sp>
        <p:nvSpPr>
          <p:cNvPr id="16" name="Shape 12"/>
          <p:cNvSpPr/>
          <p:nvPr/>
        </p:nvSpPr>
        <p:spPr>
          <a:xfrm>
            <a:off x="640080" y="3611880"/>
            <a:ext cx="10881360" cy="777240"/>
          </a:xfrm>
          <a:prstGeom prst="roundRect">
            <a:avLst>
              <a:gd name="adj" fmla="val 10588"/>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7" name="Shape 13"/>
          <p:cNvSpPr/>
          <p:nvPr/>
        </p:nvSpPr>
        <p:spPr>
          <a:xfrm>
            <a:off x="914400" y="3721608"/>
            <a:ext cx="548640" cy="548640"/>
          </a:xfrm>
          <a:prstGeom prst="ellipse">
            <a:avLst/>
          </a:prstGeom>
          <a:solidFill>
            <a:srgbClr val="028090"/>
          </a:solidFill>
          <a:ln/>
          <a:effectLst>
            <a:outerShdw sx="100000" sy="100000" kx="0" ky="0" algn="bl" rotWithShape="0" blurRad="114300" dist="38100" dir="5400000">
              <a:srgbClr val="0A1A2E">
                <a:alpha val="16000"/>
              </a:srgbClr>
            </a:outerShdw>
          </a:effectLst>
        </p:spPr>
      </p:sp>
      <p:sp>
        <p:nvSpPr>
          <p:cNvPr id="18" name="Text 14"/>
          <p:cNvSpPr/>
          <p:nvPr/>
        </p:nvSpPr>
        <p:spPr>
          <a:xfrm>
            <a:off x="914400" y="372160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3</a:t>
            </a:r>
            <a:endParaRPr lang="en-US" sz="2000" dirty="0"/>
          </a:p>
        </p:txBody>
      </p:sp>
      <p:sp>
        <p:nvSpPr>
          <p:cNvPr id="19" name="Shape 15"/>
          <p:cNvSpPr/>
          <p:nvPr/>
        </p:nvSpPr>
        <p:spPr>
          <a:xfrm>
            <a:off x="1783080" y="3735324"/>
            <a:ext cx="530352" cy="530352"/>
          </a:xfrm>
          <a:prstGeom prst="ellipse">
            <a:avLst/>
          </a:prstGeom>
          <a:solidFill>
            <a:srgbClr val="11243F"/>
          </a:solidFill>
          <a:ln/>
          <a:effectLst>
            <a:outerShdw sx="100000" sy="100000" kx="0" ky="0" algn="bl" rotWithShape="0" blurRad="114300" dist="38100" dir="5400000">
              <a:srgbClr val="0A1A2E">
                <a:alpha val="16000"/>
              </a:srgbClr>
            </a:outerShdw>
          </a:effectLst>
        </p:spPr>
      </p:sp>
      <p:pic>
        <p:nvPicPr>
          <p:cNvPr id="20" name="Image 2" descr="preencoded.png"/>
          <p:cNvPicPr>
            <a:picLocks noChangeAspect="1"/>
          </p:cNvPicPr>
          <p:nvPr/>
        </p:nvPicPr>
        <p:blipFill>
          <a:blip r:embed="rId3"/>
          <a:stretch>
            <a:fillRect/>
          </a:stretch>
        </p:blipFill>
        <p:spPr>
          <a:xfrm>
            <a:off x="1920972" y="3873216"/>
            <a:ext cx="254569" cy="254569"/>
          </a:xfrm>
          <a:prstGeom prst="rect">
            <a:avLst/>
          </a:prstGeom>
        </p:spPr>
      </p:pic>
      <p:sp>
        <p:nvSpPr>
          <p:cNvPr id="21" name="Text 16"/>
          <p:cNvSpPr/>
          <p:nvPr/>
        </p:nvSpPr>
        <p:spPr>
          <a:xfrm>
            <a:off x="2606040" y="3611880"/>
            <a:ext cx="8595360" cy="777240"/>
          </a:xfrm>
          <a:prstGeom prst="rect">
            <a:avLst/>
          </a:prstGeom>
          <a:noFill/>
          <a:ln/>
        </p:spPr>
        <p:txBody>
          <a:bodyPr wrap="square" lIns="0" tIns="0" rIns="0" bIns="0" rtlCol="0" anchor="ctr"/>
          <a:lstStyle/>
          <a:p>
            <a:pPr indent="0" marL="0">
              <a:buNone/>
            </a:pPr>
            <a:r>
              <a:rPr lang="en-US" sz="1900" b="1" dirty="0">
                <a:solidFill>
                  <a:srgbClr val="16263B"/>
                </a:solidFill>
                <a:latin typeface="Arial" pitchFamily="34" charset="0"/>
                <a:ea typeface="Arial" pitchFamily="34" charset="-122"/>
                <a:cs typeface="Arial" pitchFamily="34" charset="-120"/>
              </a:rPr>
              <a:t>The data — and how we score it</a:t>
            </a:r>
            <a:endParaRPr lang="en-US" sz="1900" dirty="0"/>
          </a:p>
        </p:txBody>
      </p:sp>
      <p:sp>
        <p:nvSpPr>
          <p:cNvPr id="22" name="Shape 17"/>
          <p:cNvSpPr/>
          <p:nvPr/>
        </p:nvSpPr>
        <p:spPr>
          <a:xfrm>
            <a:off x="640080" y="4526280"/>
            <a:ext cx="10881360" cy="777240"/>
          </a:xfrm>
          <a:prstGeom prst="roundRect">
            <a:avLst>
              <a:gd name="adj" fmla="val 10588"/>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23" name="Shape 18"/>
          <p:cNvSpPr/>
          <p:nvPr/>
        </p:nvSpPr>
        <p:spPr>
          <a:xfrm>
            <a:off x="914400" y="4636008"/>
            <a:ext cx="548640" cy="548640"/>
          </a:xfrm>
          <a:prstGeom prst="ellipse">
            <a:avLst/>
          </a:prstGeom>
          <a:solidFill>
            <a:srgbClr val="028090"/>
          </a:solidFill>
          <a:ln/>
          <a:effectLst>
            <a:outerShdw sx="100000" sy="100000" kx="0" ky="0" algn="bl" rotWithShape="0" blurRad="114300" dist="38100" dir="5400000">
              <a:srgbClr val="0A1A2E">
                <a:alpha val="16000"/>
              </a:srgbClr>
            </a:outerShdw>
          </a:effectLst>
        </p:spPr>
      </p:sp>
      <p:sp>
        <p:nvSpPr>
          <p:cNvPr id="24" name="Text 19"/>
          <p:cNvSpPr/>
          <p:nvPr/>
        </p:nvSpPr>
        <p:spPr>
          <a:xfrm>
            <a:off x="914400" y="463600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4</a:t>
            </a:r>
            <a:endParaRPr lang="en-US" sz="2000" dirty="0"/>
          </a:p>
        </p:txBody>
      </p:sp>
      <p:sp>
        <p:nvSpPr>
          <p:cNvPr id="25" name="Shape 20"/>
          <p:cNvSpPr/>
          <p:nvPr/>
        </p:nvSpPr>
        <p:spPr>
          <a:xfrm>
            <a:off x="1783080" y="4649724"/>
            <a:ext cx="530352" cy="530352"/>
          </a:xfrm>
          <a:prstGeom prst="ellipse">
            <a:avLst/>
          </a:prstGeom>
          <a:solidFill>
            <a:srgbClr val="11243F"/>
          </a:solidFill>
          <a:ln/>
          <a:effectLst>
            <a:outerShdw sx="100000" sy="100000" kx="0" ky="0" algn="bl" rotWithShape="0" blurRad="114300" dist="38100" dir="5400000">
              <a:srgbClr val="0A1A2E">
                <a:alpha val="16000"/>
              </a:srgbClr>
            </a:outerShdw>
          </a:effectLst>
        </p:spPr>
      </p:sp>
      <p:pic>
        <p:nvPicPr>
          <p:cNvPr id="26" name="Image 3" descr="preencoded.png"/>
          <p:cNvPicPr>
            <a:picLocks noChangeAspect="1"/>
          </p:cNvPicPr>
          <p:nvPr/>
        </p:nvPicPr>
        <p:blipFill>
          <a:blip r:embed="rId4"/>
          <a:stretch>
            <a:fillRect/>
          </a:stretch>
        </p:blipFill>
        <p:spPr>
          <a:xfrm>
            <a:off x="1920972" y="4787616"/>
            <a:ext cx="254569" cy="254569"/>
          </a:xfrm>
          <a:prstGeom prst="rect">
            <a:avLst/>
          </a:prstGeom>
        </p:spPr>
      </p:pic>
      <p:sp>
        <p:nvSpPr>
          <p:cNvPr id="27" name="Text 21"/>
          <p:cNvSpPr/>
          <p:nvPr/>
        </p:nvSpPr>
        <p:spPr>
          <a:xfrm>
            <a:off x="2606040" y="4526280"/>
            <a:ext cx="8595360" cy="777240"/>
          </a:xfrm>
          <a:prstGeom prst="rect">
            <a:avLst/>
          </a:prstGeom>
          <a:noFill/>
          <a:ln/>
        </p:spPr>
        <p:txBody>
          <a:bodyPr wrap="square" lIns="0" tIns="0" rIns="0" bIns="0" rtlCol="0" anchor="ctr"/>
          <a:lstStyle/>
          <a:p>
            <a:pPr indent="0" marL="0">
              <a:buNone/>
            </a:pPr>
            <a:r>
              <a:rPr lang="en-US" sz="1900" b="1" dirty="0">
                <a:solidFill>
                  <a:srgbClr val="16263B"/>
                </a:solidFill>
                <a:latin typeface="Arial" pitchFamily="34" charset="0"/>
                <a:ea typeface="Arial" pitchFamily="34" charset="-122"/>
                <a:cs typeface="Arial" pitchFamily="34" charset="-120"/>
              </a:rPr>
              <a:t>Results &amp; the dashboard we built</a:t>
            </a:r>
            <a:endParaRPr lang="en-US" sz="1900" dirty="0"/>
          </a:p>
        </p:txBody>
      </p:sp>
      <p:sp>
        <p:nvSpPr>
          <p:cNvPr id="28" name="Shape 22"/>
          <p:cNvSpPr/>
          <p:nvPr/>
        </p:nvSpPr>
        <p:spPr>
          <a:xfrm>
            <a:off x="640080" y="5440680"/>
            <a:ext cx="10881360" cy="777240"/>
          </a:xfrm>
          <a:prstGeom prst="roundRect">
            <a:avLst>
              <a:gd name="adj" fmla="val 10588"/>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29" name="Shape 23"/>
          <p:cNvSpPr/>
          <p:nvPr/>
        </p:nvSpPr>
        <p:spPr>
          <a:xfrm>
            <a:off x="914400" y="5550408"/>
            <a:ext cx="548640" cy="548640"/>
          </a:xfrm>
          <a:prstGeom prst="ellipse">
            <a:avLst/>
          </a:prstGeom>
          <a:solidFill>
            <a:srgbClr val="02C39A"/>
          </a:solidFill>
          <a:ln/>
          <a:effectLst>
            <a:outerShdw sx="100000" sy="100000" kx="0" ky="0" algn="bl" rotWithShape="0" blurRad="114300" dist="38100" dir="5400000">
              <a:srgbClr val="0A1A2E">
                <a:alpha val="16000"/>
              </a:srgbClr>
            </a:outerShdw>
          </a:effectLst>
        </p:spPr>
      </p:sp>
      <p:sp>
        <p:nvSpPr>
          <p:cNvPr id="30" name="Text 24"/>
          <p:cNvSpPr/>
          <p:nvPr/>
        </p:nvSpPr>
        <p:spPr>
          <a:xfrm>
            <a:off x="914400" y="555040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5</a:t>
            </a:r>
            <a:endParaRPr lang="en-US" sz="2000" dirty="0"/>
          </a:p>
        </p:txBody>
      </p:sp>
      <p:sp>
        <p:nvSpPr>
          <p:cNvPr id="31" name="Shape 25"/>
          <p:cNvSpPr/>
          <p:nvPr/>
        </p:nvSpPr>
        <p:spPr>
          <a:xfrm>
            <a:off x="1783080" y="5564124"/>
            <a:ext cx="530352" cy="530352"/>
          </a:xfrm>
          <a:prstGeom prst="ellipse">
            <a:avLst/>
          </a:prstGeom>
          <a:solidFill>
            <a:srgbClr val="11243F"/>
          </a:solidFill>
          <a:ln/>
          <a:effectLst>
            <a:outerShdw sx="100000" sy="100000" kx="0" ky="0" algn="bl" rotWithShape="0" blurRad="114300" dist="38100" dir="5400000">
              <a:srgbClr val="0A1A2E">
                <a:alpha val="16000"/>
              </a:srgbClr>
            </a:outerShdw>
          </a:effectLst>
        </p:spPr>
      </p:sp>
      <p:pic>
        <p:nvPicPr>
          <p:cNvPr id="32" name="Image 4" descr="preencoded.png"/>
          <p:cNvPicPr>
            <a:picLocks noChangeAspect="1"/>
          </p:cNvPicPr>
          <p:nvPr/>
        </p:nvPicPr>
        <p:blipFill>
          <a:blip r:embed="rId5"/>
          <a:stretch>
            <a:fillRect/>
          </a:stretch>
        </p:blipFill>
        <p:spPr>
          <a:xfrm>
            <a:off x="1920972" y="5702016"/>
            <a:ext cx="254569" cy="254569"/>
          </a:xfrm>
          <a:prstGeom prst="rect">
            <a:avLst/>
          </a:prstGeom>
        </p:spPr>
      </p:pic>
      <p:sp>
        <p:nvSpPr>
          <p:cNvPr id="33" name="Text 26"/>
          <p:cNvSpPr/>
          <p:nvPr/>
        </p:nvSpPr>
        <p:spPr>
          <a:xfrm>
            <a:off x="2606040" y="5440680"/>
            <a:ext cx="8595360" cy="777240"/>
          </a:xfrm>
          <a:prstGeom prst="rect">
            <a:avLst/>
          </a:prstGeom>
          <a:noFill/>
          <a:ln/>
        </p:spPr>
        <p:txBody>
          <a:bodyPr wrap="square" lIns="0" tIns="0" rIns="0" bIns="0" rtlCol="0" anchor="ctr"/>
          <a:lstStyle/>
          <a:p>
            <a:pPr indent="0" marL="0">
              <a:buNone/>
            </a:pPr>
            <a:r>
              <a:rPr lang="en-US" sz="1900" b="1" dirty="0">
                <a:solidFill>
                  <a:srgbClr val="16263B"/>
                </a:solidFill>
                <a:latin typeface="Arial" pitchFamily="34" charset="0"/>
                <a:ea typeface="Arial" pitchFamily="34" charset="-122"/>
                <a:cs typeface="Arial" pitchFamily="34" charset="-120"/>
              </a:rPr>
              <a:t>Take-homes &amp; what's next</a:t>
            </a:r>
            <a:endParaRPr lang="en-US" sz="1900" dirty="0"/>
          </a:p>
        </p:txBody>
      </p:sp>
      <p:sp>
        <p:nvSpPr>
          <p:cNvPr id="34" name="Shape 27"/>
          <p:cNvSpPr/>
          <p:nvPr/>
        </p:nvSpPr>
        <p:spPr>
          <a:xfrm>
            <a:off x="10698480" y="274320"/>
            <a:ext cx="1097280" cy="1097280"/>
          </a:xfrm>
          <a:prstGeom prst="roundRect">
            <a:avLst>
              <a:gd name="adj" fmla="val 5833"/>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pic>
        <p:nvPicPr>
          <p:cNvPr id="35" name="Image 5" descr="/home/claude/qr_colab.png"/>
          <p:cNvPicPr>
            <a:picLocks noChangeAspect="1"/>
          </p:cNvPicPr>
          <p:nvPr/>
        </p:nvPicPr>
        <p:blipFill>
          <a:blip r:embed="rId6"/>
          <a:stretch>
            <a:fillRect/>
          </a:stretch>
        </p:blipFill>
        <p:spPr>
          <a:xfrm>
            <a:off x="10808208" y="384048"/>
            <a:ext cx="877824" cy="877824"/>
          </a:xfrm>
          <a:prstGeom prst="rect">
            <a:avLst/>
          </a:prstGeom>
        </p:spPr>
      </p:pic>
      <p:sp>
        <p:nvSpPr>
          <p:cNvPr id="36" name="Text 28"/>
          <p:cNvSpPr/>
          <p:nvPr/>
        </p:nvSpPr>
        <p:spPr>
          <a:xfrm>
            <a:off x="10424160" y="1399032"/>
            <a:ext cx="1645920" cy="201168"/>
          </a:xfrm>
          <a:prstGeom prst="rect">
            <a:avLst/>
          </a:prstGeom>
          <a:noFill/>
          <a:ln/>
        </p:spPr>
        <p:txBody>
          <a:bodyPr wrap="square" lIns="0" tIns="0" rIns="0" bIns="0" rtlCol="0" anchor="ctr"/>
          <a:lstStyle/>
          <a:p>
            <a:pPr algn="ctr" indent="0" marL="0">
              <a:buNone/>
            </a:pPr>
            <a:r>
              <a:rPr lang="en-US" sz="850" b="1" dirty="0">
                <a:solidFill>
                  <a:srgbClr val="028090"/>
                </a:solidFill>
                <a:latin typeface="Arial" pitchFamily="34" charset="0"/>
                <a:ea typeface="Arial" pitchFamily="34" charset="-122"/>
                <a:cs typeface="Arial" pitchFamily="34" charset="-120"/>
              </a:rPr>
              <a:t>Scan · Request a briefing</a:t>
            </a:r>
            <a:endParaRPr lang="en-US" sz="850" dirty="0"/>
          </a:p>
        </p:txBody>
      </p:sp>
      <p:sp>
        <p:nvSpPr>
          <p:cNvPr id="37" name="Text 29"/>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000" dirty="0">
                <a:solidFill>
                  <a:srgbClr val="5C6B7A"/>
                </a:solidFill>
                <a:latin typeface="Arial" pitchFamily="34" charset="0"/>
                <a:ea typeface="Arial" pitchFamily="34" charset="-122"/>
                <a:cs typeface="Arial"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AF2F6"/>
        </a:solidFill>
      </p:bgPr>
    </p:bg>
    <p:spTree>
      <p:nvGrpSpPr>
        <p:cNvPr id="1" name=""/>
        <p:cNvGrpSpPr/>
        <p:nvPr/>
      </p:nvGrpSpPr>
      <p:grpSpPr>
        <a:xfrm>
          <a:off x="0" y="0"/>
          <a:ext cx="0" cy="0"/>
          <a:chOff x="0" y="0"/>
          <a:chExt cx="0" cy="0"/>
        </a:xfrm>
      </p:grpSpPr>
      <p:sp>
        <p:nvSpPr>
          <p:cNvPr id="2" name="Text 0"/>
          <p:cNvSpPr/>
          <p:nvPr/>
        </p:nvSpPr>
        <p:spPr>
          <a:xfrm>
            <a:off x="640080" y="502920"/>
            <a:ext cx="10058400" cy="274320"/>
          </a:xfrm>
          <a:prstGeom prst="rect">
            <a:avLst/>
          </a:prstGeom>
          <a:noFill/>
          <a:ln/>
        </p:spPr>
        <p:txBody>
          <a:bodyPr wrap="square" lIns="0" tIns="0" rIns="0" bIns="0" rtlCol="0" anchor="ctr"/>
          <a:lstStyle/>
          <a:p>
            <a:pPr algn="l" indent="0" marL="0">
              <a:buNone/>
            </a:pPr>
            <a:r>
              <a:rPr lang="en-US" sz="1200" b="1" spc="300" kern="0" dirty="0">
                <a:solidFill>
                  <a:srgbClr val="028090"/>
                </a:solidFill>
                <a:latin typeface="Arial" pitchFamily="34" charset="0"/>
                <a:ea typeface="Arial" pitchFamily="34" charset="-122"/>
                <a:cs typeface="Arial" pitchFamily="34" charset="-120"/>
              </a:rPr>
              <a:t>THE PROBLEM</a:t>
            </a:r>
            <a:endParaRPr lang="en-US" sz="1200" dirty="0"/>
          </a:p>
        </p:txBody>
      </p:sp>
      <p:sp>
        <p:nvSpPr>
          <p:cNvPr id="3" name="Text 1"/>
          <p:cNvSpPr/>
          <p:nvPr/>
        </p:nvSpPr>
        <p:spPr>
          <a:xfrm>
            <a:off x="640080" y="822960"/>
            <a:ext cx="9601200" cy="1097280"/>
          </a:xfrm>
          <a:prstGeom prst="rect">
            <a:avLst/>
          </a:prstGeom>
          <a:noFill/>
          <a:ln/>
        </p:spPr>
        <p:txBody>
          <a:bodyPr wrap="square" lIns="0" tIns="0" rIns="0" bIns="0" rtlCol="0" anchor="t"/>
          <a:lstStyle/>
          <a:p>
            <a:pPr algn="l" indent="0" marL="0">
              <a:buNone/>
            </a:pPr>
            <a:r>
              <a:rPr lang="en-US" sz="2900" b="1" dirty="0">
                <a:solidFill>
                  <a:srgbClr val="16263B"/>
                </a:solidFill>
                <a:latin typeface="Georgia" pitchFamily="34" charset="0"/>
                <a:ea typeface="Georgia" pitchFamily="34" charset="-122"/>
                <a:cs typeface="Georgia" pitchFamily="34" charset="-120"/>
              </a:rPr>
              <a:t>Trust is hard to see — until it's gone</a:t>
            </a:r>
            <a:endParaRPr lang="en-US" sz="2900" dirty="0"/>
          </a:p>
        </p:txBody>
      </p:sp>
      <p:sp>
        <p:nvSpPr>
          <p:cNvPr id="4" name="Shape 2"/>
          <p:cNvSpPr/>
          <p:nvPr/>
        </p:nvSpPr>
        <p:spPr>
          <a:xfrm>
            <a:off x="640080" y="1783080"/>
            <a:ext cx="5852160" cy="4023360"/>
          </a:xfrm>
          <a:prstGeom prst="roundRect">
            <a:avLst>
              <a:gd name="adj" fmla="val 2045"/>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5" name="Shape 3"/>
          <p:cNvSpPr/>
          <p:nvPr/>
        </p:nvSpPr>
        <p:spPr>
          <a:xfrm>
            <a:off x="914400" y="2057400"/>
            <a:ext cx="566928" cy="566928"/>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6" name="Image 0" descr="preencoded.png"/>
          <p:cNvPicPr>
            <a:picLocks noChangeAspect="1"/>
          </p:cNvPicPr>
          <p:nvPr/>
        </p:nvPicPr>
        <p:blipFill>
          <a:blip r:embed="rId1"/>
          <a:stretch>
            <a:fillRect/>
          </a:stretch>
        </p:blipFill>
        <p:spPr>
          <a:xfrm>
            <a:off x="1061801" y="2204801"/>
            <a:ext cx="272125" cy="272125"/>
          </a:xfrm>
          <a:prstGeom prst="rect">
            <a:avLst/>
          </a:prstGeom>
        </p:spPr>
      </p:pic>
      <p:sp>
        <p:nvSpPr>
          <p:cNvPr id="7" name="Text 4"/>
          <p:cNvSpPr/>
          <p:nvPr/>
        </p:nvSpPr>
        <p:spPr>
          <a:xfrm>
            <a:off x="1691640" y="2121408"/>
            <a:ext cx="4663440" cy="411480"/>
          </a:xfrm>
          <a:prstGeom prst="rect">
            <a:avLst/>
          </a:prstGeom>
          <a:noFill/>
          <a:ln/>
        </p:spPr>
        <p:txBody>
          <a:bodyPr wrap="square" lIns="0" tIns="0" rIns="0" bIns="0" rtlCol="0" anchor="ctr"/>
          <a:lstStyle/>
          <a:p>
            <a:pPr indent="0" marL="0">
              <a:buNone/>
            </a:pPr>
            <a:r>
              <a:rPr lang="en-US" sz="1700" b="1" dirty="0">
                <a:solidFill>
                  <a:srgbClr val="16263B"/>
                </a:solidFill>
                <a:latin typeface="Arial" pitchFamily="34" charset="0"/>
                <a:ea typeface="Arial" pitchFamily="34" charset="-122"/>
                <a:cs typeface="Arial" pitchFamily="34" charset="-120"/>
              </a:rPr>
              <a:t>The usual way: periodic surveys</a:t>
            </a:r>
            <a:endParaRPr lang="en-US" sz="1700" dirty="0"/>
          </a:p>
        </p:txBody>
      </p:sp>
      <p:sp>
        <p:nvSpPr>
          <p:cNvPr id="8" name="Text 5"/>
          <p:cNvSpPr/>
          <p:nvPr/>
        </p:nvSpPr>
        <p:spPr>
          <a:xfrm>
            <a:off x="914400" y="2926080"/>
            <a:ext cx="5394960" cy="2743200"/>
          </a:xfrm>
          <a:prstGeom prst="rect">
            <a:avLst/>
          </a:prstGeom>
          <a:noFill/>
          <a:ln/>
        </p:spPr>
        <p:txBody>
          <a:bodyPr wrap="square" lIns="0" tIns="0" rIns="0" bIns="0" rtlCol="0" anchor="t"/>
          <a:lstStyle/>
          <a:p>
            <a:pPr marL="177800" indent="-177800">
              <a:spcAft>
                <a:spcPts val="1600"/>
              </a:spcAft>
              <a:buSzPct val="100000"/>
              <a:buChar char="•"/>
            </a:pPr>
            <a:r>
              <a:rPr lang="en-US" sz="1600" dirty="0">
                <a:solidFill>
                  <a:srgbClr val="16263B"/>
                </a:solidFill>
                <a:latin typeface="Arial" pitchFamily="34" charset="0"/>
                <a:ea typeface="Arial" pitchFamily="34" charset="-122"/>
                <a:cs typeface="Arial" pitchFamily="34" charset="-120"/>
              </a:rPr>
              <a:t>Annual, quarterly, pulse, 360° — methods &amp; timing vary</a:t>
            </a:r>
            <a:endParaRPr lang="en-US" sz="1600" dirty="0"/>
          </a:p>
          <a:p>
            <a:pPr marL="177800" indent="-177800">
              <a:spcAft>
                <a:spcPts val="1600"/>
              </a:spcAft>
              <a:buSzPct val="100000"/>
              <a:buChar char="•"/>
            </a:pPr>
            <a:r>
              <a:rPr lang="en-US" sz="1600" dirty="0">
                <a:solidFill>
                  <a:srgbClr val="16263B"/>
                </a:solidFill>
                <a:latin typeface="Arial" pitchFamily="34" charset="0"/>
                <a:ea typeface="Arial" pitchFamily="34" charset="-122"/>
                <a:cs typeface="Arial" pitchFamily="34" charset="-120"/>
              </a:rPr>
              <a:t>People answer how they “should”</a:t>
            </a:r>
            <a:endParaRPr lang="en-US" sz="1600" dirty="0"/>
          </a:p>
          <a:p>
            <a:pPr marL="177800" indent="-177800">
              <a:spcAft>
                <a:spcPts val="1600"/>
              </a:spcAft>
              <a:buSzPct val="100000"/>
              <a:buChar char="•"/>
            </a:pPr>
            <a:r>
              <a:rPr lang="en-US" sz="1600" dirty="0">
                <a:solidFill>
                  <a:srgbClr val="16263B"/>
                </a:solidFill>
                <a:latin typeface="Arial" pitchFamily="34" charset="0"/>
                <a:ea typeface="Arial" pitchFamily="34" charset="-122"/>
                <a:cs typeface="Arial" pitchFamily="34" charset="-120"/>
              </a:rPr>
              <a:t>Takes time away from work</a:t>
            </a:r>
            <a:endParaRPr lang="en-US" sz="1600" dirty="0"/>
          </a:p>
        </p:txBody>
      </p:sp>
      <p:sp>
        <p:nvSpPr>
          <p:cNvPr id="9" name="Shape 6"/>
          <p:cNvSpPr/>
          <p:nvPr/>
        </p:nvSpPr>
        <p:spPr>
          <a:xfrm>
            <a:off x="914400" y="4572000"/>
            <a:ext cx="566928" cy="566928"/>
          </a:xfrm>
          <a:prstGeom prst="ellipse">
            <a:avLst/>
          </a:prstGeom>
          <a:solidFill>
            <a:srgbClr val="02C39A"/>
          </a:solidFill>
          <a:ln/>
          <a:effectLst>
            <a:outerShdw sx="100000" sy="100000" kx="0" ky="0" algn="bl" rotWithShape="0" blurRad="114300" dist="38100" dir="5400000">
              <a:srgbClr val="0A1A2E">
                <a:alpha val="16000"/>
              </a:srgbClr>
            </a:outerShdw>
          </a:effectLst>
        </p:spPr>
      </p:sp>
      <p:pic>
        <p:nvPicPr>
          <p:cNvPr id="10" name="Image 1" descr="preencoded.png"/>
          <p:cNvPicPr>
            <a:picLocks noChangeAspect="1"/>
          </p:cNvPicPr>
          <p:nvPr/>
        </p:nvPicPr>
        <p:blipFill>
          <a:blip r:embed="rId2"/>
          <a:stretch>
            <a:fillRect/>
          </a:stretch>
        </p:blipFill>
        <p:spPr>
          <a:xfrm>
            <a:off x="1061801" y="4719401"/>
            <a:ext cx="272125" cy="272125"/>
          </a:xfrm>
          <a:prstGeom prst="rect">
            <a:avLst/>
          </a:prstGeom>
        </p:spPr>
      </p:pic>
      <p:sp>
        <p:nvSpPr>
          <p:cNvPr id="11" name="Text 7"/>
          <p:cNvSpPr/>
          <p:nvPr/>
        </p:nvSpPr>
        <p:spPr>
          <a:xfrm>
            <a:off x="1691640" y="4681728"/>
            <a:ext cx="4663440" cy="822960"/>
          </a:xfrm>
          <a:prstGeom prst="rect">
            <a:avLst/>
          </a:prstGeom>
          <a:noFill/>
          <a:ln/>
        </p:spPr>
        <p:txBody>
          <a:bodyPr wrap="square" lIns="0" tIns="0" rIns="0" bIns="0" rtlCol="0" anchor="ctr"/>
          <a:lstStyle/>
          <a:p>
            <a:pPr indent="0" marL="0">
              <a:buNone/>
            </a:pPr>
            <a:r>
              <a:rPr lang="en-US" sz="1600" b="1" dirty="0">
                <a:solidFill>
                  <a:srgbClr val="028090"/>
                </a:solidFill>
                <a:latin typeface="Arial" pitchFamily="34" charset="0"/>
                <a:ea typeface="Arial" pitchFamily="34" charset="-122"/>
                <a:cs typeface="Arial" pitchFamily="34" charset="-120"/>
              </a:rPr>
              <a:t xml:space="preserve">Our goal:  </a:t>
            </a:r>
            <a:pPr indent="0" marL="0">
              <a:buNone/>
            </a:pPr>
            <a:r>
              <a:rPr lang="en-US" sz="1600" b="1" dirty="0">
                <a:solidFill>
                  <a:srgbClr val="16263B"/>
                </a:solidFill>
                <a:latin typeface="Arial" pitchFamily="34" charset="0"/>
                <a:ea typeface="Arial" pitchFamily="34" charset="-122"/>
                <a:cs typeface="Arial" pitchFamily="34" charset="-120"/>
              </a:rPr>
              <a:t>an always-on read — with no extra work</a:t>
            </a:r>
            <a:endParaRPr lang="en-US" sz="1600" dirty="0"/>
          </a:p>
        </p:txBody>
      </p:sp>
      <p:sp>
        <p:nvSpPr>
          <p:cNvPr id="12" name="Shape 8"/>
          <p:cNvSpPr/>
          <p:nvPr/>
        </p:nvSpPr>
        <p:spPr>
          <a:xfrm>
            <a:off x="6720840" y="1783080"/>
            <a:ext cx="4800600" cy="4023360"/>
          </a:xfrm>
          <a:prstGeom prst="roundRect">
            <a:avLst>
              <a:gd name="adj" fmla="val 2045"/>
            </a:avLst>
          </a:prstGeom>
          <a:solidFill>
            <a:srgbClr val="11243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3" name="Text 9"/>
          <p:cNvSpPr/>
          <p:nvPr/>
        </p:nvSpPr>
        <p:spPr>
          <a:xfrm>
            <a:off x="6720840" y="2148840"/>
            <a:ext cx="4800600" cy="274320"/>
          </a:xfrm>
          <a:prstGeom prst="rect">
            <a:avLst/>
          </a:prstGeom>
          <a:noFill/>
          <a:ln/>
        </p:spPr>
        <p:txBody>
          <a:bodyPr wrap="square" lIns="0" tIns="0" rIns="0" bIns="0" rtlCol="0" anchor="ctr"/>
          <a:lstStyle/>
          <a:p>
            <a:pPr algn="ctr" indent="0" marL="0">
              <a:buNone/>
            </a:pPr>
            <a:r>
              <a:rPr lang="en-US" sz="1200" b="1" spc="200" kern="0" dirty="0">
                <a:solidFill>
                  <a:srgbClr val="00A896"/>
                </a:solidFill>
                <a:latin typeface="Arial" pitchFamily="34" charset="0"/>
                <a:ea typeface="Arial" pitchFamily="34" charset="-122"/>
                <a:cs typeface="Arial" pitchFamily="34" charset="-120"/>
              </a:rPr>
              <a:t>DAYS BETWEEN CHECK-INS</a:t>
            </a:r>
            <a:endParaRPr lang="en-US" sz="1200" dirty="0"/>
          </a:p>
        </p:txBody>
      </p:sp>
      <p:sp>
        <p:nvSpPr>
          <p:cNvPr id="14" name="Text 10"/>
          <p:cNvSpPr/>
          <p:nvPr/>
        </p:nvSpPr>
        <p:spPr>
          <a:xfrm>
            <a:off x="6720840" y="2514600"/>
            <a:ext cx="4800600" cy="1188720"/>
          </a:xfrm>
          <a:prstGeom prst="rect">
            <a:avLst/>
          </a:prstGeom>
          <a:noFill/>
          <a:ln/>
        </p:spPr>
        <p:txBody>
          <a:bodyPr wrap="square" lIns="0" tIns="0" rIns="0" bIns="0" rtlCol="0" anchor="ctr"/>
          <a:lstStyle/>
          <a:p>
            <a:pPr algn="ctr" indent="0" marL="0">
              <a:buNone/>
            </a:pPr>
            <a:r>
              <a:rPr lang="en-US" sz="7200" b="1" dirty="0">
                <a:solidFill>
                  <a:srgbClr val="FFFFFF"/>
                </a:solidFill>
                <a:latin typeface="Georgia" pitchFamily="34" charset="0"/>
                <a:ea typeface="Georgia" pitchFamily="34" charset="-122"/>
                <a:cs typeface="Georgia" pitchFamily="34" charset="-120"/>
              </a:rPr>
              <a:t>30–365</a:t>
            </a:r>
            <a:endParaRPr lang="en-US" sz="7200" dirty="0"/>
          </a:p>
        </p:txBody>
      </p:sp>
      <p:sp>
        <p:nvSpPr>
          <p:cNvPr id="15" name="Shape 11"/>
          <p:cNvSpPr/>
          <p:nvPr/>
        </p:nvSpPr>
        <p:spPr>
          <a:xfrm>
            <a:off x="7406640" y="3977640"/>
            <a:ext cx="3429000" cy="0"/>
          </a:xfrm>
          <a:prstGeom prst="line">
            <a:avLst/>
          </a:prstGeom>
          <a:noFill/>
          <a:ln w="12700">
            <a:solidFill>
              <a:srgbClr val="1B3358"/>
            </a:solidFill>
            <a:prstDash val="solid"/>
          </a:ln>
        </p:spPr>
      </p:sp>
      <p:sp>
        <p:nvSpPr>
          <p:cNvPr id="16" name="Text 12"/>
          <p:cNvSpPr/>
          <p:nvPr/>
        </p:nvSpPr>
        <p:spPr>
          <a:xfrm>
            <a:off x="6720840" y="4206240"/>
            <a:ext cx="4800600" cy="1280160"/>
          </a:xfrm>
          <a:prstGeom prst="rect">
            <a:avLst/>
          </a:prstGeom>
          <a:noFill/>
          <a:ln/>
        </p:spPr>
        <p:txBody>
          <a:bodyPr wrap="square" lIns="0" tIns="0" rIns="0" bIns="0" rtlCol="0" anchor="ctr"/>
          <a:lstStyle/>
          <a:p>
            <a:pPr algn="ctr" indent="0" marL="0">
              <a:buNone/>
            </a:pPr>
            <a:r>
              <a:rPr lang="en-US" sz="1700" i="1" dirty="0">
                <a:solidFill>
                  <a:srgbClr val="DCE8F2"/>
                </a:solidFill>
                <a:latin typeface="Arial" pitchFamily="34" charset="0"/>
                <a:ea typeface="Arial" pitchFamily="34" charset="-122"/>
                <a:cs typeface="Arial" pitchFamily="34" charset="-120"/>
              </a:rPr>
              <a:t>Teams send thousands of</a:t>
            </a:r>
            <a:endParaRPr lang="en-US" sz="1700" dirty="0"/>
          </a:p>
          <a:p>
            <a:pPr algn="ctr" indent="0" marL="0">
              <a:buNone/>
            </a:pPr>
            <a:r>
              <a:rPr lang="en-US" sz="1700" i="1" dirty="0">
                <a:solidFill>
                  <a:srgbClr val="DCE8F2"/>
                </a:solidFill>
                <a:latin typeface="Arial" pitchFamily="34" charset="0"/>
                <a:ea typeface="Arial" pitchFamily="34" charset="-122"/>
                <a:cs typeface="Arial" pitchFamily="34" charset="-120"/>
              </a:rPr>
              <a:t>messages a day — unused</a:t>
            </a:r>
            <a:endParaRPr lang="en-US" sz="1700" dirty="0"/>
          </a:p>
        </p:txBody>
      </p:sp>
      <p:sp>
        <p:nvSpPr>
          <p:cNvPr id="17" name="Shape 13"/>
          <p:cNvSpPr/>
          <p:nvPr/>
        </p:nvSpPr>
        <p:spPr>
          <a:xfrm>
            <a:off x="10698480" y="274320"/>
            <a:ext cx="1097280" cy="1097280"/>
          </a:xfrm>
          <a:prstGeom prst="roundRect">
            <a:avLst>
              <a:gd name="adj" fmla="val 5833"/>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pic>
        <p:nvPicPr>
          <p:cNvPr id="18" name="Image 2" descr="/home/claude/qr_colab.png"/>
          <p:cNvPicPr>
            <a:picLocks noChangeAspect="1"/>
          </p:cNvPicPr>
          <p:nvPr/>
        </p:nvPicPr>
        <p:blipFill>
          <a:blip r:embed="rId3"/>
          <a:stretch>
            <a:fillRect/>
          </a:stretch>
        </p:blipFill>
        <p:spPr>
          <a:xfrm>
            <a:off x="10808208" y="384048"/>
            <a:ext cx="877824" cy="877824"/>
          </a:xfrm>
          <a:prstGeom prst="rect">
            <a:avLst/>
          </a:prstGeom>
        </p:spPr>
      </p:pic>
      <p:sp>
        <p:nvSpPr>
          <p:cNvPr id="19" name="Text 14"/>
          <p:cNvSpPr/>
          <p:nvPr/>
        </p:nvSpPr>
        <p:spPr>
          <a:xfrm>
            <a:off x="10424160" y="1399032"/>
            <a:ext cx="1645920" cy="201168"/>
          </a:xfrm>
          <a:prstGeom prst="rect">
            <a:avLst/>
          </a:prstGeom>
          <a:noFill/>
          <a:ln/>
        </p:spPr>
        <p:txBody>
          <a:bodyPr wrap="square" lIns="0" tIns="0" rIns="0" bIns="0" rtlCol="0" anchor="ctr"/>
          <a:lstStyle/>
          <a:p>
            <a:pPr algn="ctr" indent="0" marL="0">
              <a:buNone/>
            </a:pPr>
            <a:r>
              <a:rPr lang="en-US" sz="850" b="1" dirty="0">
                <a:solidFill>
                  <a:srgbClr val="028090"/>
                </a:solidFill>
                <a:latin typeface="Arial" pitchFamily="34" charset="0"/>
                <a:ea typeface="Arial" pitchFamily="34" charset="-122"/>
                <a:cs typeface="Arial" pitchFamily="34" charset="-120"/>
              </a:rPr>
              <a:t>Scan · Request a briefing</a:t>
            </a:r>
            <a:endParaRPr lang="en-US" sz="850" dirty="0"/>
          </a:p>
        </p:txBody>
      </p:sp>
      <p:sp>
        <p:nvSpPr>
          <p:cNvPr id="20" name="Text 15"/>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000" dirty="0">
                <a:solidFill>
                  <a:srgbClr val="5C6B7A"/>
                </a:solidFill>
                <a:latin typeface="Arial" pitchFamily="34" charset="0"/>
                <a:ea typeface="Arial" pitchFamily="34" charset="-122"/>
                <a:cs typeface="Arial" pitchFamily="34" charset="-120"/>
              </a:rPr>
              <a:t>04</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AF2F6"/>
        </a:solidFill>
      </p:bgPr>
    </p:bg>
    <p:spTree>
      <p:nvGrpSpPr>
        <p:cNvPr id="1" name=""/>
        <p:cNvGrpSpPr/>
        <p:nvPr/>
      </p:nvGrpSpPr>
      <p:grpSpPr>
        <a:xfrm>
          <a:off x="0" y="0"/>
          <a:ext cx="0" cy="0"/>
          <a:chOff x="0" y="0"/>
          <a:chExt cx="0" cy="0"/>
        </a:xfrm>
      </p:grpSpPr>
      <p:sp>
        <p:nvSpPr>
          <p:cNvPr id="2" name="Text 0"/>
          <p:cNvSpPr/>
          <p:nvPr/>
        </p:nvSpPr>
        <p:spPr>
          <a:xfrm>
            <a:off x="640080" y="502920"/>
            <a:ext cx="10058400" cy="274320"/>
          </a:xfrm>
          <a:prstGeom prst="rect">
            <a:avLst/>
          </a:prstGeom>
          <a:noFill/>
          <a:ln/>
        </p:spPr>
        <p:txBody>
          <a:bodyPr wrap="square" lIns="0" tIns="0" rIns="0" bIns="0" rtlCol="0" anchor="ctr"/>
          <a:lstStyle/>
          <a:p>
            <a:pPr algn="l" indent="0" marL="0">
              <a:buNone/>
            </a:pPr>
            <a:r>
              <a:rPr lang="en-US" sz="1200" b="1" spc="300" kern="0" dirty="0">
                <a:solidFill>
                  <a:srgbClr val="028090"/>
                </a:solidFill>
                <a:latin typeface="Arial" pitchFamily="34" charset="0"/>
                <a:ea typeface="Arial" pitchFamily="34" charset="-122"/>
                <a:cs typeface="Arial" pitchFamily="34" charset="-120"/>
              </a:rPr>
              <a:t>WHAT OTQ LOOKS AT</a:t>
            </a:r>
            <a:endParaRPr lang="en-US" sz="1200" dirty="0"/>
          </a:p>
        </p:txBody>
      </p:sp>
      <p:sp>
        <p:nvSpPr>
          <p:cNvPr id="3" name="Text 1"/>
          <p:cNvSpPr/>
          <p:nvPr/>
        </p:nvSpPr>
        <p:spPr>
          <a:xfrm>
            <a:off x="640080" y="822960"/>
            <a:ext cx="9601200" cy="1097280"/>
          </a:xfrm>
          <a:prstGeom prst="rect">
            <a:avLst/>
          </a:prstGeom>
          <a:noFill/>
          <a:ln/>
        </p:spPr>
        <p:txBody>
          <a:bodyPr wrap="square" lIns="0" tIns="0" rIns="0" bIns="0" rtlCol="0" anchor="t"/>
          <a:lstStyle/>
          <a:p>
            <a:pPr algn="l" indent="0" marL="0">
              <a:buNone/>
            </a:pPr>
            <a:r>
              <a:rPr lang="en-US" sz="2900" b="1" dirty="0">
                <a:solidFill>
                  <a:srgbClr val="16263B"/>
                </a:solidFill>
                <a:latin typeface="Georgia" pitchFamily="34" charset="0"/>
                <a:ea typeface="Georgia" pitchFamily="34" charset="-122"/>
                <a:cs typeface="Georgia" pitchFamily="34" charset="-120"/>
              </a:rPr>
              <a:t>From “how people talk” to “how the team is doing”</a:t>
            </a:r>
            <a:endParaRPr lang="en-US" sz="2900" dirty="0"/>
          </a:p>
        </p:txBody>
      </p:sp>
      <p:sp>
        <p:nvSpPr>
          <p:cNvPr id="4" name="Shape 2"/>
          <p:cNvSpPr/>
          <p:nvPr/>
        </p:nvSpPr>
        <p:spPr>
          <a:xfrm>
            <a:off x="640080" y="1828800"/>
            <a:ext cx="3383280" cy="3200400"/>
          </a:xfrm>
          <a:prstGeom prst="roundRect">
            <a:avLst>
              <a:gd name="adj" fmla="val 2571"/>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5" name="Shape 3"/>
          <p:cNvSpPr/>
          <p:nvPr/>
        </p:nvSpPr>
        <p:spPr>
          <a:xfrm>
            <a:off x="1947672" y="2103120"/>
            <a:ext cx="768096" cy="768096"/>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6" name="Image 0" descr="preencoded.png"/>
          <p:cNvPicPr>
            <a:picLocks noChangeAspect="1"/>
          </p:cNvPicPr>
          <p:nvPr/>
        </p:nvPicPr>
        <p:blipFill>
          <a:blip r:embed="rId1"/>
          <a:stretch>
            <a:fillRect/>
          </a:stretch>
        </p:blipFill>
        <p:spPr>
          <a:xfrm>
            <a:off x="2147377" y="2302825"/>
            <a:ext cx="368686" cy="368686"/>
          </a:xfrm>
          <a:prstGeom prst="rect">
            <a:avLst/>
          </a:prstGeom>
        </p:spPr>
      </p:pic>
      <p:sp>
        <p:nvSpPr>
          <p:cNvPr id="7" name="Text 4"/>
          <p:cNvSpPr/>
          <p:nvPr/>
        </p:nvSpPr>
        <p:spPr>
          <a:xfrm>
            <a:off x="640080" y="3017520"/>
            <a:ext cx="3383280" cy="274320"/>
          </a:xfrm>
          <a:prstGeom prst="rect">
            <a:avLst/>
          </a:prstGeom>
          <a:noFill/>
          <a:ln/>
        </p:spPr>
        <p:txBody>
          <a:bodyPr wrap="square" lIns="0" tIns="0" rIns="0" bIns="0" rtlCol="0" anchor="ctr"/>
          <a:lstStyle/>
          <a:p>
            <a:pPr algn="ctr" indent="0" marL="0">
              <a:buNone/>
            </a:pPr>
            <a:r>
              <a:rPr lang="en-US" sz="1200" b="1" spc="200" kern="0" dirty="0">
                <a:solidFill>
                  <a:srgbClr val="028090"/>
                </a:solidFill>
                <a:latin typeface="Arial" pitchFamily="34" charset="0"/>
                <a:ea typeface="Arial" pitchFamily="34" charset="-122"/>
                <a:cs typeface="Arial" pitchFamily="34" charset="-120"/>
              </a:rPr>
              <a:t>WE MEASURE</a:t>
            </a:r>
            <a:endParaRPr lang="en-US" sz="1200" dirty="0"/>
          </a:p>
        </p:txBody>
      </p:sp>
      <p:sp>
        <p:nvSpPr>
          <p:cNvPr id="8" name="Text 5"/>
          <p:cNvSpPr/>
          <p:nvPr/>
        </p:nvSpPr>
        <p:spPr>
          <a:xfrm>
            <a:off x="822960" y="3310128"/>
            <a:ext cx="3017520" cy="502920"/>
          </a:xfrm>
          <a:prstGeom prst="rect">
            <a:avLst/>
          </a:prstGeom>
          <a:noFill/>
          <a:ln/>
        </p:spPr>
        <p:txBody>
          <a:bodyPr wrap="square" lIns="0" tIns="0" rIns="0" bIns="0" rtlCol="0" anchor="ctr"/>
          <a:lstStyle/>
          <a:p>
            <a:pPr algn="ctr" indent="0" marL="0">
              <a:buNone/>
            </a:pPr>
            <a:r>
              <a:rPr lang="en-US" sz="2400" b="1" dirty="0">
                <a:solidFill>
                  <a:srgbClr val="16263B"/>
                </a:solidFill>
                <a:latin typeface="Georgia" pitchFamily="34" charset="0"/>
                <a:ea typeface="Georgia" pitchFamily="34" charset="-122"/>
                <a:cs typeface="Georgia" pitchFamily="34" charset="-120"/>
              </a:rPr>
              <a:t>Engagement</a:t>
            </a:r>
            <a:endParaRPr lang="en-US" sz="2400" dirty="0"/>
          </a:p>
        </p:txBody>
      </p:sp>
      <p:sp>
        <p:nvSpPr>
          <p:cNvPr id="9" name="Text 6"/>
          <p:cNvSpPr/>
          <p:nvPr/>
        </p:nvSpPr>
        <p:spPr>
          <a:xfrm>
            <a:off x="868680" y="3931920"/>
            <a:ext cx="2926080" cy="822960"/>
          </a:xfrm>
          <a:prstGeom prst="rect">
            <a:avLst/>
          </a:prstGeom>
          <a:noFill/>
          <a:ln/>
        </p:spPr>
        <p:txBody>
          <a:bodyPr wrap="square" lIns="0" tIns="0" rIns="0" bIns="0" rtlCol="0" anchor="ctr"/>
          <a:lstStyle/>
          <a:p>
            <a:pPr algn="ctr" indent="0" marL="0">
              <a:buNone/>
            </a:pPr>
            <a:r>
              <a:rPr lang="en-US" sz="1350" dirty="0">
                <a:solidFill>
                  <a:srgbClr val="5C6B7A"/>
                </a:solidFill>
                <a:latin typeface="Arial" pitchFamily="34" charset="0"/>
                <a:ea typeface="Arial" pitchFamily="34" charset="-122"/>
                <a:cs typeface="Arial" pitchFamily="34" charset="-120"/>
              </a:rPr>
              <a:t>how much people talk &amp; meet</a:t>
            </a:r>
            <a:endParaRPr lang="en-US" sz="1350" dirty="0"/>
          </a:p>
        </p:txBody>
      </p:sp>
      <p:sp>
        <p:nvSpPr>
          <p:cNvPr id="10" name="Text 7"/>
          <p:cNvSpPr/>
          <p:nvPr/>
        </p:nvSpPr>
        <p:spPr>
          <a:xfrm>
            <a:off x="3977640" y="2743200"/>
            <a:ext cx="457200" cy="548640"/>
          </a:xfrm>
          <a:prstGeom prst="rect">
            <a:avLst/>
          </a:prstGeom>
          <a:noFill/>
          <a:ln/>
        </p:spPr>
        <p:txBody>
          <a:bodyPr wrap="square" lIns="0" tIns="0" rIns="0" bIns="0" rtlCol="0" anchor="ctr"/>
          <a:lstStyle/>
          <a:p>
            <a:pPr algn="ctr" indent="0" marL="0">
              <a:buNone/>
            </a:pPr>
            <a:r>
              <a:rPr lang="en-US" sz="3200" b="1" dirty="0">
                <a:solidFill>
                  <a:srgbClr val="028090"/>
                </a:solidFill>
                <a:latin typeface="Arial" pitchFamily="34" charset="0"/>
                <a:ea typeface="Arial" pitchFamily="34" charset="-122"/>
                <a:cs typeface="Arial" pitchFamily="34" charset="-120"/>
              </a:rPr>
              <a:t>→</a:t>
            </a:r>
            <a:endParaRPr lang="en-US" sz="3200" dirty="0"/>
          </a:p>
        </p:txBody>
      </p:sp>
      <p:sp>
        <p:nvSpPr>
          <p:cNvPr id="11" name="Shape 8"/>
          <p:cNvSpPr/>
          <p:nvPr/>
        </p:nvSpPr>
        <p:spPr>
          <a:xfrm>
            <a:off x="4389120" y="1828800"/>
            <a:ext cx="3383280" cy="3200400"/>
          </a:xfrm>
          <a:prstGeom prst="roundRect">
            <a:avLst>
              <a:gd name="adj" fmla="val 2571"/>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2" name="Shape 9"/>
          <p:cNvSpPr/>
          <p:nvPr/>
        </p:nvSpPr>
        <p:spPr>
          <a:xfrm>
            <a:off x="5696712" y="2103120"/>
            <a:ext cx="768096" cy="768096"/>
          </a:xfrm>
          <a:prstGeom prst="ellipse">
            <a:avLst/>
          </a:prstGeom>
          <a:solidFill>
            <a:srgbClr val="00A896"/>
          </a:solidFill>
          <a:ln/>
          <a:effectLst>
            <a:outerShdw sx="100000" sy="100000" kx="0" ky="0" algn="bl" rotWithShape="0" blurRad="114300" dist="38100" dir="5400000">
              <a:srgbClr val="0A1A2E">
                <a:alpha val="16000"/>
              </a:srgbClr>
            </a:outerShdw>
          </a:effectLst>
        </p:spPr>
      </p:sp>
      <p:pic>
        <p:nvPicPr>
          <p:cNvPr id="13" name="Image 1" descr="preencoded.png"/>
          <p:cNvPicPr>
            <a:picLocks noChangeAspect="1"/>
          </p:cNvPicPr>
          <p:nvPr/>
        </p:nvPicPr>
        <p:blipFill>
          <a:blip r:embed="rId2"/>
          <a:stretch>
            <a:fillRect/>
          </a:stretch>
        </p:blipFill>
        <p:spPr>
          <a:xfrm>
            <a:off x="5896417" y="2302825"/>
            <a:ext cx="368686" cy="368686"/>
          </a:xfrm>
          <a:prstGeom prst="rect">
            <a:avLst/>
          </a:prstGeom>
        </p:spPr>
      </p:pic>
      <p:sp>
        <p:nvSpPr>
          <p:cNvPr id="14" name="Text 10"/>
          <p:cNvSpPr/>
          <p:nvPr/>
        </p:nvSpPr>
        <p:spPr>
          <a:xfrm>
            <a:off x="4389120" y="3017520"/>
            <a:ext cx="3383280" cy="274320"/>
          </a:xfrm>
          <a:prstGeom prst="rect">
            <a:avLst/>
          </a:prstGeom>
          <a:noFill/>
          <a:ln/>
        </p:spPr>
        <p:txBody>
          <a:bodyPr wrap="square" lIns="0" tIns="0" rIns="0" bIns="0" rtlCol="0" anchor="ctr"/>
          <a:lstStyle/>
          <a:p>
            <a:pPr algn="ctr" indent="0" marL="0">
              <a:buNone/>
            </a:pPr>
            <a:r>
              <a:rPr lang="en-US" sz="1200" b="1" spc="200" kern="0" dirty="0">
                <a:solidFill>
                  <a:srgbClr val="00A896"/>
                </a:solidFill>
                <a:latin typeface="Arial" pitchFamily="34" charset="0"/>
                <a:ea typeface="Arial" pitchFamily="34" charset="-122"/>
                <a:cs typeface="Arial" pitchFamily="34" charset="-120"/>
              </a:rPr>
              <a:t>WE PREDICT</a:t>
            </a:r>
            <a:endParaRPr lang="en-US" sz="1200" dirty="0"/>
          </a:p>
        </p:txBody>
      </p:sp>
      <p:sp>
        <p:nvSpPr>
          <p:cNvPr id="15" name="Text 11"/>
          <p:cNvSpPr/>
          <p:nvPr/>
        </p:nvSpPr>
        <p:spPr>
          <a:xfrm>
            <a:off x="4572000" y="3310128"/>
            <a:ext cx="3017520" cy="502920"/>
          </a:xfrm>
          <a:prstGeom prst="rect">
            <a:avLst/>
          </a:prstGeom>
          <a:noFill/>
          <a:ln/>
        </p:spPr>
        <p:txBody>
          <a:bodyPr wrap="square" lIns="0" tIns="0" rIns="0" bIns="0" rtlCol="0" anchor="ctr"/>
          <a:lstStyle/>
          <a:p>
            <a:pPr algn="ctr" indent="0" marL="0">
              <a:buNone/>
            </a:pPr>
            <a:r>
              <a:rPr lang="en-US" sz="2400" b="1" dirty="0">
                <a:solidFill>
                  <a:srgbClr val="16263B"/>
                </a:solidFill>
                <a:latin typeface="Georgia" pitchFamily="34" charset="0"/>
                <a:ea typeface="Georgia" pitchFamily="34" charset="-122"/>
                <a:cs typeface="Georgia" pitchFamily="34" charset="-120"/>
              </a:rPr>
              <a:t>Responsiveness</a:t>
            </a:r>
            <a:endParaRPr lang="en-US" sz="2400" dirty="0"/>
          </a:p>
        </p:txBody>
      </p:sp>
      <p:sp>
        <p:nvSpPr>
          <p:cNvPr id="16" name="Text 12"/>
          <p:cNvSpPr/>
          <p:nvPr/>
        </p:nvSpPr>
        <p:spPr>
          <a:xfrm>
            <a:off x="4617720" y="3931920"/>
            <a:ext cx="2926080" cy="822960"/>
          </a:xfrm>
          <a:prstGeom prst="rect">
            <a:avLst/>
          </a:prstGeom>
          <a:noFill/>
          <a:ln/>
        </p:spPr>
        <p:txBody>
          <a:bodyPr wrap="square" lIns="0" tIns="0" rIns="0" bIns="0" rtlCol="0" anchor="ctr"/>
          <a:lstStyle/>
          <a:p>
            <a:pPr algn="ctr" indent="0" marL="0">
              <a:buNone/>
            </a:pPr>
            <a:r>
              <a:rPr lang="en-US" sz="1350" dirty="0">
                <a:solidFill>
                  <a:srgbClr val="5C6B7A"/>
                </a:solidFill>
                <a:latin typeface="Arial" pitchFamily="34" charset="0"/>
                <a:ea typeface="Arial" pitchFamily="34" charset="-122"/>
                <a:cs typeface="Arial" pitchFamily="34" charset="-120"/>
              </a:rPr>
              <a:t>how fast they reply</a:t>
            </a:r>
            <a:endParaRPr lang="en-US" sz="1350" dirty="0"/>
          </a:p>
        </p:txBody>
      </p:sp>
      <p:sp>
        <p:nvSpPr>
          <p:cNvPr id="17" name="Text 13"/>
          <p:cNvSpPr/>
          <p:nvPr/>
        </p:nvSpPr>
        <p:spPr>
          <a:xfrm>
            <a:off x="7726680" y="2743200"/>
            <a:ext cx="457200" cy="548640"/>
          </a:xfrm>
          <a:prstGeom prst="rect">
            <a:avLst/>
          </a:prstGeom>
          <a:noFill/>
          <a:ln/>
        </p:spPr>
        <p:txBody>
          <a:bodyPr wrap="square" lIns="0" tIns="0" rIns="0" bIns="0" rtlCol="0" anchor="ctr"/>
          <a:lstStyle/>
          <a:p>
            <a:pPr algn="ctr" indent="0" marL="0">
              <a:buNone/>
            </a:pPr>
            <a:r>
              <a:rPr lang="en-US" sz="3200" b="1" dirty="0">
                <a:solidFill>
                  <a:srgbClr val="028090"/>
                </a:solidFill>
                <a:latin typeface="Arial" pitchFamily="34" charset="0"/>
                <a:ea typeface="Arial" pitchFamily="34" charset="-122"/>
                <a:cs typeface="Arial" pitchFamily="34" charset="-120"/>
              </a:rPr>
              <a:t>→</a:t>
            </a:r>
            <a:endParaRPr lang="en-US" sz="3200" dirty="0"/>
          </a:p>
        </p:txBody>
      </p:sp>
      <p:sp>
        <p:nvSpPr>
          <p:cNvPr id="18" name="Shape 14"/>
          <p:cNvSpPr/>
          <p:nvPr/>
        </p:nvSpPr>
        <p:spPr>
          <a:xfrm>
            <a:off x="8138160" y="1828800"/>
            <a:ext cx="3383280" cy="3200400"/>
          </a:xfrm>
          <a:prstGeom prst="roundRect">
            <a:avLst>
              <a:gd name="adj" fmla="val 2571"/>
            </a:avLst>
          </a:prstGeom>
          <a:solidFill>
            <a:srgbClr val="11243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9" name="Shape 15"/>
          <p:cNvSpPr/>
          <p:nvPr/>
        </p:nvSpPr>
        <p:spPr>
          <a:xfrm>
            <a:off x="9445752" y="2103120"/>
            <a:ext cx="768096" cy="768096"/>
          </a:xfrm>
          <a:prstGeom prst="ellipse">
            <a:avLst/>
          </a:prstGeom>
          <a:solidFill>
            <a:srgbClr val="11243F"/>
          </a:solidFill>
          <a:ln/>
          <a:effectLst>
            <a:outerShdw sx="100000" sy="100000" kx="0" ky="0" algn="bl" rotWithShape="0" blurRad="114300" dist="38100" dir="5400000">
              <a:srgbClr val="0A1A2E">
                <a:alpha val="16000"/>
              </a:srgbClr>
            </a:outerShdw>
          </a:effectLst>
        </p:spPr>
      </p:sp>
      <p:pic>
        <p:nvPicPr>
          <p:cNvPr id="20" name="Image 2" descr="preencoded.png"/>
          <p:cNvPicPr>
            <a:picLocks noChangeAspect="1"/>
          </p:cNvPicPr>
          <p:nvPr/>
        </p:nvPicPr>
        <p:blipFill>
          <a:blip r:embed="rId3"/>
          <a:stretch>
            <a:fillRect/>
          </a:stretch>
        </p:blipFill>
        <p:spPr>
          <a:xfrm>
            <a:off x="9645457" y="2302825"/>
            <a:ext cx="368686" cy="368686"/>
          </a:xfrm>
          <a:prstGeom prst="rect">
            <a:avLst/>
          </a:prstGeom>
        </p:spPr>
      </p:pic>
      <p:sp>
        <p:nvSpPr>
          <p:cNvPr id="21" name="Text 16"/>
          <p:cNvSpPr/>
          <p:nvPr/>
        </p:nvSpPr>
        <p:spPr>
          <a:xfrm>
            <a:off x="8138160" y="3017520"/>
            <a:ext cx="3383280" cy="274320"/>
          </a:xfrm>
          <a:prstGeom prst="rect">
            <a:avLst/>
          </a:prstGeom>
          <a:noFill/>
          <a:ln/>
        </p:spPr>
        <p:txBody>
          <a:bodyPr wrap="square" lIns="0" tIns="0" rIns="0" bIns="0" rtlCol="0" anchor="ctr"/>
          <a:lstStyle/>
          <a:p>
            <a:pPr algn="ctr" indent="0" marL="0">
              <a:buNone/>
            </a:pPr>
            <a:r>
              <a:rPr lang="en-US" sz="1200" b="1" spc="200" kern="0" dirty="0">
                <a:solidFill>
                  <a:srgbClr val="00A896"/>
                </a:solidFill>
                <a:latin typeface="Arial" pitchFamily="34" charset="0"/>
                <a:ea typeface="Arial" pitchFamily="34" charset="-122"/>
                <a:cs typeface="Arial" pitchFamily="34" charset="-120"/>
              </a:rPr>
              <a:t>WE'RE AFTER</a:t>
            </a:r>
            <a:endParaRPr lang="en-US" sz="1200" dirty="0"/>
          </a:p>
        </p:txBody>
      </p:sp>
      <p:sp>
        <p:nvSpPr>
          <p:cNvPr id="22" name="Text 17"/>
          <p:cNvSpPr/>
          <p:nvPr/>
        </p:nvSpPr>
        <p:spPr>
          <a:xfrm>
            <a:off x="8321040" y="3310128"/>
            <a:ext cx="3017520" cy="502920"/>
          </a:xfrm>
          <a:prstGeom prst="rect">
            <a:avLst/>
          </a:prstGeom>
          <a:noFill/>
          <a:ln/>
        </p:spPr>
        <p:txBody>
          <a:bodyPr wrap="square" lIns="0" tIns="0" rIns="0" bIns="0" rtlCol="0" anchor="ctr"/>
          <a:lstStyle/>
          <a:p>
            <a:pPr algn="ctr" indent="0" marL="0">
              <a:buNone/>
            </a:pPr>
            <a:r>
              <a:rPr lang="en-US" sz="2400" b="1" dirty="0">
                <a:solidFill>
                  <a:srgbClr val="FFFFFF"/>
                </a:solidFill>
                <a:latin typeface="Georgia" pitchFamily="34" charset="0"/>
                <a:ea typeface="Georgia" pitchFamily="34" charset="-122"/>
                <a:cs typeface="Georgia" pitchFamily="34" charset="-120"/>
              </a:rPr>
              <a:t>Trust</a:t>
            </a:r>
            <a:endParaRPr lang="en-US" sz="2400" dirty="0"/>
          </a:p>
        </p:txBody>
      </p:sp>
      <p:sp>
        <p:nvSpPr>
          <p:cNvPr id="23" name="Text 18"/>
          <p:cNvSpPr/>
          <p:nvPr/>
        </p:nvSpPr>
        <p:spPr>
          <a:xfrm>
            <a:off x="8366760" y="3931920"/>
            <a:ext cx="2926080" cy="822960"/>
          </a:xfrm>
          <a:prstGeom prst="rect">
            <a:avLst/>
          </a:prstGeom>
          <a:noFill/>
          <a:ln/>
        </p:spPr>
        <p:txBody>
          <a:bodyPr wrap="square" lIns="0" tIns="0" rIns="0" bIns="0" rtlCol="0" anchor="ctr"/>
          <a:lstStyle/>
          <a:p>
            <a:pPr algn="ctr" indent="0" marL="0">
              <a:buNone/>
            </a:pPr>
            <a:r>
              <a:rPr lang="en-US" sz="1350" dirty="0">
                <a:solidFill>
                  <a:srgbClr val="C7D6E5"/>
                </a:solidFill>
                <a:latin typeface="Arial" pitchFamily="34" charset="0"/>
                <a:ea typeface="Arial" pitchFamily="34" charset="-122"/>
                <a:cs typeface="Arial" pitchFamily="34" charset="-120"/>
              </a:rPr>
              <a:t>the thing underneath — inferred</a:t>
            </a:r>
            <a:endParaRPr lang="en-US" sz="1350" dirty="0"/>
          </a:p>
        </p:txBody>
      </p:sp>
      <p:sp>
        <p:nvSpPr>
          <p:cNvPr id="24" name="Shape 19"/>
          <p:cNvSpPr/>
          <p:nvPr/>
        </p:nvSpPr>
        <p:spPr>
          <a:xfrm>
            <a:off x="640080" y="5257800"/>
            <a:ext cx="10881360" cy="731520"/>
          </a:xfrm>
          <a:prstGeom prst="roundRect">
            <a:avLst>
              <a:gd name="adj" fmla="val 11250"/>
            </a:avLst>
          </a:prstGeom>
          <a:solidFill>
            <a:srgbClr val="F4F9FB"/>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25" name="Text 20"/>
          <p:cNvSpPr/>
          <p:nvPr/>
        </p:nvSpPr>
        <p:spPr>
          <a:xfrm>
            <a:off x="914400" y="5257800"/>
            <a:ext cx="10332720" cy="731520"/>
          </a:xfrm>
          <a:prstGeom prst="rect">
            <a:avLst/>
          </a:prstGeom>
          <a:noFill/>
          <a:ln/>
        </p:spPr>
        <p:txBody>
          <a:bodyPr wrap="square" lIns="0" tIns="0" rIns="0" bIns="0" rtlCol="0" anchor="ctr"/>
          <a:lstStyle/>
          <a:p>
            <a:pPr indent="0" marL="0">
              <a:buNone/>
            </a:pPr>
            <a:r>
              <a:rPr lang="en-US" sz="1400" b="1" dirty="0">
                <a:solidFill>
                  <a:srgbClr val="028090"/>
                </a:solidFill>
                <a:latin typeface="Arial" pitchFamily="34" charset="0"/>
                <a:ea typeface="Arial" pitchFamily="34" charset="-122"/>
                <a:cs typeface="Arial" pitchFamily="34" charset="-120"/>
              </a:rPr>
              <a:t xml:space="preserve">Being honest:  </a:t>
            </a:r>
            <a:pPr indent="0" marL="0">
              <a:buNone/>
            </a:pPr>
            <a:r>
              <a:rPr lang="en-US" sz="1400" dirty="0">
                <a:solidFill>
                  <a:srgbClr val="16263B"/>
                </a:solidFill>
                <a:latin typeface="Arial" pitchFamily="34" charset="0"/>
                <a:ea typeface="Arial" pitchFamily="34" charset="-122"/>
                <a:cs typeface="Arial" pitchFamily="34" charset="-120"/>
              </a:rPr>
              <a:t>we measure talk and predict replies. Trust is what we believe sits underneath — we don't claim to measure it directly.</a:t>
            </a:r>
            <a:endParaRPr lang="en-US" sz="1400" dirty="0"/>
          </a:p>
        </p:txBody>
      </p:sp>
      <p:sp>
        <p:nvSpPr>
          <p:cNvPr id="26" name="Shape 21"/>
          <p:cNvSpPr/>
          <p:nvPr/>
        </p:nvSpPr>
        <p:spPr>
          <a:xfrm>
            <a:off x="10698480" y="274320"/>
            <a:ext cx="1097280" cy="1097280"/>
          </a:xfrm>
          <a:prstGeom prst="roundRect">
            <a:avLst>
              <a:gd name="adj" fmla="val 5833"/>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pic>
        <p:nvPicPr>
          <p:cNvPr id="27" name="Image 3" descr="/home/claude/qr_colab.png"/>
          <p:cNvPicPr>
            <a:picLocks noChangeAspect="1"/>
          </p:cNvPicPr>
          <p:nvPr/>
        </p:nvPicPr>
        <p:blipFill>
          <a:blip r:embed="rId4"/>
          <a:stretch>
            <a:fillRect/>
          </a:stretch>
        </p:blipFill>
        <p:spPr>
          <a:xfrm>
            <a:off x="10808208" y="384048"/>
            <a:ext cx="877824" cy="877824"/>
          </a:xfrm>
          <a:prstGeom prst="rect">
            <a:avLst/>
          </a:prstGeom>
        </p:spPr>
      </p:pic>
      <p:sp>
        <p:nvSpPr>
          <p:cNvPr id="28" name="Text 22"/>
          <p:cNvSpPr/>
          <p:nvPr/>
        </p:nvSpPr>
        <p:spPr>
          <a:xfrm>
            <a:off x="10424160" y="1399032"/>
            <a:ext cx="1645920" cy="201168"/>
          </a:xfrm>
          <a:prstGeom prst="rect">
            <a:avLst/>
          </a:prstGeom>
          <a:noFill/>
          <a:ln/>
        </p:spPr>
        <p:txBody>
          <a:bodyPr wrap="square" lIns="0" tIns="0" rIns="0" bIns="0" rtlCol="0" anchor="ctr"/>
          <a:lstStyle/>
          <a:p>
            <a:pPr algn="ctr" indent="0" marL="0">
              <a:buNone/>
            </a:pPr>
            <a:r>
              <a:rPr lang="en-US" sz="850" b="1" dirty="0">
                <a:solidFill>
                  <a:srgbClr val="028090"/>
                </a:solidFill>
                <a:latin typeface="Arial" pitchFamily="34" charset="0"/>
                <a:ea typeface="Arial" pitchFamily="34" charset="-122"/>
                <a:cs typeface="Arial" pitchFamily="34" charset="-120"/>
              </a:rPr>
              <a:t>Scan · Request a briefing</a:t>
            </a:r>
            <a:endParaRPr lang="en-US" sz="850" dirty="0"/>
          </a:p>
        </p:txBody>
      </p:sp>
      <p:sp>
        <p:nvSpPr>
          <p:cNvPr id="29" name="Text 23"/>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000" dirty="0">
                <a:solidFill>
                  <a:srgbClr val="5C6B7A"/>
                </a:solidFill>
                <a:latin typeface="Arial" pitchFamily="34" charset="0"/>
                <a:ea typeface="Arial" pitchFamily="34" charset="-122"/>
                <a:cs typeface="Arial" pitchFamily="34" charset="-120"/>
              </a:rPr>
              <a:t>05</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AF2F6"/>
        </a:solidFill>
      </p:bgPr>
    </p:bg>
    <p:spTree>
      <p:nvGrpSpPr>
        <p:cNvPr id="1" name=""/>
        <p:cNvGrpSpPr/>
        <p:nvPr/>
      </p:nvGrpSpPr>
      <p:grpSpPr>
        <a:xfrm>
          <a:off x="0" y="0"/>
          <a:ext cx="0" cy="0"/>
          <a:chOff x="0" y="0"/>
          <a:chExt cx="0" cy="0"/>
        </a:xfrm>
      </p:grpSpPr>
      <p:sp>
        <p:nvSpPr>
          <p:cNvPr id="2" name="Text 0"/>
          <p:cNvSpPr/>
          <p:nvPr/>
        </p:nvSpPr>
        <p:spPr>
          <a:xfrm>
            <a:off x="640080" y="502920"/>
            <a:ext cx="10058400" cy="274320"/>
          </a:xfrm>
          <a:prstGeom prst="rect">
            <a:avLst/>
          </a:prstGeom>
          <a:noFill/>
          <a:ln/>
        </p:spPr>
        <p:txBody>
          <a:bodyPr wrap="square" lIns="0" tIns="0" rIns="0" bIns="0" rtlCol="0" anchor="ctr"/>
          <a:lstStyle/>
          <a:p>
            <a:pPr algn="l" indent="0" marL="0">
              <a:buNone/>
            </a:pPr>
            <a:r>
              <a:rPr lang="en-US" sz="1200" b="1" spc="300" kern="0" dirty="0">
                <a:solidFill>
                  <a:srgbClr val="028090"/>
                </a:solidFill>
                <a:latin typeface="Arial" pitchFamily="34" charset="0"/>
                <a:ea typeface="Arial" pitchFamily="34" charset="-122"/>
                <a:cs typeface="Arial" pitchFamily="34" charset="-120"/>
              </a:rPr>
              <a:t>THE DATA · WHERE IT COMES FROM</a:t>
            </a:r>
            <a:endParaRPr lang="en-US" sz="1200" dirty="0"/>
          </a:p>
        </p:txBody>
      </p:sp>
      <p:sp>
        <p:nvSpPr>
          <p:cNvPr id="3" name="Text 1"/>
          <p:cNvSpPr/>
          <p:nvPr/>
        </p:nvSpPr>
        <p:spPr>
          <a:xfrm>
            <a:off x="640080" y="822960"/>
            <a:ext cx="9601200" cy="1097280"/>
          </a:xfrm>
          <a:prstGeom prst="rect">
            <a:avLst/>
          </a:prstGeom>
          <a:noFill/>
          <a:ln/>
        </p:spPr>
        <p:txBody>
          <a:bodyPr wrap="square" lIns="0" tIns="0" rIns="0" bIns="0" rtlCol="0" anchor="t"/>
          <a:lstStyle/>
          <a:p>
            <a:pPr algn="l" indent="0" marL="0">
              <a:buNone/>
            </a:pPr>
            <a:r>
              <a:rPr lang="en-US" sz="2900" b="1" dirty="0">
                <a:solidFill>
                  <a:srgbClr val="16263B"/>
                </a:solidFill>
                <a:latin typeface="Georgia" pitchFamily="34" charset="0"/>
                <a:ea typeface="Georgia" pitchFamily="34" charset="-122"/>
                <a:cs typeface="Georgia" pitchFamily="34" charset="-120"/>
              </a:rPr>
              <a:t>Three everyday tools, one combined table</a:t>
            </a:r>
            <a:endParaRPr lang="en-US" sz="2900" dirty="0"/>
          </a:p>
        </p:txBody>
      </p:sp>
      <p:sp>
        <p:nvSpPr>
          <p:cNvPr id="4" name="Shape 2"/>
          <p:cNvSpPr/>
          <p:nvPr/>
        </p:nvSpPr>
        <p:spPr>
          <a:xfrm>
            <a:off x="640080" y="1828800"/>
            <a:ext cx="2743200" cy="2148840"/>
          </a:xfrm>
          <a:prstGeom prst="roundRect">
            <a:avLst>
              <a:gd name="adj" fmla="val 3830"/>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5" name="Shape 3"/>
          <p:cNvSpPr/>
          <p:nvPr/>
        </p:nvSpPr>
        <p:spPr>
          <a:xfrm>
            <a:off x="1623060" y="2103120"/>
            <a:ext cx="777240" cy="777240"/>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6" name="Image 0" descr="preencoded.png"/>
          <p:cNvPicPr>
            <a:picLocks noChangeAspect="1"/>
          </p:cNvPicPr>
          <p:nvPr/>
        </p:nvPicPr>
        <p:blipFill>
          <a:blip r:embed="rId1"/>
          <a:stretch>
            <a:fillRect/>
          </a:stretch>
        </p:blipFill>
        <p:spPr>
          <a:xfrm>
            <a:off x="1825142" y="2305202"/>
            <a:ext cx="373075" cy="373075"/>
          </a:xfrm>
          <a:prstGeom prst="rect">
            <a:avLst/>
          </a:prstGeom>
        </p:spPr>
      </p:pic>
      <p:sp>
        <p:nvSpPr>
          <p:cNvPr id="7" name="Text 4"/>
          <p:cNvSpPr/>
          <p:nvPr/>
        </p:nvSpPr>
        <p:spPr>
          <a:xfrm>
            <a:off x="640080" y="3063240"/>
            <a:ext cx="2743200" cy="320040"/>
          </a:xfrm>
          <a:prstGeom prst="rect">
            <a:avLst/>
          </a:prstGeom>
          <a:noFill/>
          <a:ln/>
        </p:spPr>
        <p:txBody>
          <a:bodyPr wrap="square" lIns="0" tIns="0" rIns="0" bIns="0" rtlCol="0" anchor="ctr"/>
          <a:lstStyle/>
          <a:p>
            <a:pPr algn="ctr" indent="0" marL="0">
              <a:buNone/>
            </a:pPr>
            <a:r>
              <a:rPr lang="en-US" sz="1800" b="1" dirty="0">
                <a:solidFill>
                  <a:srgbClr val="16263B"/>
                </a:solidFill>
                <a:latin typeface="Arial" pitchFamily="34" charset="0"/>
                <a:ea typeface="Arial" pitchFamily="34" charset="-122"/>
                <a:cs typeface="Arial" pitchFamily="34" charset="-120"/>
              </a:rPr>
              <a:t>Slack</a:t>
            </a:r>
            <a:endParaRPr lang="en-US" sz="1800" dirty="0"/>
          </a:p>
        </p:txBody>
      </p:sp>
      <p:sp>
        <p:nvSpPr>
          <p:cNvPr id="8" name="Text 5"/>
          <p:cNvSpPr/>
          <p:nvPr/>
        </p:nvSpPr>
        <p:spPr>
          <a:xfrm>
            <a:off x="640080" y="3419856"/>
            <a:ext cx="2743200" cy="320040"/>
          </a:xfrm>
          <a:prstGeom prst="rect">
            <a:avLst/>
          </a:prstGeom>
          <a:noFill/>
          <a:ln/>
        </p:spPr>
        <p:txBody>
          <a:bodyPr wrap="square" lIns="0" tIns="0" rIns="0" bIns="0" rtlCol="0" anchor="ctr"/>
          <a:lstStyle/>
          <a:p>
            <a:pPr algn="ctr" indent="0" marL="0">
              <a:buNone/>
            </a:pPr>
            <a:r>
              <a:rPr lang="en-US" sz="1300" b="1" dirty="0">
                <a:solidFill>
                  <a:srgbClr val="028090"/>
                </a:solidFill>
                <a:latin typeface="Arial" pitchFamily="34" charset="0"/>
                <a:ea typeface="Arial" pitchFamily="34" charset="-122"/>
                <a:cs typeface="Arial" pitchFamily="34" charset="-120"/>
              </a:rPr>
              <a:t>500 chat messages</a:t>
            </a:r>
            <a:endParaRPr lang="en-US" sz="1300" dirty="0"/>
          </a:p>
        </p:txBody>
      </p:sp>
      <p:sp>
        <p:nvSpPr>
          <p:cNvPr id="9" name="Shape 6"/>
          <p:cNvSpPr/>
          <p:nvPr/>
        </p:nvSpPr>
        <p:spPr>
          <a:xfrm>
            <a:off x="3611880" y="1828800"/>
            <a:ext cx="2743200" cy="2148840"/>
          </a:xfrm>
          <a:prstGeom prst="roundRect">
            <a:avLst>
              <a:gd name="adj" fmla="val 3830"/>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0" name="Shape 7"/>
          <p:cNvSpPr/>
          <p:nvPr/>
        </p:nvSpPr>
        <p:spPr>
          <a:xfrm>
            <a:off x="4594860" y="2103120"/>
            <a:ext cx="777240" cy="777240"/>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11" name="Image 1" descr="preencoded.png"/>
          <p:cNvPicPr>
            <a:picLocks noChangeAspect="1"/>
          </p:cNvPicPr>
          <p:nvPr/>
        </p:nvPicPr>
        <p:blipFill>
          <a:blip r:embed="rId2"/>
          <a:stretch>
            <a:fillRect/>
          </a:stretch>
        </p:blipFill>
        <p:spPr>
          <a:xfrm>
            <a:off x="4796942" y="2305202"/>
            <a:ext cx="373075" cy="373075"/>
          </a:xfrm>
          <a:prstGeom prst="rect">
            <a:avLst/>
          </a:prstGeom>
        </p:spPr>
      </p:pic>
      <p:sp>
        <p:nvSpPr>
          <p:cNvPr id="12" name="Text 8"/>
          <p:cNvSpPr/>
          <p:nvPr/>
        </p:nvSpPr>
        <p:spPr>
          <a:xfrm>
            <a:off x="3611880" y="3063240"/>
            <a:ext cx="2743200" cy="320040"/>
          </a:xfrm>
          <a:prstGeom prst="rect">
            <a:avLst/>
          </a:prstGeom>
          <a:noFill/>
          <a:ln/>
        </p:spPr>
        <p:txBody>
          <a:bodyPr wrap="square" lIns="0" tIns="0" rIns="0" bIns="0" rtlCol="0" anchor="ctr"/>
          <a:lstStyle/>
          <a:p>
            <a:pPr algn="ctr" indent="0" marL="0">
              <a:buNone/>
            </a:pPr>
            <a:r>
              <a:rPr lang="en-US" sz="1800" b="1" dirty="0">
                <a:solidFill>
                  <a:srgbClr val="16263B"/>
                </a:solidFill>
                <a:latin typeface="Arial" pitchFamily="34" charset="0"/>
                <a:ea typeface="Arial" pitchFamily="34" charset="-122"/>
                <a:cs typeface="Arial" pitchFamily="34" charset="-120"/>
              </a:rPr>
              <a:t>Teams</a:t>
            </a:r>
            <a:endParaRPr lang="en-US" sz="1800" dirty="0"/>
          </a:p>
        </p:txBody>
      </p:sp>
      <p:sp>
        <p:nvSpPr>
          <p:cNvPr id="13" name="Text 9"/>
          <p:cNvSpPr/>
          <p:nvPr/>
        </p:nvSpPr>
        <p:spPr>
          <a:xfrm>
            <a:off x="3611880" y="3419856"/>
            <a:ext cx="2743200" cy="320040"/>
          </a:xfrm>
          <a:prstGeom prst="rect">
            <a:avLst/>
          </a:prstGeom>
          <a:noFill/>
          <a:ln/>
        </p:spPr>
        <p:txBody>
          <a:bodyPr wrap="square" lIns="0" tIns="0" rIns="0" bIns="0" rtlCol="0" anchor="ctr"/>
          <a:lstStyle/>
          <a:p>
            <a:pPr algn="ctr" indent="0" marL="0">
              <a:buNone/>
            </a:pPr>
            <a:r>
              <a:rPr lang="en-US" sz="1300" b="1" dirty="0">
                <a:solidFill>
                  <a:srgbClr val="028090"/>
                </a:solidFill>
                <a:latin typeface="Arial" pitchFamily="34" charset="0"/>
                <a:ea typeface="Arial" pitchFamily="34" charset="-122"/>
                <a:cs typeface="Arial" pitchFamily="34" charset="-120"/>
              </a:rPr>
              <a:t>400 meetings</a:t>
            </a:r>
            <a:endParaRPr lang="en-US" sz="1300" dirty="0"/>
          </a:p>
        </p:txBody>
      </p:sp>
      <p:sp>
        <p:nvSpPr>
          <p:cNvPr id="14" name="Shape 10"/>
          <p:cNvSpPr/>
          <p:nvPr/>
        </p:nvSpPr>
        <p:spPr>
          <a:xfrm>
            <a:off x="6583680" y="1828800"/>
            <a:ext cx="2743200" cy="2148840"/>
          </a:xfrm>
          <a:prstGeom prst="roundRect">
            <a:avLst>
              <a:gd name="adj" fmla="val 3830"/>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5" name="Shape 11"/>
          <p:cNvSpPr/>
          <p:nvPr/>
        </p:nvSpPr>
        <p:spPr>
          <a:xfrm>
            <a:off x="7566660" y="2103120"/>
            <a:ext cx="777240" cy="777240"/>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16" name="Image 2" descr="preencoded.png"/>
          <p:cNvPicPr>
            <a:picLocks noChangeAspect="1"/>
          </p:cNvPicPr>
          <p:nvPr/>
        </p:nvPicPr>
        <p:blipFill>
          <a:blip r:embed="rId3"/>
          <a:stretch>
            <a:fillRect/>
          </a:stretch>
        </p:blipFill>
        <p:spPr>
          <a:xfrm>
            <a:off x="7768742" y="2305202"/>
            <a:ext cx="373075" cy="373075"/>
          </a:xfrm>
          <a:prstGeom prst="rect">
            <a:avLst/>
          </a:prstGeom>
        </p:spPr>
      </p:pic>
      <p:sp>
        <p:nvSpPr>
          <p:cNvPr id="17" name="Text 12"/>
          <p:cNvSpPr/>
          <p:nvPr/>
        </p:nvSpPr>
        <p:spPr>
          <a:xfrm>
            <a:off x="6583680" y="3063240"/>
            <a:ext cx="2743200" cy="320040"/>
          </a:xfrm>
          <a:prstGeom prst="rect">
            <a:avLst/>
          </a:prstGeom>
          <a:noFill/>
          <a:ln/>
        </p:spPr>
        <p:txBody>
          <a:bodyPr wrap="square" lIns="0" tIns="0" rIns="0" bIns="0" rtlCol="0" anchor="ctr"/>
          <a:lstStyle/>
          <a:p>
            <a:pPr algn="ctr" indent="0" marL="0">
              <a:buNone/>
            </a:pPr>
            <a:r>
              <a:rPr lang="en-US" sz="1800" b="1" dirty="0">
                <a:solidFill>
                  <a:srgbClr val="16263B"/>
                </a:solidFill>
                <a:latin typeface="Arial" pitchFamily="34" charset="0"/>
                <a:ea typeface="Arial" pitchFamily="34" charset="-122"/>
                <a:cs typeface="Arial" pitchFamily="34" charset="-120"/>
              </a:rPr>
              <a:t>Outlook</a:t>
            </a:r>
            <a:endParaRPr lang="en-US" sz="1800" dirty="0"/>
          </a:p>
        </p:txBody>
      </p:sp>
      <p:sp>
        <p:nvSpPr>
          <p:cNvPr id="18" name="Text 13"/>
          <p:cNvSpPr/>
          <p:nvPr/>
        </p:nvSpPr>
        <p:spPr>
          <a:xfrm>
            <a:off x="6583680" y="3419856"/>
            <a:ext cx="2743200" cy="320040"/>
          </a:xfrm>
          <a:prstGeom prst="rect">
            <a:avLst/>
          </a:prstGeom>
          <a:noFill/>
          <a:ln/>
        </p:spPr>
        <p:txBody>
          <a:bodyPr wrap="square" lIns="0" tIns="0" rIns="0" bIns="0" rtlCol="0" anchor="ctr"/>
          <a:lstStyle/>
          <a:p>
            <a:pPr algn="ctr" indent="0" marL="0">
              <a:buNone/>
            </a:pPr>
            <a:r>
              <a:rPr lang="en-US" sz="1300" b="1" dirty="0">
                <a:solidFill>
                  <a:srgbClr val="028090"/>
                </a:solidFill>
                <a:latin typeface="Arial" pitchFamily="34" charset="0"/>
                <a:ea typeface="Arial" pitchFamily="34" charset="-122"/>
                <a:cs typeface="Arial" pitchFamily="34" charset="-120"/>
              </a:rPr>
              <a:t>350 calendar invites</a:t>
            </a:r>
            <a:endParaRPr lang="en-US" sz="1300" dirty="0"/>
          </a:p>
        </p:txBody>
      </p:sp>
      <p:sp>
        <p:nvSpPr>
          <p:cNvPr id="19" name="Text 14"/>
          <p:cNvSpPr/>
          <p:nvPr/>
        </p:nvSpPr>
        <p:spPr>
          <a:xfrm>
            <a:off x="9144000" y="2542032"/>
            <a:ext cx="640080" cy="731520"/>
          </a:xfrm>
          <a:prstGeom prst="rect">
            <a:avLst/>
          </a:prstGeom>
          <a:noFill/>
          <a:ln/>
        </p:spPr>
        <p:txBody>
          <a:bodyPr wrap="square" lIns="0" tIns="0" rIns="0" bIns="0" rtlCol="0" anchor="ctr"/>
          <a:lstStyle/>
          <a:p>
            <a:pPr algn="ctr" indent="0" marL="0">
              <a:buNone/>
            </a:pPr>
            <a:r>
              <a:rPr lang="en-US" sz="4000" b="1" dirty="0">
                <a:solidFill>
                  <a:srgbClr val="028090"/>
                </a:solidFill>
                <a:latin typeface="Arial" pitchFamily="34" charset="0"/>
                <a:ea typeface="Arial" pitchFamily="34" charset="-122"/>
                <a:cs typeface="Arial" pitchFamily="34" charset="-120"/>
              </a:rPr>
              <a:t>→</a:t>
            </a:r>
            <a:endParaRPr lang="en-US" sz="4000" dirty="0"/>
          </a:p>
        </p:txBody>
      </p:sp>
      <p:sp>
        <p:nvSpPr>
          <p:cNvPr id="20" name="Shape 15"/>
          <p:cNvSpPr/>
          <p:nvPr/>
        </p:nvSpPr>
        <p:spPr>
          <a:xfrm>
            <a:off x="9829800" y="1828800"/>
            <a:ext cx="1691640" cy="2148840"/>
          </a:xfrm>
          <a:prstGeom prst="roundRect">
            <a:avLst>
              <a:gd name="adj" fmla="val 4865"/>
            </a:avLst>
          </a:prstGeom>
          <a:solidFill>
            <a:srgbClr val="11243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21" name="Shape 16"/>
          <p:cNvSpPr/>
          <p:nvPr/>
        </p:nvSpPr>
        <p:spPr>
          <a:xfrm>
            <a:off x="10309860" y="2103120"/>
            <a:ext cx="731520" cy="731520"/>
          </a:xfrm>
          <a:prstGeom prst="ellipse">
            <a:avLst/>
          </a:prstGeom>
          <a:solidFill>
            <a:srgbClr val="02C39A"/>
          </a:solidFill>
          <a:ln/>
          <a:effectLst>
            <a:outerShdw sx="100000" sy="100000" kx="0" ky="0" algn="bl" rotWithShape="0" blurRad="114300" dist="38100" dir="5400000">
              <a:srgbClr val="0A1A2E">
                <a:alpha val="16000"/>
              </a:srgbClr>
            </a:outerShdw>
          </a:effectLst>
        </p:spPr>
      </p:sp>
      <p:pic>
        <p:nvPicPr>
          <p:cNvPr id="22" name="Image 3" descr="preencoded.png"/>
          <p:cNvPicPr>
            <a:picLocks noChangeAspect="1"/>
          </p:cNvPicPr>
          <p:nvPr/>
        </p:nvPicPr>
        <p:blipFill>
          <a:blip r:embed="rId4"/>
          <a:stretch>
            <a:fillRect/>
          </a:stretch>
        </p:blipFill>
        <p:spPr>
          <a:xfrm>
            <a:off x="10500055" y="2293315"/>
            <a:ext cx="351130" cy="351130"/>
          </a:xfrm>
          <a:prstGeom prst="rect">
            <a:avLst/>
          </a:prstGeom>
        </p:spPr>
      </p:pic>
      <p:sp>
        <p:nvSpPr>
          <p:cNvPr id="23" name="Text 17"/>
          <p:cNvSpPr/>
          <p:nvPr/>
        </p:nvSpPr>
        <p:spPr>
          <a:xfrm>
            <a:off x="9829800" y="3035808"/>
            <a:ext cx="1691640" cy="77724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1,250 events</a:t>
            </a:r>
            <a:endParaRPr lang="en-US" sz="1400" dirty="0"/>
          </a:p>
          <a:p>
            <a:pPr algn="ctr" indent="0" marL="0">
              <a:buNone/>
            </a:pPr>
            <a:r>
              <a:rPr lang="en-US" sz="1400" b="1" dirty="0">
                <a:solidFill>
                  <a:srgbClr val="FFFFFF"/>
                </a:solidFill>
                <a:latin typeface="Arial" pitchFamily="34" charset="0"/>
                <a:ea typeface="Arial" pitchFamily="34" charset="-122"/>
                <a:cs typeface="Arial" pitchFamily="34" charset="-120"/>
              </a:rPr>
              <a:t>in one table</a:t>
            </a:r>
            <a:endParaRPr lang="en-US" sz="1400" dirty="0"/>
          </a:p>
        </p:txBody>
      </p:sp>
      <p:sp>
        <p:nvSpPr>
          <p:cNvPr id="24" name="Shape 18"/>
          <p:cNvSpPr/>
          <p:nvPr/>
        </p:nvSpPr>
        <p:spPr>
          <a:xfrm>
            <a:off x="640080" y="4251960"/>
            <a:ext cx="10881360" cy="1417320"/>
          </a:xfrm>
          <a:prstGeom prst="roundRect">
            <a:avLst>
              <a:gd name="adj" fmla="val 5806"/>
            </a:avLst>
          </a:prstGeom>
          <a:solidFill>
            <a:srgbClr val="F4F9FB"/>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25" name="Shape 19"/>
          <p:cNvSpPr/>
          <p:nvPr/>
        </p:nvSpPr>
        <p:spPr>
          <a:xfrm>
            <a:off x="914400" y="4526280"/>
            <a:ext cx="640080" cy="640080"/>
          </a:xfrm>
          <a:prstGeom prst="ellipse">
            <a:avLst/>
          </a:prstGeom>
          <a:solidFill>
            <a:srgbClr val="02C39A"/>
          </a:solidFill>
          <a:ln/>
          <a:effectLst>
            <a:outerShdw sx="100000" sy="100000" kx="0" ky="0" algn="bl" rotWithShape="0" blurRad="114300" dist="38100" dir="5400000">
              <a:srgbClr val="0A1A2E">
                <a:alpha val="16000"/>
              </a:srgbClr>
            </a:outerShdw>
          </a:effectLst>
        </p:spPr>
      </p:sp>
      <p:pic>
        <p:nvPicPr>
          <p:cNvPr id="26" name="Image 4" descr="preencoded.png"/>
          <p:cNvPicPr>
            <a:picLocks noChangeAspect="1"/>
          </p:cNvPicPr>
          <p:nvPr/>
        </p:nvPicPr>
        <p:blipFill>
          <a:blip r:embed="rId5"/>
          <a:stretch>
            <a:fillRect/>
          </a:stretch>
        </p:blipFill>
        <p:spPr>
          <a:xfrm>
            <a:off x="1080821" y="4692701"/>
            <a:ext cx="307238" cy="307238"/>
          </a:xfrm>
          <a:prstGeom prst="rect">
            <a:avLst/>
          </a:prstGeom>
        </p:spPr>
      </p:pic>
      <p:sp>
        <p:nvSpPr>
          <p:cNvPr id="27" name="Text 20"/>
          <p:cNvSpPr/>
          <p:nvPr/>
        </p:nvSpPr>
        <p:spPr>
          <a:xfrm>
            <a:off x="1783080" y="4480560"/>
            <a:ext cx="9509760" cy="365760"/>
          </a:xfrm>
          <a:prstGeom prst="rect">
            <a:avLst/>
          </a:prstGeom>
          <a:noFill/>
          <a:ln/>
        </p:spPr>
        <p:txBody>
          <a:bodyPr wrap="square" lIns="0" tIns="0" rIns="0" bIns="0" rtlCol="0" anchor="ctr"/>
          <a:lstStyle/>
          <a:p>
            <a:pPr indent="0" marL="0">
              <a:buNone/>
            </a:pPr>
            <a:r>
              <a:rPr lang="en-US" sz="1600" b="1" dirty="0">
                <a:solidFill>
                  <a:srgbClr val="16263B"/>
                </a:solidFill>
                <a:latin typeface="Arial" pitchFamily="34" charset="0"/>
                <a:ea typeface="Arial" pitchFamily="34" charset="-122"/>
                <a:cs typeface="Arial" pitchFamily="34" charset="-120"/>
              </a:rPr>
              <a:t>Practice data: the “Apostles” dataset</a:t>
            </a:r>
            <a:endParaRPr lang="en-US" sz="1600" dirty="0"/>
          </a:p>
        </p:txBody>
      </p:sp>
      <p:sp>
        <p:nvSpPr>
          <p:cNvPr id="28" name="Text 21"/>
          <p:cNvSpPr/>
          <p:nvPr/>
        </p:nvSpPr>
        <p:spPr>
          <a:xfrm>
            <a:off x="1783080" y="4864608"/>
            <a:ext cx="9509760" cy="731520"/>
          </a:xfrm>
          <a:prstGeom prst="rect">
            <a:avLst/>
          </a:prstGeom>
          <a:noFill/>
          <a:ln/>
        </p:spPr>
        <p:txBody>
          <a:bodyPr wrap="square" lIns="0" tIns="0" rIns="0" bIns="0" rtlCol="0" anchor="ctr"/>
          <a:lstStyle/>
          <a:p>
            <a:pPr indent="0" marL="0">
              <a:buNone/>
            </a:pPr>
            <a:r>
              <a:rPr lang="en-US" sz="1350" dirty="0">
                <a:solidFill>
                  <a:srgbClr val="5C6B7A"/>
                </a:solidFill>
                <a:latin typeface="Arial" pitchFamily="34" charset="0"/>
                <a:ea typeface="Arial" pitchFamily="34" charset="-122"/>
                <a:cs typeface="Arial" pitchFamily="34" charset="-120"/>
              </a:rPr>
              <a:t>No real company yet — so we built safe stand-in data from Bible figures (the apostles). Same shape as real Slack / Teams / Outlook exports, so the code is ready for the real thing.</a:t>
            </a:r>
            <a:endParaRPr lang="en-US" sz="1350" dirty="0"/>
          </a:p>
        </p:txBody>
      </p:sp>
      <p:sp>
        <p:nvSpPr>
          <p:cNvPr id="29" name="Shape 22"/>
          <p:cNvSpPr/>
          <p:nvPr/>
        </p:nvSpPr>
        <p:spPr>
          <a:xfrm>
            <a:off x="10698480" y="274320"/>
            <a:ext cx="1097280" cy="1097280"/>
          </a:xfrm>
          <a:prstGeom prst="roundRect">
            <a:avLst>
              <a:gd name="adj" fmla="val 5833"/>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pic>
        <p:nvPicPr>
          <p:cNvPr id="30" name="Image 5" descr="/home/claude/qr_colab.png"/>
          <p:cNvPicPr>
            <a:picLocks noChangeAspect="1"/>
          </p:cNvPicPr>
          <p:nvPr/>
        </p:nvPicPr>
        <p:blipFill>
          <a:blip r:embed="rId6"/>
          <a:stretch>
            <a:fillRect/>
          </a:stretch>
        </p:blipFill>
        <p:spPr>
          <a:xfrm>
            <a:off x="10808208" y="384048"/>
            <a:ext cx="877824" cy="877824"/>
          </a:xfrm>
          <a:prstGeom prst="rect">
            <a:avLst/>
          </a:prstGeom>
        </p:spPr>
      </p:pic>
      <p:sp>
        <p:nvSpPr>
          <p:cNvPr id="31" name="Text 23"/>
          <p:cNvSpPr/>
          <p:nvPr/>
        </p:nvSpPr>
        <p:spPr>
          <a:xfrm>
            <a:off x="10424160" y="1399032"/>
            <a:ext cx="1645920" cy="201168"/>
          </a:xfrm>
          <a:prstGeom prst="rect">
            <a:avLst/>
          </a:prstGeom>
          <a:noFill/>
          <a:ln/>
        </p:spPr>
        <p:txBody>
          <a:bodyPr wrap="square" lIns="0" tIns="0" rIns="0" bIns="0" rtlCol="0" anchor="ctr"/>
          <a:lstStyle/>
          <a:p>
            <a:pPr algn="ctr" indent="0" marL="0">
              <a:buNone/>
            </a:pPr>
            <a:r>
              <a:rPr lang="en-US" sz="850" b="1" dirty="0">
                <a:solidFill>
                  <a:srgbClr val="028090"/>
                </a:solidFill>
                <a:latin typeface="Arial" pitchFamily="34" charset="0"/>
                <a:ea typeface="Arial" pitchFamily="34" charset="-122"/>
                <a:cs typeface="Arial" pitchFamily="34" charset="-120"/>
              </a:rPr>
              <a:t>Scan · Request a briefing</a:t>
            </a:r>
            <a:endParaRPr lang="en-US" sz="850" dirty="0"/>
          </a:p>
        </p:txBody>
      </p:sp>
      <p:sp>
        <p:nvSpPr>
          <p:cNvPr id="32" name="Text 24"/>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000" dirty="0">
                <a:solidFill>
                  <a:srgbClr val="5C6B7A"/>
                </a:solidFill>
                <a:latin typeface="Arial" pitchFamily="34" charset="0"/>
                <a:ea typeface="Arial" pitchFamily="34" charset="-122"/>
                <a:cs typeface="Arial" pitchFamily="34" charset="-120"/>
              </a:rPr>
              <a:t>06</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AF2F6"/>
        </a:solidFill>
      </p:bgPr>
    </p:bg>
    <p:spTree>
      <p:nvGrpSpPr>
        <p:cNvPr id="1" name=""/>
        <p:cNvGrpSpPr/>
        <p:nvPr/>
      </p:nvGrpSpPr>
      <p:grpSpPr>
        <a:xfrm>
          <a:off x="0" y="0"/>
          <a:ext cx="0" cy="0"/>
          <a:chOff x="0" y="0"/>
          <a:chExt cx="0" cy="0"/>
        </a:xfrm>
      </p:grpSpPr>
      <p:sp>
        <p:nvSpPr>
          <p:cNvPr id="2" name="Text 0"/>
          <p:cNvSpPr/>
          <p:nvPr/>
        </p:nvSpPr>
        <p:spPr>
          <a:xfrm>
            <a:off x="640080" y="502920"/>
            <a:ext cx="10058400" cy="274320"/>
          </a:xfrm>
          <a:prstGeom prst="rect">
            <a:avLst/>
          </a:prstGeom>
          <a:noFill/>
          <a:ln/>
        </p:spPr>
        <p:txBody>
          <a:bodyPr wrap="square" lIns="0" tIns="0" rIns="0" bIns="0" rtlCol="0" anchor="ctr"/>
          <a:lstStyle/>
          <a:p>
            <a:pPr algn="l" indent="0" marL="0">
              <a:buNone/>
            </a:pPr>
            <a:r>
              <a:rPr lang="en-US" sz="1200" b="1" spc="300" kern="0" dirty="0">
                <a:solidFill>
                  <a:srgbClr val="028090"/>
                </a:solidFill>
                <a:latin typeface="Arial" pitchFamily="34" charset="0"/>
                <a:ea typeface="Arial" pitchFamily="34" charset="-122"/>
                <a:cs typeface="Arial" pitchFamily="34" charset="-120"/>
              </a:rPr>
              <a:t>THE DATA · WHAT'S IN IT</a:t>
            </a:r>
            <a:endParaRPr lang="en-US" sz="1200" dirty="0"/>
          </a:p>
        </p:txBody>
      </p:sp>
      <p:sp>
        <p:nvSpPr>
          <p:cNvPr id="3" name="Text 1"/>
          <p:cNvSpPr/>
          <p:nvPr/>
        </p:nvSpPr>
        <p:spPr>
          <a:xfrm>
            <a:off x="640080" y="822960"/>
            <a:ext cx="9601200" cy="1097280"/>
          </a:xfrm>
          <a:prstGeom prst="rect">
            <a:avLst/>
          </a:prstGeom>
          <a:noFill/>
          <a:ln/>
        </p:spPr>
        <p:txBody>
          <a:bodyPr wrap="square" lIns="0" tIns="0" rIns="0" bIns="0" rtlCol="0" anchor="t"/>
          <a:lstStyle/>
          <a:p>
            <a:pPr algn="l" indent="0" marL="0">
              <a:buNone/>
            </a:pPr>
            <a:r>
              <a:rPr lang="en-US" sz="2900" b="1" dirty="0">
                <a:solidFill>
                  <a:srgbClr val="16263B"/>
                </a:solidFill>
                <a:latin typeface="Georgia" pitchFamily="34" charset="0"/>
                <a:ea typeface="Georgia" pitchFamily="34" charset="-122"/>
                <a:cs typeface="Georgia" pitchFamily="34" charset="-120"/>
              </a:rPr>
              <a:t>Each row is one interaction — counts, not words</a:t>
            </a:r>
            <a:endParaRPr lang="en-US" sz="29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0080" y="1965960"/>
          <a:ext cx="7406640" cy="914400"/>
        </p:xfrm>
        <a:graphic>
          <a:graphicData uri="http://schemas.openxmlformats.org/drawingml/2006/table">
            <a:tbl>
              <a:tblPr/>
              <a:tblGrid>
                <a:gridCol w="1051560"/>
                <a:gridCol w="1051560"/>
                <a:gridCol w="1097280"/>
                <a:gridCol w="1691640"/>
                <a:gridCol w="777240"/>
                <a:gridCol w="868680"/>
                <a:gridCol w="868680"/>
              </a:tblGrid>
              <a:tr h="457200">
                <a:tc>
                  <a:txBody>
                    <a:bodyPr/>
                    <a:lstStyle/>
                    <a:p>
                      <a:pPr algn="ctr" indent="0" marL="0">
                        <a:buNone/>
                      </a:pPr>
                      <a:r>
                        <a:rPr lang="en-US" sz="1200" b="1" dirty="0">
                          <a:solidFill>
                            <a:srgbClr val="FFFFFF"/>
                          </a:solidFill>
                        </a:rPr>
                        <a:t>Source</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11243F"/>
                    </a:solidFill>
                  </a:tcPr>
                </a:tc>
                <a:tc>
                  <a:txBody>
                    <a:bodyPr/>
                    <a:lstStyle/>
                    <a:p>
                      <a:pPr algn="ctr" indent="0" marL="0">
                        <a:buNone/>
                      </a:pPr>
                      <a:r>
                        <a:rPr lang="en-US" sz="1200" b="1" dirty="0">
                          <a:solidFill>
                            <a:srgbClr val="FFFFFF"/>
                          </a:solidFill>
                        </a:rPr>
                        <a:t>Type</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11243F"/>
                    </a:solidFill>
                  </a:tcPr>
                </a:tc>
                <a:tc>
                  <a:txBody>
                    <a:bodyPr/>
                    <a:lstStyle/>
                    <a:p>
                      <a:pPr algn="ctr" indent="0" marL="0">
                        <a:buNone/>
                      </a:pPr>
                      <a:r>
                        <a:rPr lang="en-US" sz="1200" b="1" dirty="0">
                          <a:solidFill>
                            <a:srgbClr val="FFFFFF"/>
                          </a:solidFill>
                        </a:rPr>
                        <a:t>Who</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11243F"/>
                    </a:solidFill>
                  </a:tcPr>
                </a:tc>
                <a:tc>
                  <a:txBody>
                    <a:bodyPr/>
                    <a:lstStyle/>
                    <a:p>
                      <a:pPr algn="ctr" indent="0" marL="0">
                        <a:buNone/>
                      </a:pPr>
                      <a:r>
                        <a:rPr lang="en-US" sz="1200" b="1" dirty="0">
                          <a:solidFill>
                            <a:srgbClr val="FFFFFF"/>
                          </a:solidFill>
                        </a:rPr>
                        <a:t>Channel</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11243F"/>
                    </a:solidFill>
                  </a:tcPr>
                </a:tc>
                <a:tc>
                  <a:txBody>
                    <a:bodyPr/>
                    <a:lstStyle/>
                    <a:p>
                      <a:pPr algn="ctr" indent="0" marL="0">
                        <a:buNone/>
                      </a:pPr>
                      <a:r>
                        <a:rPr lang="en-US" sz="1200" b="1" dirty="0">
                          <a:solidFill>
                            <a:srgbClr val="FFFFFF"/>
                          </a:solidFill>
                        </a:rPr>
                        <a:t>Min</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11243F"/>
                    </a:solidFill>
                  </a:tcPr>
                </a:tc>
                <a:tc>
                  <a:txBody>
                    <a:bodyPr/>
                    <a:lstStyle/>
                    <a:p>
                      <a:pPr algn="ctr" indent="0" marL="0">
                        <a:buNone/>
                      </a:pPr>
                      <a:r>
                        <a:rPr lang="en-US" sz="1200" b="1" dirty="0">
                          <a:solidFill>
                            <a:srgbClr val="FFFFFF"/>
                          </a:solidFill>
                        </a:rPr>
                        <a:t>People</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11243F"/>
                    </a:solidFill>
                  </a:tcPr>
                </a:tc>
                <a:tc>
                  <a:txBody>
                    <a:bodyPr/>
                    <a:lstStyle/>
                    <a:p>
                      <a:pPr algn="ctr" indent="0" marL="0">
                        <a:buNone/>
                      </a:pPr>
                      <a:r>
                        <a:rPr lang="en-US" sz="1200" b="1" dirty="0">
                          <a:solidFill>
                            <a:srgbClr val="FFFFFF"/>
                          </a:solidFill>
                        </a:rPr>
                        <a:t>Score</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11243F"/>
                    </a:solidFill>
                  </a:tcPr>
                </a:tc>
              </a:tr>
              <a:tr h="457200">
                <a:tc>
                  <a:txBody>
                    <a:bodyPr/>
                    <a:lstStyle/>
                    <a:p>
                      <a:pPr algn="ctr" indent="0" marL="0">
                        <a:buNone/>
                      </a:pPr>
                      <a:r>
                        <a:rPr lang="en-US" sz="1200" dirty="0">
                          <a:solidFill>
                            <a:srgbClr val="16263B"/>
                          </a:solidFill>
                        </a:rPr>
                        <a:t>Teams</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6263B"/>
                          </a:solidFill>
                        </a:rPr>
                        <a:t>meeting</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6263B"/>
                          </a:solidFill>
                        </a:rPr>
                        <a:t>Peter</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6263B"/>
                          </a:solidFill>
                        </a:rPr>
                        <a:t>council</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6263B"/>
                          </a:solidFill>
                        </a:rPr>
                        <a:t>60</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6263B"/>
                          </a:solidFill>
                        </a:rPr>
                        <a:t>12</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28090"/>
                          </a:solidFill>
                        </a:rPr>
                        <a:t>30.9</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FFFFF"/>
                    </a:solidFill>
                  </a:tcPr>
                </a:tc>
              </a:tr>
              <a:tr h="457200">
                <a:tc>
                  <a:txBody>
                    <a:bodyPr/>
                    <a:lstStyle/>
                    <a:p>
                      <a:pPr algn="ctr" indent="0" marL="0">
                        <a:buNone/>
                      </a:pPr>
                      <a:r>
                        <a:rPr lang="en-US" sz="1200" dirty="0">
                          <a:solidFill>
                            <a:srgbClr val="16263B"/>
                          </a:solidFill>
                        </a:rPr>
                        <a:t>Slack</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4F9FB"/>
                    </a:solidFill>
                  </a:tcPr>
                </a:tc>
                <a:tc>
                  <a:txBody>
                    <a:bodyPr/>
                    <a:lstStyle/>
                    <a:p>
                      <a:pPr algn="ctr" indent="0" marL="0">
                        <a:buNone/>
                      </a:pPr>
                      <a:r>
                        <a:rPr lang="en-US" sz="1200" dirty="0">
                          <a:solidFill>
                            <a:srgbClr val="16263B"/>
                          </a:solidFill>
                        </a:rPr>
                        <a:t>chat</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4F9FB"/>
                    </a:solidFill>
                  </a:tcPr>
                </a:tc>
                <a:tc>
                  <a:txBody>
                    <a:bodyPr/>
                    <a:lstStyle/>
                    <a:p>
                      <a:pPr algn="ctr" indent="0" marL="0">
                        <a:buNone/>
                      </a:pPr>
                      <a:r>
                        <a:rPr lang="en-US" sz="1200" dirty="0">
                          <a:solidFill>
                            <a:srgbClr val="16263B"/>
                          </a:solidFill>
                        </a:rPr>
                        <a:t>Paul</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4F9FB"/>
                    </a:solidFill>
                  </a:tcPr>
                </a:tc>
                <a:tc>
                  <a:txBody>
                    <a:bodyPr/>
                    <a:lstStyle/>
                    <a:p>
                      <a:pPr algn="l" indent="0" marL="0">
                        <a:buNone/>
                      </a:pPr>
                      <a:r>
                        <a:rPr lang="en-US" sz="1200" dirty="0">
                          <a:solidFill>
                            <a:srgbClr val="16263B"/>
                          </a:solidFill>
                        </a:rPr>
                        <a:t>epistles</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4F9FB"/>
                    </a:solidFill>
                  </a:tcPr>
                </a:tc>
                <a:tc>
                  <a:txBody>
                    <a:bodyPr/>
                    <a:lstStyle/>
                    <a:p>
                      <a:pPr algn="ctr" indent="0" marL="0">
                        <a:buNone/>
                      </a:pPr>
                      <a:r>
                        <a:rPr lang="en-US" sz="1200" dirty="0">
                          <a:solidFill>
                            <a:srgbClr val="16263B"/>
                          </a:solidFill>
                        </a:rPr>
                        <a:t>0</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4F9FB"/>
                    </a:solidFill>
                  </a:tcPr>
                </a:tc>
                <a:tc>
                  <a:txBody>
                    <a:bodyPr/>
                    <a:lstStyle/>
                    <a:p>
                      <a:pPr algn="ctr" indent="0" marL="0">
                        <a:buNone/>
                      </a:pPr>
                      <a:r>
                        <a:rPr lang="en-US" sz="1200" dirty="0">
                          <a:solidFill>
                            <a:srgbClr val="16263B"/>
                          </a:solidFill>
                        </a:rPr>
                        <a:t>2</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4F9FB"/>
                    </a:solidFill>
                  </a:tcPr>
                </a:tc>
                <a:tc>
                  <a:txBody>
                    <a:bodyPr/>
                    <a:lstStyle/>
                    <a:p>
                      <a:pPr algn="ctr" indent="0" marL="0">
                        <a:buNone/>
                      </a:pPr>
                      <a:r>
                        <a:rPr lang="en-US" sz="1200" dirty="0">
                          <a:solidFill>
                            <a:srgbClr val="028090"/>
                          </a:solidFill>
                        </a:rPr>
                        <a:t>11.0</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4F9FB"/>
                    </a:solidFill>
                  </a:tcPr>
                </a:tc>
              </a:tr>
              <a:tr h="457200">
                <a:tc>
                  <a:txBody>
                    <a:bodyPr/>
                    <a:lstStyle/>
                    <a:p>
                      <a:pPr algn="ctr" indent="0" marL="0">
                        <a:buNone/>
                      </a:pPr>
                      <a:r>
                        <a:rPr lang="en-US" sz="1200" dirty="0">
                          <a:solidFill>
                            <a:srgbClr val="16263B"/>
                          </a:solidFill>
                        </a:rPr>
                        <a:t>Outlook</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6263B"/>
                          </a:solidFill>
                        </a:rPr>
                        <a:t>meeting</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6263B"/>
                          </a:solidFill>
                        </a:rPr>
                        <a:t>James</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6263B"/>
                          </a:solidFill>
                        </a:rPr>
                        <a:t>assembly</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6263B"/>
                          </a:solidFill>
                        </a:rPr>
                        <a:t>90</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6263B"/>
                          </a:solidFill>
                        </a:rPr>
                        <a:t>8</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28090"/>
                          </a:solidFill>
                        </a:rPr>
                        <a:t>30.5</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FFFFF"/>
                    </a:solidFill>
                  </a:tcPr>
                </a:tc>
              </a:tr>
              <a:tr h="457200">
                <a:tc>
                  <a:txBody>
                    <a:bodyPr/>
                    <a:lstStyle/>
                    <a:p>
                      <a:pPr algn="ctr" indent="0" marL="0">
                        <a:buNone/>
                      </a:pPr>
                      <a:r>
                        <a:rPr lang="en-US" sz="1200" dirty="0">
                          <a:solidFill>
                            <a:srgbClr val="16263B"/>
                          </a:solidFill>
                        </a:rPr>
                        <a:t>Slack</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4F9FB"/>
                    </a:solidFill>
                  </a:tcPr>
                </a:tc>
                <a:tc>
                  <a:txBody>
                    <a:bodyPr/>
                    <a:lstStyle/>
                    <a:p>
                      <a:pPr algn="ctr" indent="0" marL="0">
                        <a:buNone/>
                      </a:pPr>
                      <a:r>
                        <a:rPr lang="en-US" sz="1200" dirty="0">
                          <a:solidFill>
                            <a:srgbClr val="16263B"/>
                          </a:solidFill>
                        </a:rPr>
                        <a:t>chat</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4F9FB"/>
                    </a:solidFill>
                  </a:tcPr>
                </a:tc>
                <a:tc>
                  <a:txBody>
                    <a:bodyPr/>
                    <a:lstStyle/>
                    <a:p>
                      <a:pPr algn="ctr" indent="0" marL="0">
                        <a:buNone/>
                      </a:pPr>
                      <a:r>
                        <a:rPr lang="en-US" sz="1200" dirty="0">
                          <a:solidFill>
                            <a:srgbClr val="16263B"/>
                          </a:solidFill>
                        </a:rPr>
                        <a:t>John</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4F9FB"/>
                    </a:solidFill>
                  </a:tcPr>
                </a:tc>
                <a:tc>
                  <a:txBody>
                    <a:bodyPr/>
                    <a:lstStyle/>
                    <a:p>
                      <a:pPr algn="l" indent="0" marL="0">
                        <a:buNone/>
                      </a:pPr>
                      <a:r>
                        <a:rPr lang="en-US" sz="1200" dirty="0">
                          <a:solidFill>
                            <a:srgbClr val="16263B"/>
                          </a:solidFill>
                        </a:rPr>
                        <a:t>acts</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4F9FB"/>
                    </a:solidFill>
                  </a:tcPr>
                </a:tc>
                <a:tc>
                  <a:txBody>
                    <a:bodyPr/>
                    <a:lstStyle/>
                    <a:p>
                      <a:pPr algn="ctr" indent="0" marL="0">
                        <a:buNone/>
                      </a:pPr>
                      <a:r>
                        <a:rPr lang="en-US" sz="1200" dirty="0">
                          <a:solidFill>
                            <a:srgbClr val="16263B"/>
                          </a:solidFill>
                        </a:rPr>
                        <a:t>0</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4F9FB"/>
                    </a:solidFill>
                  </a:tcPr>
                </a:tc>
                <a:tc>
                  <a:txBody>
                    <a:bodyPr/>
                    <a:lstStyle/>
                    <a:p>
                      <a:pPr algn="ctr" indent="0" marL="0">
                        <a:buNone/>
                      </a:pPr>
                      <a:r>
                        <a:rPr lang="en-US" sz="1200" dirty="0">
                          <a:solidFill>
                            <a:srgbClr val="16263B"/>
                          </a:solidFill>
                        </a:rPr>
                        <a:t>4</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4F9FB"/>
                    </a:solidFill>
                  </a:tcPr>
                </a:tc>
                <a:tc>
                  <a:txBody>
                    <a:bodyPr/>
                    <a:lstStyle/>
                    <a:p>
                      <a:pPr algn="ctr" indent="0" marL="0">
                        <a:buNone/>
                      </a:pPr>
                      <a:r>
                        <a:rPr lang="en-US" sz="1200" dirty="0">
                          <a:solidFill>
                            <a:srgbClr val="028090"/>
                          </a:solidFill>
                        </a:rPr>
                        <a:t>12.5</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4F9FB"/>
                    </a:solidFill>
                  </a:tcPr>
                </a:tc>
              </a:tr>
            </a:tbl>
          </a:graphicData>
        </a:graphic>
      </p:graphicFrame>
      <p:sp>
        <p:nvSpPr>
          <p:cNvPr id="5" name="Text 2"/>
          <p:cNvSpPr/>
          <p:nvPr/>
        </p:nvSpPr>
        <p:spPr>
          <a:xfrm>
            <a:off x="640080" y="4434840"/>
            <a:ext cx="7406640" cy="457200"/>
          </a:xfrm>
          <a:prstGeom prst="rect">
            <a:avLst/>
          </a:prstGeom>
          <a:noFill/>
          <a:ln/>
        </p:spPr>
        <p:txBody>
          <a:bodyPr wrap="square" lIns="0" tIns="0" rIns="0" bIns="0" rtlCol="0" anchor="ctr"/>
          <a:lstStyle/>
          <a:p>
            <a:pPr indent="0" marL="0">
              <a:buNone/>
            </a:pPr>
            <a:r>
              <a:rPr lang="en-US" sz="1150" i="1" dirty="0">
                <a:solidFill>
                  <a:srgbClr val="5C6B7A"/>
                </a:solidFill>
                <a:latin typeface="Arial" pitchFamily="34" charset="0"/>
                <a:ea typeface="Arial" pitchFamily="34" charset="-122"/>
                <a:cs typeface="Arial" pitchFamily="34" charset="-120"/>
              </a:rPr>
              <a:t>Sample rows from the combined table. Names/channels are labels in the data — never message content.</a:t>
            </a:r>
            <a:endParaRPr lang="en-US" sz="1150" dirty="0"/>
          </a:p>
        </p:txBody>
      </p:sp>
      <p:sp>
        <p:nvSpPr>
          <p:cNvPr id="6" name="Shape 3"/>
          <p:cNvSpPr/>
          <p:nvPr/>
        </p:nvSpPr>
        <p:spPr>
          <a:xfrm>
            <a:off x="8229600" y="1965960"/>
            <a:ext cx="3291840" cy="2331720"/>
          </a:xfrm>
          <a:prstGeom prst="roundRect">
            <a:avLst>
              <a:gd name="adj" fmla="val 3529"/>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7" name="Shape 4"/>
          <p:cNvSpPr/>
          <p:nvPr/>
        </p:nvSpPr>
        <p:spPr>
          <a:xfrm>
            <a:off x="8458200" y="2194560"/>
            <a:ext cx="502920" cy="502920"/>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8" name="Image 0" descr="preencoded.png"/>
          <p:cNvPicPr>
            <a:picLocks noChangeAspect="1"/>
          </p:cNvPicPr>
          <p:nvPr/>
        </p:nvPicPr>
        <p:blipFill>
          <a:blip r:embed="rId1"/>
          <a:stretch>
            <a:fillRect/>
          </a:stretch>
        </p:blipFill>
        <p:spPr>
          <a:xfrm>
            <a:off x="8588959" y="2325319"/>
            <a:ext cx="241402" cy="241402"/>
          </a:xfrm>
          <a:prstGeom prst="rect">
            <a:avLst/>
          </a:prstGeom>
        </p:spPr>
      </p:pic>
      <p:sp>
        <p:nvSpPr>
          <p:cNvPr id="9" name="Text 5"/>
          <p:cNvSpPr/>
          <p:nvPr/>
        </p:nvSpPr>
        <p:spPr>
          <a:xfrm>
            <a:off x="9098280" y="2249424"/>
            <a:ext cx="2286000" cy="320040"/>
          </a:xfrm>
          <a:prstGeom prst="rect">
            <a:avLst/>
          </a:prstGeom>
          <a:noFill/>
          <a:ln/>
        </p:spPr>
        <p:txBody>
          <a:bodyPr wrap="square" lIns="0" tIns="0" rIns="0" bIns="0" rtlCol="0" anchor="ctr"/>
          <a:lstStyle/>
          <a:p>
            <a:pPr indent="0" marL="0">
              <a:buNone/>
            </a:pPr>
            <a:r>
              <a:rPr lang="en-US" sz="1400" b="1" dirty="0">
                <a:solidFill>
                  <a:srgbClr val="16263B"/>
                </a:solidFill>
                <a:latin typeface="Arial" pitchFamily="34" charset="0"/>
                <a:ea typeface="Arial" pitchFamily="34" charset="-122"/>
                <a:cs typeface="Arial" pitchFamily="34" charset="-120"/>
              </a:rPr>
              <a:t>What we keep</a:t>
            </a:r>
            <a:endParaRPr lang="en-US" sz="1400" dirty="0"/>
          </a:p>
        </p:txBody>
      </p:sp>
      <p:sp>
        <p:nvSpPr>
          <p:cNvPr id="10" name="Text 6"/>
          <p:cNvSpPr/>
          <p:nvPr/>
        </p:nvSpPr>
        <p:spPr>
          <a:xfrm>
            <a:off x="8503920" y="2788920"/>
            <a:ext cx="2834640" cy="274320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6263B"/>
                </a:solidFill>
                <a:latin typeface="Arial" pitchFamily="34" charset="0"/>
                <a:ea typeface="Arial" pitchFamily="34" charset="-122"/>
                <a:cs typeface="Arial" pitchFamily="34" charset="-120"/>
              </a:rPr>
              <a:t>Who &amp; where</a:t>
            </a:r>
            <a:endParaRPr lang="en-US" sz="1300" dirty="0"/>
          </a:p>
          <a:p>
            <a:pPr marL="177800" indent="-177800">
              <a:spcAft>
                <a:spcPts val="800"/>
              </a:spcAft>
              <a:buSzPct val="100000"/>
              <a:buChar char="•"/>
            </a:pPr>
            <a:r>
              <a:rPr lang="en-US" sz="1300" dirty="0">
                <a:solidFill>
                  <a:srgbClr val="16263B"/>
                </a:solidFill>
                <a:latin typeface="Arial" pitchFamily="34" charset="0"/>
                <a:ea typeface="Arial" pitchFamily="34" charset="-122"/>
                <a:cs typeface="Arial" pitchFamily="34" charset="-120"/>
              </a:rPr>
              <a:t>How long</a:t>
            </a:r>
            <a:endParaRPr lang="en-US" sz="1300" dirty="0"/>
          </a:p>
          <a:p>
            <a:pPr marL="177800" indent="-177800">
              <a:spcAft>
                <a:spcPts val="800"/>
              </a:spcAft>
              <a:buSzPct val="100000"/>
              <a:buChar char="•"/>
            </a:pPr>
            <a:r>
              <a:rPr lang="en-US" sz="1300" dirty="0">
                <a:solidFill>
                  <a:srgbClr val="16263B"/>
                </a:solidFill>
                <a:latin typeface="Arial" pitchFamily="34" charset="0"/>
                <a:ea typeface="Arial" pitchFamily="34" charset="-122"/>
                <a:cs typeface="Arial" pitchFamily="34" charset="-120"/>
              </a:rPr>
              <a:t>How many people</a:t>
            </a:r>
            <a:endParaRPr lang="en-US" sz="1300" dirty="0"/>
          </a:p>
          <a:p>
            <a:pPr marL="177800" indent="-177800">
              <a:spcAft>
                <a:spcPts val="800"/>
              </a:spcAft>
              <a:buSzPct val="100000"/>
              <a:buChar char="•"/>
            </a:pPr>
            <a:r>
              <a:rPr lang="en-US" sz="1300" dirty="0">
                <a:solidFill>
                  <a:srgbClr val="16263B"/>
                </a:solidFill>
                <a:latin typeface="Arial" pitchFamily="34" charset="0"/>
                <a:ea typeface="Arial" pitchFamily="34" charset="-122"/>
                <a:cs typeface="Arial" pitchFamily="34" charset="-120"/>
              </a:rPr>
              <a:t>A reply-speed clue</a:t>
            </a:r>
            <a:endParaRPr lang="en-US" sz="1300" dirty="0"/>
          </a:p>
        </p:txBody>
      </p:sp>
      <p:sp>
        <p:nvSpPr>
          <p:cNvPr id="11" name="Shape 7"/>
          <p:cNvSpPr/>
          <p:nvPr/>
        </p:nvSpPr>
        <p:spPr>
          <a:xfrm>
            <a:off x="8229600" y="4526280"/>
            <a:ext cx="1033272" cy="1143000"/>
          </a:xfrm>
          <a:prstGeom prst="roundRect">
            <a:avLst>
              <a:gd name="adj" fmla="val 7965"/>
            </a:avLst>
          </a:prstGeom>
          <a:solidFill>
            <a:srgbClr val="11243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2" name="Text 8"/>
          <p:cNvSpPr/>
          <p:nvPr/>
        </p:nvSpPr>
        <p:spPr>
          <a:xfrm>
            <a:off x="8229600" y="4617720"/>
            <a:ext cx="1033272" cy="548640"/>
          </a:xfrm>
          <a:prstGeom prst="rect">
            <a:avLst/>
          </a:prstGeom>
          <a:noFill/>
          <a:ln/>
        </p:spPr>
        <p:txBody>
          <a:bodyPr wrap="square" lIns="0" tIns="0" rIns="0" bIns="0" rtlCol="0" anchor="ctr"/>
          <a:lstStyle/>
          <a:p>
            <a:pPr algn="ctr" indent="0" marL="0">
              <a:buNone/>
            </a:pPr>
            <a:r>
              <a:rPr lang="en-US" sz="1900" b="1" dirty="0">
                <a:solidFill>
                  <a:srgbClr val="FFFFFF"/>
                </a:solidFill>
                <a:latin typeface="Georgia" pitchFamily="34" charset="0"/>
                <a:ea typeface="Georgia" pitchFamily="34" charset="-122"/>
                <a:cs typeface="Georgia" pitchFamily="34" charset="-120"/>
              </a:rPr>
              <a:t>1,250</a:t>
            </a:r>
            <a:endParaRPr lang="en-US" sz="2600" dirty="0"/>
          </a:p>
        </p:txBody>
      </p:sp>
      <p:sp>
        <p:nvSpPr>
          <p:cNvPr id="13" name="Text 9"/>
          <p:cNvSpPr/>
          <p:nvPr/>
        </p:nvSpPr>
        <p:spPr>
          <a:xfrm>
            <a:off x="8229600" y="5193792"/>
            <a:ext cx="1033272" cy="365760"/>
          </a:xfrm>
          <a:prstGeom prst="rect">
            <a:avLst/>
          </a:prstGeom>
          <a:noFill/>
          <a:ln/>
        </p:spPr>
        <p:txBody>
          <a:bodyPr wrap="square" lIns="0" tIns="0" rIns="0" bIns="0" rtlCol="0" anchor="ctr"/>
          <a:lstStyle/>
          <a:p>
            <a:pPr algn="ctr" indent="0" marL="0">
              <a:buNone/>
            </a:pPr>
            <a:r>
              <a:rPr lang="en-US" sz="1050" dirty="0">
                <a:solidFill>
                  <a:srgbClr val="C7D6E5"/>
                </a:solidFill>
                <a:latin typeface="Arial" pitchFamily="34" charset="0"/>
                <a:ea typeface="Arial" pitchFamily="34" charset="-122"/>
                <a:cs typeface="Arial" pitchFamily="34" charset="-120"/>
              </a:rPr>
              <a:t>events</a:t>
            </a:r>
            <a:endParaRPr lang="en-US" sz="1050" dirty="0"/>
          </a:p>
        </p:txBody>
      </p:sp>
      <p:sp>
        <p:nvSpPr>
          <p:cNvPr id="14" name="Shape 10"/>
          <p:cNvSpPr/>
          <p:nvPr/>
        </p:nvSpPr>
        <p:spPr>
          <a:xfrm>
            <a:off x="9358884" y="4526280"/>
            <a:ext cx="1033272" cy="1143000"/>
          </a:xfrm>
          <a:prstGeom prst="roundRect">
            <a:avLst>
              <a:gd name="adj" fmla="val 7965"/>
            </a:avLst>
          </a:prstGeom>
          <a:solidFill>
            <a:srgbClr val="11243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5" name="Text 11"/>
          <p:cNvSpPr/>
          <p:nvPr/>
        </p:nvSpPr>
        <p:spPr>
          <a:xfrm>
            <a:off x="9358884" y="4617720"/>
            <a:ext cx="1033272" cy="548640"/>
          </a:xfrm>
          <a:prstGeom prst="rect">
            <a:avLst/>
          </a:prstGeom>
          <a:noFill/>
          <a:ln/>
        </p:spPr>
        <p:txBody>
          <a:bodyPr wrap="square" lIns="0" tIns="0" rIns="0" bIns="0" rtlCol="0" anchor="ctr"/>
          <a:lstStyle/>
          <a:p>
            <a:pPr algn="ctr" indent="0" marL="0">
              <a:buNone/>
            </a:pPr>
            <a:r>
              <a:rPr lang="en-US" sz="2600" b="1" dirty="0">
                <a:solidFill>
                  <a:srgbClr val="FFFFFF"/>
                </a:solidFill>
                <a:latin typeface="Georgia" pitchFamily="34" charset="0"/>
                <a:ea typeface="Georgia" pitchFamily="34" charset="-122"/>
                <a:cs typeface="Georgia" pitchFamily="34" charset="-120"/>
              </a:rPr>
              <a:t>3</a:t>
            </a:r>
            <a:endParaRPr lang="en-US" sz="2600" dirty="0"/>
          </a:p>
        </p:txBody>
      </p:sp>
      <p:sp>
        <p:nvSpPr>
          <p:cNvPr id="16" name="Text 12"/>
          <p:cNvSpPr/>
          <p:nvPr/>
        </p:nvSpPr>
        <p:spPr>
          <a:xfrm>
            <a:off x="9358884" y="5193792"/>
            <a:ext cx="1033272" cy="365760"/>
          </a:xfrm>
          <a:prstGeom prst="rect">
            <a:avLst/>
          </a:prstGeom>
          <a:noFill/>
          <a:ln/>
        </p:spPr>
        <p:txBody>
          <a:bodyPr wrap="square" lIns="0" tIns="0" rIns="0" bIns="0" rtlCol="0" anchor="ctr"/>
          <a:lstStyle/>
          <a:p>
            <a:pPr algn="ctr" indent="0" marL="0">
              <a:buNone/>
            </a:pPr>
            <a:r>
              <a:rPr lang="en-US" sz="1050" dirty="0">
                <a:solidFill>
                  <a:srgbClr val="C7D6E5"/>
                </a:solidFill>
                <a:latin typeface="Arial" pitchFamily="34" charset="0"/>
                <a:ea typeface="Arial" pitchFamily="34" charset="-122"/>
                <a:cs typeface="Arial" pitchFamily="34" charset="-120"/>
              </a:rPr>
              <a:t>sources</a:t>
            </a:r>
            <a:endParaRPr lang="en-US" sz="1050" dirty="0"/>
          </a:p>
        </p:txBody>
      </p:sp>
      <p:sp>
        <p:nvSpPr>
          <p:cNvPr id="17" name="Shape 13"/>
          <p:cNvSpPr/>
          <p:nvPr/>
        </p:nvSpPr>
        <p:spPr>
          <a:xfrm>
            <a:off x="10488168" y="4526280"/>
            <a:ext cx="1033272" cy="1143000"/>
          </a:xfrm>
          <a:prstGeom prst="roundRect">
            <a:avLst>
              <a:gd name="adj" fmla="val 7965"/>
            </a:avLst>
          </a:prstGeom>
          <a:solidFill>
            <a:srgbClr val="11243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8" name="Text 14"/>
          <p:cNvSpPr/>
          <p:nvPr/>
        </p:nvSpPr>
        <p:spPr>
          <a:xfrm>
            <a:off x="10488168" y="4617720"/>
            <a:ext cx="1033272" cy="548640"/>
          </a:xfrm>
          <a:prstGeom prst="rect">
            <a:avLst/>
          </a:prstGeom>
          <a:noFill/>
          <a:ln/>
        </p:spPr>
        <p:txBody>
          <a:bodyPr wrap="square" lIns="0" tIns="0" rIns="0" bIns="0" rtlCol="0" anchor="ctr"/>
          <a:lstStyle/>
          <a:p>
            <a:pPr algn="ctr" indent="0" marL="0">
              <a:buNone/>
            </a:pPr>
            <a:r>
              <a:rPr lang="en-US" sz="2600" b="1" dirty="0">
                <a:solidFill>
                  <a:srgbClr val="FFFFFF"/>
                </a:solidFill>
                <a:latin typeface="Georgia" pitchFamily="34" charset="0"/>
                <a:ea typeface="Georgia" pitchFamily="34" charset="-122"/>
                <a:cs typeface="Georgia" pitchFamily="34" charset="-120"/>
              </a:rPr>
              <a:t>8</a:t>
            </a:r>
            <a:endParaRPr lang="en-US" sz="2600" dirty="0"/>
          </a:p>
        </p:txBody>
      </p:sp>
      <p:sp>
        <p:nvSpPr>
          <p:cNvPr id="19" name="Text 15"/>
          <p:cNvSpPr/>
          <p:nvPr/>
        </p:nvSpPr>
        <p:spPr>
          <a:xfrm>
            <a:off x="10488168" y="5193792"/>
            <a:ext cx="1033272" cy="365760"/>
          </a:xfrm>
          <a:prstGeom prst="rect">
            <a:avLst/>
          </a:prstGeom>
          <a:noFill/>
          <a:ln/>
        </p:spPr>
        <p:txBody>
          <a:bodyPr wrap="square" lIns="0" tIns="0" rIns="0" bIns="0" rtlCol="0" anchor="ctr"/>
          <a:lstStyle/>
          <a:p>
            <a:pPr algn="ctr" indent="0" marL="0">
              <a:buNone/>
            </a:pPr>
            <a:r>
              <a:rPr lang="en-US" sz="1050" dirty="0">
                <a:solidFill>
                  <a:srgbClr val="C7D6E5"/>
                </a:solidFill>
                <a:latin typeface="Arial" pitchFamily="34" charset="0"/>
                <a:ea typeface="Arial" pitchFamily="34" charset="-122"/>
                <a:cs typeface="Arial" pitchFamily="34" charset="-120"/>
              </a:rPr>
              <a:t>fields each</a:t>
            </a:r>
            <a:endParaRPr lang="en-US" sz="1050" dirty="0"/>
          </a:p>
        </p:txBody>
      </p:sp>
      <p:sp>
        <p:nvSpPr>
          <p:cNvPr id="20" name="Shape 16"/>
          <p:cNvSpPr/>
          <p:nvPr/>
        </p:nvSpPr>
        <p:spPr>
          <a:xfrm>
            <a:off x="10698480" y="274320"/>
            <a:ext cx="1097280" cy="1097280"/>
          </a:xfrm>
          <a:prstGeom prst="roundRect">
            <a:avLst>
              <a:gd name="adj" fmla="val 5833"/>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pic>
        <p:nvPicPr>
          <p:cNvPr id="21" name="Image 1" descr="/home/claude/qr_colab.png"/>
          <p:cNvPicPr>
            <a:picLocks noChangeAspect="1"/>
          </p:cNvPicPr>
          <p:nvPr/>
        </p:nvPicPr>
        <p:blipFill>
          <a:blip r:embed="rId2"/>
          <a:stretch>
            <a:fillRect/>
          </a:stretch>
        </p:blipFill>
        <p:spPr>
          <a:xfrm>
            <a:off x="10808208" y="384048"/>
            <a:ext cx="877824" cy="877824"/>
          </a:xfrm>
          <a:prstGeom prst="rect">
            <a:avLst/>
          </a:prstGeom>
        </p:spPr>
      </p:pic>
      <p:sp>
        <p:nvSpPr>
          <p:cNvPr id="22" name="Text 17"/>
          <p:cNvSpPr/>
          <p:nvPr/>
        </p:nvSpPr>
        <p:spPr>
          <a:xfrm>
            <a:off x="10424160" y="1399032"/>
            <a:ext cx="1645920" cy="201168"/>
          </a:xfrm>
          <a:prstGeom prst="rect">
            <a:avLst/>
          </a:prstGeom>
          <a:noFill/>
          <a:ln/>
        </p:spPr>
        <p:txBody>
          <a:bodyPr wrap="square" lIns="0" tIns="0" rIns="0" bIns="0" rtlCol="0" anchor="ctr"/>
          <a:lstStyle/>
          <a:p>
            <a:pPr algn="ctr" indent="0" marL="0">
              <a:buNone/>
            </a:pPr>
            <a:r>
              <a:rPr lang="en-US" sz="850" b="1" dirty="0">
                <a:solidFill>
                  <a:srgbClr val="028090"/>
                </a:solidFill>
                <a:latin typeface="Arial" pitchFamily="34" charset="0"/>
                <a:ea typeface="Arial" pitchFamily="34" charset="-122"/>
                <a:cs typeface="Arial" pitchFamily="34" charset="-120"/>
              </a:rPr>
              <a:t>Scan · Request a briefing</a:t>
            </a:r>
            <a:endParaRPr lang="en-US" sz="850" dirty="0"/>
          </a:p>
        </p:txBody>
      </p:sp>
      <p:sp>
        <p:nvSpPr>
          <p:cNvPr id="23" name="Text 18"/>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000" dirty="0">
                <a:solidFill>
                  <a:srgbClr val="5C6B7A"/>
                </a:solidFill>
                <a:latin typeface="Arial" pitchFamily="34" charset="0"/>
                <a:ea typeface="Arial" pitchFamily="34" charset="-122"/>
                <a:cs typeface="Arial" pitchFamily="34" charset="-120"/>
              </a:rPr>
              <a:t>07</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AF2F6"/>
        </a:solidFill>
      </p:bgPr>
    </p:bg>
    <p:spTree>
      <p:nvGrpSpPr>
        <p:cNvPr id="1" name=""/>
        <p:cNvGrpSpPr/>
        <p:nvPr/>
      </p:nvGrpSpPr>
      <p:grpSpPr>
        <a:xfrm>
          <a:off x="0" y="0"/>
          <a:ext cx="0" cy="0"/>
          <a:chOff x="0" y="0"/>
          <a:chExt cx="0" cy="0"/>
        </a:xfrm>
      </p:grpSpPr>
      <p:sp>
        <p:nvSpPr>
          <p:cNvPr id="2" name="Text 0"/>
          <p:cNvSpPr/>
          <p:nvPr/>
        </p:nvSpPr>
        <p:spPr>
          <a:xfrm>
            <a:off x="640080" y="502920"/>
            <a:ext cx="10058400" cy="274320"/>
          </a:xfrm>
          <a:prstGeom prst="rect">
            <a:avLst/>
          </a:prstGeom>
          <a:noFill/>
          <a:ln/>
        </p:spPr>
        <p:txBody>
          <a:bodyPr wrap="square" lIns="0" tIns="0" rIns="0" bIns="0" rtlCol="0" anchor="ctr"/>
          <a:lstStyle/>
          <a:p>
            <a:pPr algn="l" indent="0" marL="0">
              <a:buNone/>
            </a:pPr>
            <a:r>
              <a:rPr lang="en-US" sz="1200" b="1" spc="300" kern="0" dirty="0">
                <a:solidFill>
                  <a:srgbClr val="028090"/>
                </a:solidFill>
                <a:latin typeface="Arial" pitchFamily="34" charset="0"/>
                <a:ea typeface="Arial" pitchFamily="34" charset="-122"/>
                <a:cs typeface="Arial" pitchFamily="34" charset="-120"/>
              </a:rPr>
              <a:t>THE DATA · HOW WE SCORE IT</a:t>
            </a:r>
            <a:endParaRPr lang="en-US" sz="1200" dirty="0"/>
          </a:p>
        </p:txBody>
      </p:sp>
      <p:sp>
        <p:nvSpPr>
          <p:cNvPr id="3" name="Text 1"/>
          <p:cNvSpPr/>
          <p:nvPr/>
        </p:nvSpPr>
        <p:spPr>
          <a:xfrm>
            <a:off x="640080" y="822960"/>
            <a:ext cx="9601200" cy="1097280"/>
          </a:xfrm>
          <a:prstGeom prst="rect">
            <a:avLst/>
          </a:prstGeom>
          <a:noFill/>
          <a:ln/>
        </p:spPr>
        <p:txBody>
          <a:bodyPr wrap="square" lIns="0" tIns="0" rIns="0" bIns="0" rtlCol="0" anchor="t"/>
          <a:lstStyle/>
          <a:p>
            <a:pPr algn="l" indent="0" marL="0">
              <a:buNone/>
            </a:pPr>
            <a:r>
              <a:rPr lang="en-US" sz="2900" b="1" dirty="0">
                <a:solidFill>
                  <a:srgbClr val="16263B"/>
                </a:solidFill>
                <a:latin typeface="Georgia" pitchFamily="34" charset="0"/>
                <a:ea typeface="Georgia" pitchFamily="34" charset="-122"/>
                <a:cs typeface="Georgia" pitchFamily="34" charset="-120"/>
              </a:rPr>
              <a:t>Give every interaction a score</a:t>
            </a:r>
            <a:endParaRPr lang="en-US" sz="2900" dirty="0"/>
          </a:p>
        </p:txBody>
      </p:sp>
      <p:sp>
        <p:nvSpPr>
          <p:cNvPr id="4" name="Text 2"/>
          <p:cNvSpPr/>
          <p:nvPr/>
        </p:nvSpPr>
        <p:spPr>
          <a:xfrm>
            <a:off x="640080" y="1645920"/>
            <a:ext cx="10881360" cy="457200"/>
          </a:xfrm>
          <a:prstGeom prst="rect">
            <a:avLst/>
          </a:prstGeom>
          <a:noFill/>
          <a:ln/>
        </p:spPr>
        <p:txBody>
          <a:bodyPr wrap="square" lIns="0" tIns="0" rIns="0" bIns="0" rtlCol="0" anchor="ctr"/>
          <a:lstStyle/>
          <a:p>
            <a:pPr indent="0" marL="0">
              <a:buNone/>
            </a:pPr>
            <a:r>
              <a:rPr lang="en-US" sz="1500" dirty="0">
                <a:solidFill>
                  <a:srgbClr val="5C6B7A"/>
                </a:solidFill>
                <a:latin typeface="Arial" pitchFamily="34" charset="0"/>
                <a:ea typeface="Arial" pitchFamily="34" charset="-122"/>
                <a:cs typeface="Arial" pitchFamily="34" charset="-120"/>
              </a:rPr>
              <a:t>Bigger score = more engagement. Meetings count more than emails; longer and more people count more.</a:t>
            </a:r>
            <a:endParaRPr lang="en-US" sz="1500" dirty="0"/>
          </a:p>
        </p:txBody>
      </p:sp>
      <p:graphicFrame>
        <p:nvGraphicFramePr>
          <p:cNvPr id="5" name="Chart 0" descr=""/>
          <p:cNvGraphicFramePr/>
          <p:nvPr/>
        </p:nvGraphicFramePr>
        <p:xfrm>
          <a:off x="502920" y="2240280"/>
          <a:ext cx="6035040" cy="356616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6858000" y="2240280"/>
            <a:ext cx="4663440" cy="1600200"/>
          </a:xfrm>
          <a:prstGeom prst="roundRect">
            <a:avLst>
              <a:gd name="adj" fmla="val 5143"/>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7" name="Shape 4"/>
          <p:cNvSpPr/>
          <p:nvPr/>
        </p:nvSpPr>
        <p:spPr>
          <a:xfrm>
            <a:off x="7086600" y="2514600"/>
            <a:ext cx="502920" cy="502920"/>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8" name="Image 0" descr="preencoded.png"/>
          <p:cNvPicPr>
            <a:picLocks noChangeAspect="1"/>
          </p:cNvPicPr>
          <p:nvPr/>
        </p:nvPicPr>
        <p:blipFill>
          <a:blip r:embed="rId2"/>
          <a:stretch>
            <a:fillRect/>
          </a:stretch>
        </p:blipFill>
        <p:spPr>
          <a:xfrm>
            <a:off x="7217359" y="2645359"/>
            <a:ext cx="241402" cy="241402"/>
          </a:xfrm>
          <a:prstGeom prst="rect">
            <a:avLst/>
          </a:prstGeom>
        </p:spPr>
      </p:pic>
      <p:sp>
        <p:nvSpPr>
          <p:cNvPr id="9" name="Text 5"/>
          <p:cNvSpPr/>
          <p:nvPr/>
        </p:nvSpPr>
        <p:spPr>
          <a:xfrm>
            <a:off x="7772400" y="2560320"/>
            <a:ext cx="3566160" cy="320040"/>
          </a:xfrm>
          <a:prstGeom prst="rect">
            <a:avLst/>
          </a:prstGeom>
          <a:noFill/>
          <a:ln/>
        </p:spPr>
        <p:txBody>
          <a:bodyPr wrap="square" lIns="0" tIns="0" rIns="0" bIns="0" rtlCol="0" anchor="ctr"/>
          <a:lstStyle/>
          <a:p>
            <a:pPr indent="0" marL="0">
              <a:buNone/>
            </a:pPr>
            <a:r>
              <a:rPr lang="en-US" sz="1500" b="1" dirty="0">
                <a:solidFill>
                  <a:srgbClr val="16263B"/>
                </a:solidFill>
                <a:latin typeface="Arial" pitchFamily="34" charset="0"/>
                <a:ea typeface="Arial" pitchFamily="34" charset="-122"/>
                <a:cs typeface="Arial" pitchFamily="34" charset="-120"/>
              </a:rPr>
              <a:t>Score one event</a:t>
            </a:r>
            <a:endParaRPr lang="en-US" sz="1500" dirty="0"/>
          </a:p>
        </p:txBody>
      </p:sp>
      <p:sp>
        <p:nvSpPr>
          <p:cNvPr id="10" name="Text 6"/>
          <p:cNvSpPr/>
          <p:nvPr/>
        </p:nvSpPr>
        <p:spPr>
          <a:xfrm>
            <a:off x="7772400" y="2926080"/>
            <a:ext cx="3566160" cy="274320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16263B"/>
                </a:solidFill>
                <a:latin typeface="Arial" pitchFamily="34" charset="0"/>
                <a:ea typeface="Arial" pitchFamily="34" charset="-122"/>
                <a:cs typeface="Arial" pitchFamily="34" charset="-120"/>
              </a:rPr>
              <a:t>Start: type of interaction</a:t>
            </a:r>
            <a:endParaRPr lang="en-US" sz="1300" dirty="0"/>
          </a:p>
          <a:p>
            <a:pPr marL="177800" indent="-177800">
              <a:spcAft>
                <a:spcPts val="500"/>
              </a:spcAft>
              <a:buSzPct val="100000"/>
              <a:buChar char="•"/>
            </a:pPr>
            <a:r>
              <a:rPr lang="en-US" sz="1300" dirty="0">
                <a:solidFill>
                  <a:srgbClr val="16263B"/>
                </a:solidFill>
                <a:latin typeface="Arial" pitchFamily="34" charset="0"/>
                <a:ea typeface="Arial" pitchFamily="34" charset="-122"/>
                <a:cs typeface="Arial" pitchFamily="34" charset="-120"/>
              </a:rPr>
              <a:t>Add: how long it ran</a:t>
            </a:r>
            <a:endParaRPr lang="en-US" sz="1300" dirty="0"/>
          </a:p>
          <a:p>
            <a:pPr marL="177800" indent="-177800">
              <a:spcAft>
                <a:spcPts val="500"/>
              </a:spcAft>
              <a:buSzPct val="100000"/>
              <a:buChar char="•"/>
            </a:pPr>
            <a:r>
              <a:rPr lang="en-US" sz="1300" dirty="0">
                <a:solidFill>
                  <a:srgbClr val="16263B"/>
                </a:solidFill>
                <a:latin typeface="Arial" pitchFamily="34" charset="0"/>
                <a:ea typeface="Arial" pitchFamily="34" charset="-122"/>
                <a:cs typeface="Arial" pitchFamily="34" charset="-120"/>
              </a:rPr>
              <a:t>Add: how many people</a:t>
            </a:r>
            <a:endParaRPr lang="en-US" sz="1300" dirty="0"/>
          </a:p>
        </p:txBody>
      </p:sp>
      <p:sp>
        <p:nvSpPr>
          <p:cNvPr id="11" name="Shape 7"/>
          <p:cNvSpPr/>
          <p:nvPr/>
        </p:nvSpPr>
        <p:spPr>
          <a:xfrm>
            <a:off x="6858000" y="4069080"/>
            <a:ext cx="4663440" cy="1737360"/>
          </a:xfrm>
          <a:prstGeom prst="roundRect">
            <a:avLst>
              <a:gd name="adj" fmla="val 4737"/>
            </a:avLst>
          </a:prstGeom>
          <a:solidFill>
            <a:srgbClr val="F4F9FB"/>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2" name="Shape 8"/>
          <p:cNvSpPr/>
          <p:nvPr/>
        </p:nvSpPr>
        <p:spPr>
          <a:xfrm>
            <a:off x="7086600" y="4315968"/>
            <a:ext cx="502920" cy="502920"/>
          </a:xfrm>
          <a:prstGeom prst="ellipse">
            <a:avLst/>
          </a:prstGeom>
          <a:solidFill>
            <a:srgbClr val="00A896"/>
          </a:solidFill>
          <a:ln/>
          <a:effectLst>
            <a:outerShdw sx="100000" sy="100000" kx="0" ky="0" algn="bl" rotWithShape="0" blurRad="114300" dist="38100" dir="5400000">
              <a:srgbClr val="0A1A2E">
                <a:alpha val="16000"/>
              </a:srgbClr>
            </a:outerShdw>
          </a:effectLst>
        </p:spPr>
      </p:sp>
      <p:pic>
        <p:nvPicPr>
          <p:cNvPr id="13" name="Image 1" descr="preencoded.png"/>
          <p:cNvPicPr>
            <a:picLocks noChangeAspect="1"/>
          </p:cNvPicPr>
          <p:nvPr/>
        </p:nvPicPr>
        <p:blipFill>
          <a:blip r:embed="rId3"/>
          <a:stretch>
            <a:fillRect/>
          </a:stretch>
        </p:blipFill>
        <p:spPr>
          <a:xfrm>
            <a:off x="7217359" y="4446727"/>
            <a:ext cx="241402" cy="241402"/>
          </a:xfrm>
          <a:prstGeom prst="rect">
            <a:avLst/>
          </a:prstGeom>
        </p:spPr>
      </p:pic>
      <p:sp>
        <p:nvSpPr>
          <p:cNvPr id="14" name="Text 9"/>
          <p:cNvSpPr/>
          <p:nvPr/>
        </p:nvSpPr>
        <p:spPr>
          <a:xfrm>
            <a:off x="7772400" y="4361688"/>
            <a:ext cx="3566160" cy="320040"/>
          </a:xfrm>
          <a:prstGeom prst="rect">
            <a:avLst/>
          </a:prstGeom>
          <a:noFill/>
          <a:ln/>
        </p:spPr>
        <p:txBody>
          <a:bodyPr wrap="square" lIns="0" tIns="0" rIns="0" bIns="0" rtlCol="0" anchor="ctr"/>
          <a:lstStyle/>
          <a:p>
            <a:pPr indent="0" marL="0">
              <a:buNone/>
            </a:pPr>
            <a:r>
              <a:rPr lang="en-US" sz="1500" b="1" dirty="0">
                <a:solidFill>
                  <a:srgbClr val="16263B"/>
                </a:solidFill>
                <a:latin typeface="Arial" pitchFamily="34" charset="0"/>
                <a:ea typeface="Arial" pitchFamily="34" charset="-122"/>
                <a:cs typeface="Arial" pitchFamily="34" charset="-120"/>
              </a:rPr>
              <a:t>Add up each day</a:t>
            </a:r>
            <a:endParaRPr lang="en-US" sz="1500" dirty="0"/>
          </a:p>
        </p:txBody>
      </p:sp>
      <p:sp>
        <p:nvSpPr>
          <p:cNvPr id="15" name="Text 10"/>
          <p:cNvSpPr/>
          <p:nvPr/>
        </p:nvSpPr>
        <p:spPr>
          <a:xfrm>
            <a:off x="7772400" y="4709160"/>
            <a:ext cx="3566160" cy="274320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16263B"/>
                </a:solidFill>
                <a:latin typeface="Arial" pitchFamily="34" charset="0"/>
                <a:ea typeface="Arial" pitchFamily="34" charset="-122"/>
                <a:cs typeface="Arial" pitchFamily="34" charset="-120"/>
              </a:rPr>
              <a:t>Total score &amp; # of events</a:t>
            </a:r>
            <a:endParaRPr lang="en-US" sz="1300" dirty="0"/>
          </a:p>
          <a:p>
            <a:pPr marL="177800" indent="-177800">
              <a:spcAft>
                <a:spcPts val="500"/>
              </a:spcAft>
              <a:buSzPct val="100000"/>
              <a:buChar char="•"/>
            </a:pPr>
            <a:r>
              <a:rPr lang="en-US" sz="1300" dirty="0">
                <a:solidFill>
                  <a:srgbClr val="16263B"/>
                </a:solidFill>
                <a:latin typeface="Arial" pitchFamily="34" charset="0"/>
                <a:ea typeface="Arial" pitchFamily="34" charset="-122"/>
                <a:cs typeface="Arial" pitchFamily="34" charset="-120"/>
              </a:rPr>
              <a:t>Avg people &amp; length</a:t>
            </a:r>
            <a:endParaRPr lang="en-US" sz="1300" dirty="0"/>
          </a:p>
          <a:p>
            <a:pPr marL="177800" indent="-177800">
              <a:spcAft>
                <a:spcPts val="500"/>
              </a:spcAft>
              <a:buSzPct val="100000"/>
              <a:buChar char="•"/>
            </a:pPr>
            <a:r>
              <a:rPr lang="en-US" sz="1300" dirty="0">
                <a:solidFill>
                  <a:srgbClr val="16263B"/>
                </a:solidFill>
                <a:latin typeface="Arial" pitchFamily="34" charset="0"/>
                <a:ea typeface="Arial" pitchFamily="34" charset="-122"/>
                <a:cs typeface="Arial" pitchFamily="34" charset="-120"/>
              </a:rPr>
              <a:t>How much was written</a:t>
            </a:r>
            <a:endParaRPr lang="en-US" sz="1300" dirty="0"/>
          </a:p>
        </p:txBody>
      </p:sp>
      <p:sp>
        <p:nvSpPr>
          <p:cNvPr id="16" name="Shape 11"/>
          <p:cNvSpPr/>
          <p:nvPr/>
        </p:nvSpPr>
        <p:spPr>
          <a:xfrm>
            <a:off x="10698480" y="274320"/>
            <a:ext cx="1097280" cy="1097280"/>
          </a:xfrm>
          <a:prstGeom prst="roundRect">
            <a:avLst>
              <a:gd name="adj" fmla="val 5833"/>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pic>
        <p:nvPicPr>
          <p:cNvPr id="17" name="Image 2" descr="/home/claude/qr_colab.png"/>
          <p:cNvPicPr>
            <a:picLocks noChangeAspect="1"/>
          </p:cNvPicPr>
          <p:nvPr/>
        </p:nvPicPr>
        <p:blipFill>
          <a:blip r:embed="rId4"/>
          <a:stretch>
            <a:fillRect/>
          </a:stretch>
        </p:blipFill>
        <p:spPr>
          <a:xfrm>
            <a:off x="10808208" y="384048"/>
            <a:ext cx="877824" cy="877824"/>
          </a:xfrm>
          <a:prstGeom prst="rect">
            <a:avLst/>
          </a:prstGeom>
        </p:spPr>
      </p:pic>
      <p:sp>
        <p:nvSpPr>
          <p:cNvPr id="18" name="Text 12"/>
          <p:cNvSpPr/>
          <p:nvPr/>
        </p:nvSpPr>
        <p:spPr>
          <a:xfrm>
            <a:off x="10424160" y="1399032"/>
            <a:ext cx="1645920" cy="201168"/>
          </a:xfrm>
          <a:prstGeom prst="rect">
            <a:avLst/>
          </a:prstGeom>
          <a:noFill/>
          <a:ln/>
        </p:spPr>
        <p:txBody>
          <a:bodyPr wrap="square" lIns="0" tIns="0" rIns="0" bIns="0" rtlCol="0" anchor="ctr"/>
          <a:lstStyle/>
          <a:p>
            <a:pPr algn="ctr" indent="0" marL="0">
              <a:buNone/>
            </a:pPr>
            <a:r>
              <a:rPr lang="en-US" sz="850" b="1" dirty="0">
                <a:solidFill>
                  <a:srgbClr val="028090"/>
                </a:solidFill>
                <a:latin typeface="Arial" pitchFamily="34" charset="0"/>
                <a:ea typeface="Arial" pitchFamily="34" charset="-122"/>
                <a:cs typeface="Arial" pitchFamily="34" charset="-120"/>
              </a:rPr>
              <a:t>Scan · Request a briefing</a:t>
            </a:r>
            <a:endParaRPr lang="en-US" sz="850" dirty="0"/>
          </a:p>
        </p:txBody>
      </p:sp>
      <p:sp>
        <p:nvSpPr>
          <p:cNvPr id="19" name="Text 13"/>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000" dirty="0">
                <a:solidFill>
                  <a:srgbClr val="5C6B7A"/>
                </a:solidFill>
                <a:latin typeface="Arial" pitchFamily="34" charset="0"/>
                <a:ea typeface="Arial" pitchFamily="34" charset="-122"/>
                <a:cs typeface="Arial" pitchFamily="34" charset="-120"/>
              </a:rPr>
              <a:t>08</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AF2F6"/>
        </a:solidFill>
      </p:bgPr>
    </p:bg>
    <p:spTree>
      <p:nvGrpSpPr>
        <p:cNvPr id="1" name=""/>
        <p:cNvGrpSpPr/>
        <p:nvPr/>
      </p:nvGrpSpPr>
      <p:grpSpPr>
        <a:xfrm>
          <a:off x="0" y="0"/>
          <a:ext cx="0" cy="0"/>
          <a:chOff x="0" y="0"/>
          <a:chExt cx="0" cy="0"/>
        </a:xfrm>
      </p:grpSpPr>
      <p:sp>
        <p:nvSpPr>
          <p:cNvPr id="2" name="Text 0"/>
          <p:cNvSpPr/>
          <p:nvPr/>
        </p:nvSpPr>
        <p:spPr>
          <a:xfrm>
            <a:off x="640080" y="502920"/>
            <a:ext cx="10058400" cy="274320"/>
          </a:xfrm>
          <a:prstGeom prst="rect">
            <a:avLst/>
          </a:prstGeom>
          <a:noFill/>
          <a:ln/>
        </p:spPr>
        <p:txBody>
          <a:bodyPr wrap="square" lIns="0" tIns="0" rIns="0" bIns="0" rtlCol="0" anchor="ctr"/>
          <a:lstStyle/>
          <a:p>
            <a:pPr algn="l" indent="0" marL="0">
              <a:buNone/>
            </a:pPr>
            <a:r>
              <a:rPr lang="en-US" sz="1200" b="1" spc="300" kern="0" dirty="0">
                <a:solidFill>
                  <a:srgbClr val="028090"/>
                </a:solidFill>
                <a:latin typeface="Arial" pitchFamily="34" charset="0"/>
                <a:ea typeface="Arial" pitchFamily="34" charset="-122"/>
                <a:cs typeface="Arial" pitchFamily="34" charset="-120"/>
              </a:rPr>
              <a:t>UNDER THE HOOD · THE CODE</a:t>
            </a:r>
            <a:endParaRPr lang="en-US" sz="1200" dirty="0"/>
          </a:p>
        </p:txBody>
      </p:sp>
      <p:sp>
        <p:nvSpPr>
          <p:cNvPr id="3" name="Text 1"/>
          <p:cNvSpPr/>
          <p:nvPr/>
        </p:nvSpPr>
        <p:spPr>
          <a:xfrm>
            <a:off x="640080" y="822960"/>
            <a:ext cx="9601200" cy="1097280"/>
          </a:xfrm>
          <a:prstGeom prst="rect">
            <a:avLst/>
          </a:prstGeom>
          <a:noFill/>
          <a:ln/>
        </p:spPr>
        <p:txBody>
          <a:bodyPr wrap="square" lIns="0" tIns="0" rIns="0" bIns="0" rtlCol="0" anchor="t"/>
          <a:lstStyle/>
          <a:p>
            <a:pPr algn="l" indent="0" marL="0">
              <a:buNone/>
            </a:pPr>
            <a:r>
              <a:rPr lang="en-US" sz="2900" b="1" dirty="0">
                <a:solidFill>
                  <a:srgbClr val="16263B"/>
                </a:solidFill>
                <a:latin typeface="Georgia" pitchFamily="34" charset="0"/>
                <a:ea typeface="Georgia" pitchFamily="34" charset="-122"/>
                <a:cs typeface="Georgia" pitchFamily="34" charset="-120"/>
              </a:rPr>
              <a:t>From rule to score, in real code</a:t>
            </a:r>
            <a:endParaRPr lang="en-US" sz="2900" dirty="0"/>
          </a:p>
        </p:txBody>
      </p:sp>
      <p:sp>
        <p:nvSpPr>
          <p:cNvPr id="4" name="Shape 2"/>
          <p:cNvSpPr/>
          <p:nvPr/>
        </p:nvSpPr>
        <p:spPr>
          <a:xfrm>
            <a:off x="640080" y="1874520"/>
            <a:ext cx="5486400" cy="3931920"/>
          </a:xfrm>
          <a:prstGeom prst="roundRect">
            <a:avLst>
              <a:gd name="adj" fmla="val 1628"/>
            </a:avLst>
          </a:prstGeom>
          <a:solidFill>
            <a:srgbClr val="11243F"/>
          </a:solidFill>
          <a:ln w="12700">
            <a:solidFill>
              <a:srgbClr val="1B3358"/>
            </a:solidFill>
            <a:prstDash val="solid"/>
          </a:ln>
          <a:effectLst>
            <a:outerShdw sx="100000" sy="100000" kx="0" ky="0" algn="bl" rotWithShape="0" blurRad="114300" dist="38100" dir="5400000">
              <a:srgbClr val="0A1A2E">
                <a:alpha val="16000"/>
              </a:srgbClr>
            </a:outerShdw>
          </a:effectLst>
        </p:spPr>
      </p:sp>
      <p:sp>
        <p:nvSpPr>
          <p:cNvPr id="5" name="Shape 3"/>
          <p:cNvSpPr/>
          <p:nvPr/>
        </p:nvSpPr>
        <p:spPr>
          <a:xfrm>
            <a:off x="841248" y="2057400"/>
            <a:ext cx="100584" cy="100584"/>
          </a:xfrm>
          <a:prstGeom prst="ellipse">
            <a:avLst/>
          </a:prstGeom>
          <a:solidFill>
            <a:srgbClr val="F96167"/>
          </a:solidFill>
          <a:ln/>
        </p:spPr>
      </p:sp>
      <p:sp>
        <p:nvSpPr>
          <p:cNvPr id="6" name="Shape 4"/>
          <p:cNvSpPr/>
          <p:nvPr/>
        </p:nvSpPr>
        <p:spPr>
          <a:xfrm>
            <a:off x="1024128" y="2057400"/>
            <a:ext cx="100584" cy="100584"/>
          </a:xfrm>
          <a:prstGeom prst="ellipse">
            <a:avLst/>
          </a:prstGeom>
          <a:solidFill>
            <a:srgbClr val="F9E795"/>
          </a:solidFill>
          <a:ln/>
        </p:spPr>
      </p:sp>
      <p:sp>
        <p:nvSpPr>
          <p:cNvPr id="7" name="Shape 5"/>
          <p:cNvSpPr/>
          <p:nvPr/>
        </p:nvSpPr>
        <p:spPr>
          <a:xfrm>
            <a:off x="1207008" y="2057400"/>
            <a:ext cx="100584" cy="100584"/>
          </a:xfrm>
          <a:prstGeom prst="ellipse">
            <a:avLst/>
          </a:prstGeom>
          <a:solidFill>
            <a:srgbClr val="00A896"/>
          </a:solidFill>
          <a:ln/>
        </p:spPr>
      </p:sp>
      <p:sp>
        <p:nvSpPr>
          <p:cNvPr id="8" name="Text 6"/>
          <p:cNvSpPr/>
          <p:nvPr/>
        </p:nvSpPr>
        <p:spPr>
          <a:xfrm>
            <a:off x="1508760" y="1984248"/>
            <a:ext cx="4480560" cy="237744"/>
          </a:xfrm>
          <a:prstGeom prst="rect">
            <a:avLst/>
          </a:prstGeom>
          <a:noFill/>
          <a:ln/>
        </p:spPr>
        <p:txBody>
          <a:bodyPr wrap="square" lIns="0" tIns="0" rIns="0" bIns="0" rtlCol="0" anchor="ctr"/>
          <a:lstStyle/>
          <a:p>
            <a:pPr indent="0" marL="0">
              <a:buNone/>
            </a:pPr>
            <a:r>
              <a:rPr lang="en-US" sz="1000" dirty="0">
                <a:solidFill>
                  <a:srgbClr val="9DB2C7"/>
                </a:solidFill>
                <a:latin typeface="Courier New" pitchFamily="34" charset="0"/>
                <a:ea typeface="Courier New" pitchFamily="34" charset="-122"/>
                <a:cs typeface="Courier New" pitchFamily="34" charset="-120"/>
              </a:rPr>
              <a:t>otq_scoring.py</a:t>
            </a:r>
            <a:endParaRPr lang="en-US" sz="1000" dirty="0"/>
          </a:p>
        </p:txBody>
      </p:sp>
      <p:sp>
        <p:nvSpPr>
          <p:cNvPr id="9" name="Text 7"/>
          <p:cNvSpPr/>
          <p:nvPr/>
        </p:nvSpPr>
        <p:spPr>
          <a:xfrm>
            <a:off x="896112" y="2377440"/>
            <a:ext cx="4983480" cy="3291840"/>
          </a:xfrm>
          <a:prstGeom prst="rect">
            <a:avLst/>
          </a:prstGeom>
          <a:noFill/>
          <a:ln/>
        </p:spPr>
        <p:txBody>
          <a:bodyPr wrap="square" lIns="0" tIns="0" rIns="0" bIns="0" rtlCol="0" anchor="t"/>
          <a:lstStyle/>
          <a:p>
            <a:pPr indent="0" marL="0">
              <a:lnSpc>
                <a:spcPct val="106000"/>
              </a:lnSpc>
              <a:buNone/>
            </a:pPr>
            <a:r>
              <a:rPr lang="en-US" sz="1100" dirty="0">
                <a:solidFill>
                  <a:srgbClr val="DCE6EE"/>
                </a:solidFill>
                <a:latin typeface="Courier New" pitchFamily="34" charset="0"/>
                <a:ea typeface="Courier New" pitchFamily="34" charset="-122"/>
                <a:cs typeface="Courier New" pitchFamily="34" charset="-120"/>
              </a:rPr>
              <a:t>def otq_event_units(event_type, duration, people):</a:t>
            </a:r>
            <a:endParaRPr lang="en-US" sz="1100" dirty="0"/>
          </a:p>
          <a:p>
            <a:pPr indent="0" marL="0">
              <a:lnSpc>
                <a:spcPct val="106000"/>
              </a:lnSpc>
              <a:buNone/>
            </a:pPr>
            <a:r>
              <a:rPr lang="en-US" sz="1100" dirty="0">
                <a:solidFill>
                  <a:srgbClr val="DCE6EE"/>
                </a:solidFill>
                <a:latin typeface="Courier New" pitchFamily="34" charset="0"/>
                <a:ea typeface="Courier New" pitchFamily="34" charset="-122"/>
                <a:cs typeface="Courier New" pitchFamily="34" charset="-120"/>
              </a:rPr>
              <a:t xml:space="preserve">    t = event_type.lower()</a:t>
            </a:r>
            <a:endParaRPr lang="en-US" sz="1100" dirty="0"/>
          </a:p>
          <a:p>
            <a:pPr indent="0" marL="0">
              <a:lnSpc>
                <a:spcPct val="106000"/>
              </a:lnSpc>
              <a:buNone/>
            </a:pPr>
            <a:r>
              <a:rPr lang="en-US" sz="1100" dirty="0">
                <a:solidFill>
                  <a:srgbClr val="DCE6EE"/>
                </a:solidFill>
                <a:latin typeface="Courier New" pitchFamily="34" charset="0"/>
                <a:ea typeface="Courier New" pitchFamily="34" charset="-122"/>
                <a:cs typeface="Courier New" pitchFamily="34" charset="-120"/>
              </a:rPr>
              <a:t xml:space="preserve">    if   "meeting" in t: base = 24.5  </a:t>
            </a:r>
            <a:pPr indent="0" marL="0">
              <a:lnSpc>
                <a:spcPct val="106000"/>
              </a:lnSpc>
              <a:buNone/>
            </a:pPr>
            <a:r>
              <a:rPr lang="en-US" sz="1100" dirty="0">
                <a:solidFill>
                  <a:srgbClr val="63E0C2"/>
                </a:solidFill>
                <a:latin typeface="Courier New" pitchFamily="34" charset="0"/>
                <a:ea typeface="Courier New" pitchFamily="34" charset="-122"/>
                <a:cs typeface="Courier New" pitchFamily="34" charset="-120"/>
              </a:rPr>
              <a:t># weighs most</a:t>
            </a:r>
            <a:endParaRPr lang="en-US" sz="1100" dirty="0"/>
          </a:p>
          <a:p>
            <a:pPr indent="0" marL="0">
              <a:lnSpc>
                <a:spcPct val="106000"/>
              </a:lnSpc>
              <a:buNone/>
            </a:pPr>
            <a:r>
              <a:rPr lang="en-US" sz="1100" dirty="0">
                <a:solidFill>
                  <a:srgbClr val="DCE6EE"/>
                </a:solidFill>
                <a:latin typeface="Courier New" pitchFamily="34" charset="0"/>
                <a:ea typeface="Courier New" pitchFamily="34" charset="-122"/>
                <a:cs typeface="Courier New" pitchFamily="34" charset="-120"/>
              </a:rPr>
              <a:t xml:space="preserve">    elif "chat"    in t: base = 9.5</a:t>
            </a:r>
            <a:endParaRPr lang="en-US" sz="1100" dirty="0"/>
          </a:p>
          <a:p>
            <a:pPr indent="0" marL="0">
              <a:lnSpc>
                <a:spcPct val="106000"/>
              </a:lnSpc>
              <a:buNone/>
            </a:pPr>
            <a:r>
              <a:rPr lang="en-US" sz="1100" dirty="0">
                <a:solidFill>
                  <a:srgbClr val="DCE6EE"/>
                </a:solidFill>
                <a:latin typeface="Courier New" pitchFamily="34" charset="0"/>
                <a:ea typeface="Courier New" pitchFamily="34" charset="-122"/>
                <a:cs typeface="Courier New" pitchFamily="34" charset="-120"/>
              </a:rPr>
              <a:t xml:space="preserve">    elif "call"    in t: base = 8.5</a:t>
            </a:r>
            <a:endParaRPr lang="en-US" sz="1100" dirty="0"/>
          </a:p>
          <a:p>
            <a:pPr indent="0" marL="0">
              <a:lnSpc>
                <a:spcPct val="106000"/>
              </a:lnSpc>
              <a:buNone/>
            </a:pPr>
            <a:r>
              <a:rPr lang="en-US" sz="1100" dirty="0">
                <a:solidFill>
                  <a:srgbClr val="DCE6EE"/>
                </a:solidFill>
                <a:latin typeface="Courier New" pitchFamily="34" charset="0"/>
                <a:ea typeface="Courier New" pitchFamily="34" charset="-122"/>
                <a:cs typeface="Courier New" pitchFamily="34" charset="-120"/>
              </a:rPr>
              <a:t xml:space="preserve">    elif "email"   in t: base = 6.0</a:t>
            </a:r>
            <a:endParaRPr lang="en-US" sz="1100" dirty="0"/>
          </a:p>
          <a:p>
            <a:pPr indent="0" marL="0">
              <a:lnSpc>
                <a:spcPct val="106000"/>
              </a:lnSpc>
              <a:buNone/>
            </a:pPr>
            <a:r>
              <a:rPr lang="en-US" sz="1100" dirty="0">
                <a:solidFill>
                  <a:srgbClr val="DCE6EE"/>
                </a:solidFill>
                <a:latin typeface="Courier New" pitchFamily="34" charset="0"/>
                <a:ea typeface="Courier New" pitchFamily="34" charset="-122"/>
                <a:cs typeface="Courier New" pitchFamily="34" charset="-120"/>
              </a:rPr>
              <a:t xml:space="preserve">    else:                base = 5.0</a:t>
            </a:r>
            <a:endParaRPr lang="en-US" sz="1100" dirty="0"/>
          </a:p>
          <a:p>
            <a:pPr indent="0" marL="0">
              <a:lnSpc>
                <a:spcPct val="106000"/>
              </a:lnSpc>
              <a:buNone/>
            </a:pPr>
            <a:r>
              <a:rPr lang="en-US" sz="1100" dirty="0">
                <a:solidFill>
                  <a:srgbClr val="DCE6EE"/>
                </a:solidFill>
                <a:latin typeface="Courier New" pitchFamily="34" charset="0"/>
                <a:ea typeface="Courier New" pitchFamily="34" charset="-122"/>
                <a:cs typeface="Courier New" pitchFamily="34" charset="-120"/>
              </a:rPr>
              <a:t xml:space="preserve">    dur   = min(duration, 120) / 60.0   </a:t>
            </a:r>
            <a:pPr indent="0" marL="0">
              <a:lnSpc>
                <a:spcPct val="106000"/>
              </a:lnSpc>
              <a:buNone/>
            </a:pPr>
            <a:r>
              <a:rPr lang="en-US" sz="1100" dirty="0">
                <a:solidFill>
                  <a:srgbClr val="63E0C2"/>
                </a:solidFill>
                <a:latin typeface="Courier New" pitchFamily="34" charset="0"/>
                <a:ea typeface="Courier New" pitchFamily="34" charset="-122"/>
                <a:cs typeface="Courier New" pitchFamily="34" charset="-120"/>
              </a:rPr>
              <a:t># +0 to 2</a:t>
            </a:r>
            <a:endParaRPr lang="en-US" sz="1100" dirty="0"/>
          </a:p>
          <a:p>
            <a:pPr indent="0" marL="0">
              <a:lnSpc>
                <a:spcPct val="106000"/>
              </a:lnSpc>
              <a:buNone/>
            </a:pPr>
            <a:r>
              <a:rPr lang="en-US" sz="1100" dirty="0">
                <a:solidFill>
                  <a:srgbClr val="DCE6EE"/>
                </a:solidFill>
                <a:latin typeface="Courier New" pitchFamily="34" charset="0"/>
                <a:ea typeface="Courier New" pitchFamily="34" charset="-122"/>
                <a:cs typeface="Courier New" pitchFamily="34" charset="-120"/>
              </a:rPr>
              <a:t xml:space="preserve">    reach = log(max(people,1), 2) * 1.5</a:t>
            </a:r>
            <a:endParaRPr lang="en-US" sz="1100" dirty="0"/>
          </a:p>
          <a:p>
            <a:pPr indent="0" marL="0">
              <a:lnSpc>
                <a:spcPct val="106000"/>
              </a:lnSpc>
              <a:buNone/>
            </a:pPr>
            <a:r>
              <a:rPr lang="en-US" sz="1100" dirty="0">
                <a:solidFill>
                  <a:srgbClr val="DCE6EE"/>
                </a:solidFill>
                <a:latin typeface="Courier New" pitchFamily="34" charset="0"/>
                <a:ea typeface="Courier New" pitchFamily="34" charset="-122"/>
                <a:cs typeface="Courier New" pitchFamily="34" charset="-120"/>
              </a:rPr>
              <a:t xml:space="preserve">    return base + dur + reach</a:t>
            </a:r>
            <a:endParaRPr lang="en-US" sz="1100" dirty="0"/>
          </a:p>
        </p:txBody>
      </p:sp>
      <p:sp>
        <p:nvSpPr>
          <p:cNvPr id="10" name="Shape 8"/>
          <p:cNvSpPr/>
          <p:nvPr/>
        </p:nvSpPr>
        <p:spPr>
          <a:xfrm>
            <a:off x="6263640" y="1874520"/>
            <a:ext cx="5257800" cy="3931920"/>
          </a:xfrm>
          <a:prstGeom prst="roundRect">
            <a:avLst>
              <a:gd name="adj" fmla="val 1628"/>
            </a:avLst>
          </a:prstGeom>
          <a:solidFill>
            <a:srgbClr val="11243F"/>
          </a:solidFill>
          <a:ln w="12700">
            <a:solidFill>
              <a:srgbClr val="1B3358"/>
            </a:solidFill>
            <a:prstDash val="solid"/>
          </a:ln>
          <a:effectLst>
            <a:outerShdw sx="100000" sy="100000" kx="0" ky="0" algn="bl" rotWithShape="0" blurRad="114300" dist="38100" dir="5400000">
              <a:srgbClr val="0A1A2E">
                <a:alpha val="16000"/>
              </a:srgbClr>
            </a:outerShdw>
          </a:effectLst>
        </p:spPr>
      </p:sp>
      <p:sp>
        <p:nvSpPr>
          <p:cNvPr id="11" name="Shape 9"/>
          <p:cNvSpPr/>
          <p:nvPr/>
        </p:nvSpPr>
        <p:spPr>
          <a:xfrm>
            <a:off x="6464808" y="2057400"/>
            <a:ext cx="100584" cy="100584"/>
          </a:xfrm>
          <a:prstGeom prst="ellipse">
            <a:avLst/>
          </a:prstGeom>
          <a:solidFill>
            <a:srgbClr val="F96167"/>
          </a:solidFill>
          <a:ln/>
        </p:spPr>
      </p:sp>
      <p:sp>
        <p:nvSpPr>
          <p:cNvPr id="12" name="Shape 10"/>
          <p:cNvSpPr/>
          <p:nvPr/>
        </p:nvSpPr>
        <p:spPr>
          <a:xfrm>
            <a:off x="6647688" y="2057400"/>
            <a:ext cx="100584" cy="100584"/>
          </a:xfrm>
          <a:prstGeom prst="ellipse">
            <a:avLst/>
          </a:prstGeom>
          <a:solidFill>
            <a:srgbClr val="F9E795"/>
          </a:solidFill>
          <a:ln/>
        </p:spPr>
      </p:sp>
      <p:sp>
        <p:nvSpPr>
          <p:cNvPr id="13" name="Shape 11"/>
          <p:cNvSpPr/>
          <p:nvPr/>
        </p:nvSpPr>
        <p:spPr>
          <a:xfrm>
            <a:off x="6830568" y="2057400"/>
            <a:ext cx="100584" cy="100584"/>
          </a:xfrm>
          <a:prstGeom prst="ellipse">
            <a:avLst/>
          </a:prstGeom>
          <a:solidFill>
            <a:srgbClr val="00A896"/>
          </a:solidFill>
          <a:ln/>
        </p:spPr>
      </p:sp>
      <p:sp>
        <p:nvSpPr>
          <p:cNvPr id="14" name="Text 12"/>
          <p:cNvSpPr/>
          <p:nvPr/>
        </p:nvSpPr>
        <p:spPr>
          <a:xfrm>
            <a:off x="7132320" y="1984248"/>
            <a:ext cx="4251960" cy="237744"/>
          </a:xfrm>
          <a:prstGeom prst="rect">
            <a:avLst/>
          </a:prstGeom>
          <a:noFill/>
          <a:ln/>
        </p:spPr>
        <p:txBody>
          <a:bodyPr wrap="square" lIns="0" tIns="0" rIns="0" bIns="0" rtlCol="0" anchor="ctr"/>
          <a:lstStyle/>
          <a:p>
            <a:pPr indent="0" marL="0">
              <a:buNone/>
            </a:pPr>
            <a:r>
              <a:rPr lang="en-US" sz="1000" dirty="0">
                <a:solidFill>
                  <a:srgbClr val="9DB2C7"/>
                </a:solidFill>
                <a:latin typeface="Courier New" pitchFamily="34" charset="0"/>
                <a:ea typeface="Courier New" pitchFamily="34" charset="-122"/>
                <a:cs typeface="Courier New" pitchFamily="34" charset="-120"/>
              </a:rPr>
              <a:t>fit_model.py</a:t>
            </a:r>
            <a:endParaRPr lang="en-US" sz="1000" dirty="0"/>
          </a:p>
        </p:txBody>
      </p:sp>
      <p:sp>
        <p:nvSpPr>
          <p:cNvPr id="15" name="Text 13"/>
          <p:cNvSpPr/>
          <p:nvPr/>
        </p:nvSpPr>
        <p:spPr>
          <a:xfrm>
            <a:off x="6519672" y="2377440"/>
            <a:ext cx="4754880" cy="3291840"/>
          </a:xfrm>
          <a:prstGeom prst="rect">
            <a:avLst/>
          </a:prstGeom>
          <a:noFill/>
          <a:ln/>
        </p:spPr>
        <p:txBody>
          <a:bodyPr wrap="square" lIns="0" tIns="0" rIns="0" bIns="0" rtlCol="0" anchor="t"/>
          <a:lstStyle/>
          <a:p>
            <a:pPr indent="0" marL="0">
              <a:lnSpc>
                <a:spcPct val="106000"/>
              </a:lnSpc>
              <a:buNone/>
            </a:pPr>
            <a:r>
              <a:rPr lang="en-US" sz="1100" dirty="0">
                <a:solidFill>
                  <a:srgbClr val="DCE6EE"/>
                </a:solidFill>
                <a:latin typeface="Courier New" pitchFamily="34" charset="0"/>
                <a:ea typeface="Courier New" pitchFamily="34" charset="-122"/>
                <a:cs typeface="Courier New" pitchFamily="34" charset="-120"/>
              </a:rPr>
              <a:t>features = ["log_total_eu",</a:t>
            </a:r>
            <a:endParaRPr lang="en-US" sz="1100" dirty="0"/>
          </a:p>
          <a:p>
            <a:pPr indent="0" marL="0">
              <a:lnSpc>
                <a:spcPct val="106000"/>
              </a:lnSpc>
              <a:buNone/>
            </a:pPr>
            <a:r>
              <a:rPr lang="en-US" sz="1100" dirty="0">
                <a:solidFill>
                  <a:srgbClr val="DCE6EE"/>
                </a:solidFill>
                <a:latin typeface="Courier New" pitchFamily="34" charset="0"/>
                <a:ea typeface="Courier New" pitchFamily="34" charset="-122"/>
                <a:cs typeface="Courier New" pitchFamily="34" charset="-120"/>
              </a:rPr>
              <a:t xml:space="preserve">    "log_total_events", "avg_participants",</a:t>
            </a:r>
            <a:endParaRPr lang="en-US" sz="1100" dirty="0"/>
          </a:p>
          <a:p>
            <a:pPr indent="0" marL="0">
              <a:lnSpc>
                <a:spcPct val="106000"/>
              </a:lnSpc>
              <a:buNone/>
            </a:pPr>
            <a:r>
              <a:rPr lang="en-US" sz="1100" dirty="0">
                <a:solidFill>
                  <a:srgbClr val="DCE6EE"/>
                </a:solidFill>
                <a:latin typeface="Courier New" pitchFamily="34" charset="0"/>
                <a:ea typeface="Courier New" pitchFamily="34" charset="-122"/>
                <a:cs typeface="Courier New" pitchFamily="34" charset="-120"/>
              </a:rPr>
              <a:t xml:space="preserve">    "avg_duration", "log_total_text"]</a:t>
            </a:r>
            <a:endParaRPr lang="en-US" sz="1100" dirty="0"/>
          </a:p>
          <a:p>
            <a:pPr indent="0" marL="0">
              <a:lnSpc>
                <a:spcPct val="106000"/>
              </a:lnSpc>
              <a:buNone/>
            </a:pPr>
            <a:r>
              <a:rPr lang="en-US" sz="1100" dirty="0">
                <a:solidFill>
                  <a:srgbClr val="DCE6EE"/>
                </a:solidFill>
                <a:latin typeface="Courier New" pitchFamily="34" charset="0"/>
                <a:ea typeface="Courier New" pitchFamily="34" charset="-122"/>
                <a:cs typeface="Courier New" pitchFamily="34" charset="-120"/>
              </a:rPr>
              <a:t xml:space="preserve"> </a:t>
            </a:r>
            <a:endParaRPr lang="en-US" sz="1100" dirty="0"/>
          </a:p>
          <a:p>
            <a:pPr indent="0" marL="0">
              <a:lnSpc>
                <a:spcPct val="106000"/>
              </a:lnSpc>
              <a:buNone/>
            </a:pPr>
            <a:r>
              <a:rPr lang="en-US" sz="1100" dirty="0">
                <a:solidFill>
                  <a:srgbClr val="63E0C2"/>
                </a:solidFill>
                <a:latin typeface="Courier New" pitchFamily="34" charset="0"/>
                <a:ea typeface="Courier New" pitchFamily="34" charset="-122"/>
                <a:cs typeface="Courier New" pitchFamily="34" charset="-120"/>
              </a:rPr>
              <a:t># alpha tuned by GridSearchCV (5-fold)</a:t>
            </a:r>
            <a:endParaRPr lang="en-US" sz="1100" dirty="0"/>
          </a:p>
          <a:p>
            <a:pPr indent="0" marL="0">
              <a:lnSpc>
                <a:spcPct val="106000"/>
              </a:lnSpc>
              <a:buNone/>
            </a:pPr>
            <a:r>
              <a:rPr lang="en-US" sz="1100" dirty="0">
                <a:solidFill>
                  <a:srgbClr val="DCE6EE"/>
                </a:solidFill>
                <a:latin typeface="Courier New" pitchFamily="34" charset="0"/>
                <a:ea typeface="Courier New" pitchFamily="34" charset="-122"/>
                <a:cs typeface="Courier New" pitchFamily="34" charset="-120"/>
              </a:rPr>
              <a:t>model = Ridge(alpha=best_alpha)</a:t>
            </a:r>
            <a:endParaRPr lang="en-US" sz="1100" dirty="0"/>
          </a:p>
          <a:p>
            <a:pPr indent="0" marL="0">
              <a:lnSpc>
                <a:spcPct val="106000"/>
              </a:lnSpc>
              <a:buNone/>
            </a:pPr>
            <a:r>
              <a:rPr lang="en-US" sz="1100" dirty="0">
                <a:solidFill>
                  <a:srgbClr val="DCE6EE"/>
                </a:solidFill>
                <a:latin typeface="Courier New" pitchFamily="34" charset="0"/>
                <a:ea typeface="Courier New" pitchFamily="34" charset="-122"/>
                <a:cs typeface="Courier New" pitchFamily="34" charset="-120"/>
              </a:rPr>
              <a:t>model.fit(X_train, y_train)</a:t>
            </a:r>
            <a:endParaRPr lang="en-US" sz="1100" dirty="0"/>
          </a:p>
          <a:p>
            <a:pPr indent="0" marL="0">
              <a:lnSpc>
                <a:spcPct val="106000"/>
              </a:lnSpc>
              <a:buNone/>
            </a:pPr>
            <a:r>
              <a:rPr lang="en-US" sz="1100" dirty="0">
                <a:solidFill>
                  <a:srgbClr val="DCE6EE"/>
                </a:solidFill>
                <a:latin typeface="Courier New" pitchFamily="34" charset="0"/>
                <a:ea typeface="Courier New" pitchFamily="34" charset="-122"/>
                <a:cs typeface="Courier New" pitchFamily="34" charset="-120"/>
              </a:rPr>
              <a:t xml:space="preserve"> </a:t>
            </a:r>
            <a:endParaRPr lang="en-US" sz="1100" dirty="0"/>
          </a:p>
          <a:p>
            <a:pPr indent="0" marL="0">
              <a:lnSpc>
                <a:spcPct val="106000"/>
              </a:lnSpc>
              <a:buNone/>
            </a:pPr>
            <a:r>
              <a:rPr lang="en-US" sz="1100" dirty="0">
                <a:solidFill>
                  <a:srgbClr val="DCE6EE"/>
                </a:solidFill>
                <a:latin typeface="Courier New" pitchFamily="34" charset="0"/>
                <a:ea typeface="Courier New" pitchFamily="34" charset="-122"/>
                <a:cs typeface="Courier New" pitchFamily="34" charset="-120"/>
              </a:rPr>
              <a:t>r2 = r2_score(y_test, model.predict(X_test))</a:t>
            </a:r>
            <a:endParaRPr lang="en-US" sz="1100" dirty="0"/>
          </a:p>
          <a:p>
            <a:pPr indent="0" marL="0">
              <a:lnSpc>
                <a:spcPct val="106000"/>
              </a:lnSpc>
              <a:buNone/>
            </a:pPr>
            <a:r>
              <a:rPr lang="en-US" sz="1100" dirty="0">
                <a:solidFill>
                  <a:srgbClr val="63E0C2"/>
                </a:solidFill>
                <a:latin typeface="Courier New" pitchFamily="34" charset="0"/>
                <a:ea typeface="Courier New" pitchFamily="34" charset="-122"/>
                <a:cs typeface="Courier New" pitchFamily="34" charset="-120"/>
              </a:rPr>
              <a:t># negative coef -&gt; more talk, faster reply</a:t>
            </a:r>
            <a:endParaRPr lang="en-US" sz="1100" dirty="0"/>
          </a:p>
        </p:txBody>
      </p:sp>
      <p:sp>
        <p:nvSpPr>
          <p:cNvPr id="16" name="Shape 14"/>
          <p:cNvSpPr/>
          <p:nvPr/>
        </p:nvSpPr>
        <p:spPr>
          <a:xfrm>
            <a:off x="10698480" y="274320"/>
            <a:ext cx="1097280" cy="1097280"/>
          </a:xfrm>
          <a:prstGeom prst="roundRect">
            <a:avLst>
              <a:gd name="adj" fmla="val 5833"/>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pic>
        <p:nvPicPr>
          <p:cNvPr id="17" name="Image 0" descr="/home/claude/qr_colab.png"/>
          <p:cNvPicPr>
            <a:picLocks noChangeAspect="1"/>
          </p:cNvPicPr>
          <p:nvPr/>
        </p:nvPicPr>
        <p:blipFill>
          <a:blip r:embed="rId1"/>
          <a:stretch>
            <a:fillRect/>
          </a:stretch>
        </p:blipFill>
        <p:spPr>
          <a:xfrm>
            <a:off x="10808208" y="384048"/>
            <a:ext cx="877824" cy="877824"/>
          </a:xfrm>
          <a:prstGeom prst="rect">
            <a:avLst/>
          </a:prstGeom>
        </p:spPr>
      </p:pic>
      <p:sp>
        <p:nvSpPr>
          <p:cNvPr id="18" name="Text 15"/>
          <p:cNvSpPr/>
          <p:nvPr/>
        </p:nvSpPr>
        <p:spPr>
          <a:xfrm>
            <a:off x="10424160" y="1399032"/>
            <a:ext cx="1645920" cy="201168"/>
          </a:xfrm>
          <a:prstGeom prst="rect">
            <a:avLst/>
          </a:prstGeom>
          <a:noFill/>
          <a:ln/>
        </p:spPr>
        <p:txBody>
          <a:bodyPr wrap="square" lIns="0" tIns="0" rIns="0" bIns="0" rtlCol="0" anchor="ctr"/>
          <a:lstStyle/>
          <a:p>
            <a:pPr algn="ctr" indent="0" marL="0">
              <a:buNone/>
            </a:pPr>
            <a:r>
              <a:rPr lang="en-US" sz="850" b="1" dirty="0">
                <a:solidFill>
                  <a:srgbClr val="028090"/>
                </a:solidFill>
                <a:latin typeface="Arial" pitchFamily="34" charset="0"/>
                <a:ea typeface="Arial" pitchFamily="34" charset="-122"/>
                <a:cs typeface="Arial" pitchFamily="34" charset="-120"/>
              </a:rPr>
              <a:t>Scan · Request a briefing</a:t>
            </a:r>
            <a:endParaRPr lang="en-US" sz="850" dirty="0"/>
          </a:p>
        </p:txBody>
      </p:sp>
      <p:sp>
        <p:nvSpPr>
          <p:cNvPr id="19" name="Text 16"/>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000" dirty="0">
                <a:solidFill>
                  <a:srgbClr val="5C6B7A"/>
                </a:solidFill>
                <a:latin typeface="Arial" pitchFamily="34" charset="0"/>
                <a:ea typeface="Arial" pitchFamily="34" charset="-122"/>
                <a:cs typeface="Arial" pitchFamily="34" charset="-120"/>
              </a:rPr>
              <a:t>09</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AF2F6"/>
        </a:solidFill>
      </p:bgPr>
    </p:bg>
    <p:spTree>
      <p:nvGrpSpPr>
        <p:cNvPr id="1" name=""/>
        <p:cNvGrpSpPr/>
        <p:nvPr/>
      </p:nvGrpSpPr>
      <p:grpSpPr>
        <a:xfrm>
          <a:off x="0" y="0"/>
          <a:ext cx="0" cy="0"/>
          <a:chOff x="0" y="0"/>
          <a:chExt cx="0" cy="0"/>
        </a:xfrm>
      </p:grpSpPr>
      <p:sp>
        <p:nvSpPr>
          <p:cNvPr id="2" name="Text 0"/>
          <p:cNvSpPr/>
          <p:nvPr/>
        </p:nvSpPr>
        <p:spPr>
          <a:xfrm>
            <a:off x="640080" y="502920"/>
            <a:ext cx="10058400" cy="274320"/>
          </a:xfrm>
          <a:prstGeom prst="rect">
            <a:avLst/>
          </a:prstGeom>
          <a:noFill/>
          <a:ln/>
        </p:spPr>
        <p:txBody>
          <a:bodyPr wrap="square" lIns="0" tIns="0" rIns="0" bIns="0" rtlCol="0" anchor="ctr"/>
          <a:lstStyle/>
          <a:p>
            <a:pPr algn="l" indent="0" marL="0">
              <a:buNone/>
            </a:pPr>
            <a:r>
              <a:rPr lang="en-US" sz="1200" b="1" spc="300" kern="0" dirty="0">
                <a:solidFill>
                  <a:srgbClr val="028090"/>
                </a:solidFill>
                <a:latin typeface="Arial" pitchFamily="34" charset="0"/>
                <a:ea typeface="Arial" pitchFamily="34" charset="-122"/>
                <a:cs typeface="Arial" pitchFamily="34" charset="-120"/>
              </a:rPr>
              <a:t>THE DATA · A FIRST LOOK</a:t>
            </a:r>
            <a:endParaRPr lang="en-US" sz="1200" dirty="0"/>
          </a:p>
        </p:txBody>
      </p:sp>
      <p:sp>
        <p:nvSpPr>
          <p:cNvPr id="3" name="Text 1"/>
          <p:cNvSpPr/>
          <p:nvPr/>
        </p:nvSpPr>
        <p:spPr>
          <a:xfrm>
            <a:off x="640080" y="822960"/>
            <a:ext cx="9601200" cy="1097280"/>
          </a:xfrm>
          <a:prstGeom prst="rect">
            <a:avLst/>
          </a:prstGeom>
          <a:noFill/>
          <a:ln/>
        </p:spPr>
        <p:txBody>
          <a:bodyPr wrap="square" lIns="0" tIns="0" rIns="0" bIns="0" rtlCol="0" anchor="t"/>
          <a:lstStyle/>
          <a:p>
            <a:pPr algn="l" indent="0" marL="0">
              <a:buNone/>
            </a:pPr>
            <a:r>
              <a:rPr lang="en-US" sz="2900" b="1" dirty="0">
                <a:solidFill>
                  <a:srgbClr val="16263B"/>
                </a:solidFill>
                <a:latin typeface="Georgia" pitchFamily="34" charset="0"/>
                <a:ea typeface="Georgia" pitchFamily="34" charset="-122"/>
                <a:cs typeface="Georgia" pitchFamily="34" charset="-120"/>
              </a:rPr>
              <a:t>What the real numbers look like</a:t>
            </a:r>
            <a:endParaRPr lang="en-US" sz="2900" dirty="0"/>
          </a:p>
        </p:txBody>
      </p:sp>
      <p:sp>
        <p:nvSpPr>
          <p:cNvPr id="4" name="Shape 2"/>
          <p:cNvSpPr/>
          <p:nvPr/>
        </p:nvSpPr>
        <p:spPr>
          <a:xfrm>
            <a:off x="1828800" y="1783080"/>
            <a:ext cx="8503920" cy="4343400"/>
          </a:xfrm>
          <a:prstGeom prst="roundRect">
            <a:avLst>
              <a:gd name="adj" fmla="val 1895"/>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pic>
        <p:nvPicPr>
          <p:cNvPr id="5" name="Image 0" descr="/home/claude/nb_eda.png"/>
          <p:cNvPicPr>
            <a:picLocks noChangeAspect="1"/>
          </p:cNvPicPr>
          <p:nvPr/>
        </p:nvPicPr>
        <p:blipFill>
          <a:blip r:embed="rId1"/>
          <a:srcRect l="0" r="0" t="0" b="0"/>
          <a:stretch/>
        </p:blipFill>
        <p:spPr>
          <a:xfrm>
            <a:off x="1975104" y="1929384"/>
            <a:ext cx="8211312" cy="4050792"/>
          </a:xfrm>
          <a:prstGeom prst="rect">
            <a:avLst/>
          </a:prstGeom>
        </p:spPr>
      </p:pic>
      <p:sp>
        <p:nvSpPr>
          <p:cNvPr id="6" name="Text 3"/>
          <p:cNvSpPr/>
          <p:nvPr/>
        </p:nvSpPr>
        <p:spPr>
          <a:xfrm>
            <a:off x="1828800" y="6144768"/>
            <a:ext cx="8503920" cy="274320"/>
          </a:xfrm>
          <a:prstGeom prst="rect">
            <a:avLst/>
          </a:prstGeom>
          <a:noFill/>
          <a:ln/>
        </p:spPr>
        <p:txBody>
          <a:bodyPr wrap="square" lIns="0" tIns="0" rIns="0" bIns="0" rtlCol="0" anchor="ctr"/>
          <a:lstStyle/>
          <a:p>
            <a:pPr algn="ctr" indent="0" marL="0">
              <a:buNone/>
            </a:pPr>
            <a:r>
              <a:rPr lang="en-US" sz="1150" i="1" dirty="0">
                <a:solidFill>
                  <a:srgbClr val="5C6B7A"/>
                </a:solidFill>
                <a:latin typeface="Arial" pitchFamily="34" charset="0"/>
                <a:ea typeface="Arial" pitchFamily="34" charset="-122"/>
                <a:cs typeface="Arial" pitchFamily="34" charset="-120"/>
              </a:rPr>
              <a:t>A first look at the data: most interactions are quick one-to-one exchanges, with larger group meetings making up the tail.</a:t>
            </a:r>
            <a:endParaRPr lang="en-US" sz="1150" dirty="0"/>
          </a:p>
        </p:txBody>
      </p:sp>
      <p:sp>
        <p:nvSpPr>
          <p:cNvPr id="7" name="Shape 4"/>
          <p:cNvSpPr/>
          <p:nvPr/>
        </p:nvSpPr>
        <p:spPr>
          <a:xfrm>
            <a:off x="10698480" y="274320"/>
            <a:ext cx="1097280" cy="1097280"/>
          </a:xfrm>
          <a:prstGeom prst="roundRect">
            <a:avLst>
              <a:gd name="adj" fmla="val 5833"/>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pic>
        <p:nvPicPr>
          <p:cNvPr id="8" name="Image 1" descr="/home/claude/qr_colab.png"/>
          <p:cNvPicPr>
            <a:picLocks noChangeAspect="1"/>
          </p:cNvPicPr>
          <p:nvPr/>
        </p:nvPicPr>
        <p:blipFill>
          <a:blip r:embed="rId2"/>
          <a:stretch>
            <a:fillRect/>
          </a:stretch>
        </p:blipFill>
        <p:spPr>
          <a:xfrm>
            <a:off x="10808208" y="384048"/>
            <a:ext cx="877824" cy="877824"/>
          </a:xfrm>
          <a:prstGeom prst="rect">
            <a:avLst/>
          </a:prstGeom>
        </p:spPr>
      </p:pic>
      <p:sp>
        <p:nvSpPr>
          <p:cNvPr id="9" name="Text 5"/>
          <p:cNvSpPr/>
          <p:nvPr/>
        </p:nvSpPr>
        <p:spPr>
          <a:xfrm>
            <a:off x="10424160" y="1399032"/>
            <a:ext cx="1645920" cy="201168"/>
          </a:xfrm>
          <a:prstGeom prst="rect">
            <a:avLst/>
          </a:prstGeom>
          <a:noFill/>
          <a:ln/>
        </p:spPr>
        <p:txBody>
          <a:bodyPr wrap="square" lIns="0" tIns="0" rIns="0" bIns="0" rtlCol="0" anchor="ctr"/>
          <a:lstStyle/>
          <a:p>
            <a:pPr algn="ctr" indent="0" marL="0">
              <a:buNone/>
            </a:pPr>
            <a:r>
              <a:rPr lang="en-US" sz="850" b="1" dirty="0">
                <a:solidFill>
                  <a:srgbClr val="028090"/>
                </a:solidFill>
                <a:latin typeface="Arial" pitchFamily="34" charset="0"/>
                <a:ea typeface="Arial" pitchFamily="34" charset="-122"/>
                <a:cs typeface="Arial" pitchFamily="34" charset="-120"/>
              </a:rPr>
              <a:t>Scan · Request a briefing</a:t>
            </a:r>
            <a:endParaRPr lang="en-US" sz="850" dirty="0"/>
          </a:p>
        </p:txBody>
      </p:sp>
      <p:sp>
        <p:nvSpPr>
          <p:cNvPr id="10" name="Text 6"/>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000" dirty="0">
                <a:solidFill>
                  <a:srgbClr val="5C6B7A"/>
                </a:solidFill>
                <a:latin typeface="Arial" pitchFamily="34" charset="0"/>
                <a:ea typeface="Arial" pitchFamily="34" charset="-122"/>
                <a:cs typeface="Arial" pitchFamily="34" charset="-120"/>
              </a:rPr>
              <a:t>10</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AF2F6"/>
        </a:solidFill>
      </p:bgPr>
    </p:bg>
    <p:spTree>
      <p:nvGrpSpPr>
        <p:cNvPr id="1" name=""/>
        <p:cNvGrpSpPr/>
        <p:nvPr/>
      </p:nvGrpSpPr>
      <p:grpSpPr>
        <a:xfrm>
          <a:off x="0" y="0"/>
          <a:ext cx="0" cy="0"/>
          <a:chOff x="0" y="0"/>
          <a:chExt cx="0" cy="0"/>
        </a:xfrm>
      </p:grpSpPr>
      <p:sp>
        <p:nvSpPr>
          <p:cNvPr id="2" name="Text 0"/>
          <p:cNvSpPr/>
          <p:nvPr/>
        </p:nvSpPr>
        <p:spPr>
          <a:xfrm>
            <a:off x="640080" y="502920"/>
            <a:ext cx="10058400" cy="274320"/>
          </a:xfrm>
          <a:prstGeom prst="rect">
            <a:avLst/>
          </a:prstGeom>
          <a:noFill/>
          <a:ln/>
        </p:spPr>
        <p:txBody>
          <a:bodyPr wrap="square" lIns="0" tIns="0" rIns="0" bIns="0" rtlCol="0" anchor="ctr"/>
          <a:lstStyle/>
          <a:p>
            <a:pPr algn="l" indent="0" marL="0">
              <a:buNone/>
            </a:pPr>
            <a:r>
              <a:rPr lang="en-US" sz="1200" b="1" spc="300" kern="0" dirty="0">
                <a:solidFill>
                  <a:srgbClr val="028090"/>
                </a:solidFill>
                <a:latin typeface="Arial" pitchFamily="34" charset="0"/>
                <a:ea typeface="Arial" pitchFamily="34" charset="-122"/>
                <a:cs typeface="Arial" pitchFamily="34" charset="-120"/>
              </a:rPr>
              <a:t>THE MODEL</a:t>
            </a:r>
            <a:endParaRPr lang="en-US" sz="1200" dirty="0"/>
          </a:p>
        </p:txBody>
      </p:sp>
      <p:sp>
        <p:nvSpPr>
          <p:cNvPr id="3" name="Text 1"/>
          <p:cNvSpPr/>
          <p:nvPr/>
        </p:nvSpPr>
        <p:spPr>
          <a:xfrm>
            <a:off x="640080" y="822960"/>
            <a:ext cx="9601200" cy="1097280"/>
          </a:xfrm>
          <a:prstGeom prst="rect">
            <a:avLst/>
          </a:prstGeom>
          <a:noFill/>
          <a:ln/>
        </p:spPr>
        <p:txBody>
          <a:bodyPr wrap="square" lIns="0" tIns="0" rIns="0" bIns="0" rtlCol="0" anchor="t"/>
          <a:lstStyle/>
          <a:p>
            <a:pPr algn="l" indent="0" marL="0">
              <a:buNone/>
            </a:pPr>
            <a:r>
              <a:rPr lang="en-US" sz="2900" b="1" dirty="0">
                <a:solidFill>
                  <a:srgbClr val="16263B"/>
                </a:solidFill>
                <a:latin typeface="Georgia" pitchFamily="34" charset="0"/>
                <a:ea typeface="Georgia" pitchFamily="34" charset="-122"/>
                <a:cs typeface="Georgia" pitchFamily="34" charset="-120"/>
              </a:rPr>
              <a:t>A steady model that connects the dots</a:t>
            </a:r>
            <a:endParaRPr lang="en-US" sz="2900" dirty="0"/>
          </a:p>
        </p:txBody>
      </p:sp>
      <p:sp>
        <p:nvSpPr>
          <p:cNvPr id="4" name="Shape 2"/>
          <p:cNvSpPr/>
          <p:nvPr/>
        </p:nvSpPr>
        <p:spPr>
          <a:xfrm>
            <a:off x="640080" y="1828800"/>
            <a:ext cx="5257800" cy="3977640"/>
          </a:xfrm>
          <a:prstGeom prst="roundRect">
            <a:avLst>
              <a:gd name="adj" fmla="val 2069"/>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5" name="Shape 3"/>
          <p:cNvSpPr/>
          <p:nvPr/>
        </p:nvSpPr>
        <p:spPr>
          <a:xfrm>
            <a:off x="868680" y="2103120"/>
            <a:ext cx="548640" cy="548640"/>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6" name="Image 0" descr="preencoded.png"/>
          <p:cNvPicPr>
            <a:picLocks noChangeAspect="1"/>
          </p:cNvPicPr>
          <p:nvPr/>
        </p:nvPicPr>
        <p:blipFill>
          <a:blip r:embed="rId1"/>
          <a:stretch>
            <a:fillRect/>
          </a:stretch>
        </p:blipFill>
        <p:spPr>
          <a:xfrm>
            <a:off x="1011326" y="2245766"/>
            <a:ext cx="263347" cy="263347"/>
          </a:xfrm>
          <a:prstGeom prst="rect">
            <a:avLst/>
          </a:prstGeom>
        </p:spPr>
      </p:pic>
      <p:sp>
        <p:nvSpPr>
          <p:cNvPr id="7" name="Text 4"/>
          <p:cNvSpPr/>
          <p:nvPr/>
        </p:nvSpPr>
        <p:spPr>
          <a:xfrm>
            <a:off x="1645920" y="2212848"/>
            <a:ext cx="4023360" cy="365760"/>
          </a:xfrm>
          <a:prstGeom prst="rect">
            <a:avLst/>
          </a:prstGeom>
          <a:noFill/>
          <a:ln/>
        </p:spPr>
        <p:txBody>
          <a:bodyPr wrap="square" lIns="0" tIns="0" rIns="0" bIns="0" rtlCol="0" anchor="ctr"/>
          <a:lstStyle/>
          <a:p>
            <a:pPr indent="0" marL="0">
              <a:buNone/>
            </a:pPr>
            <a:r>
              <a:rPr lang="en-US" sz="1700" b="1" dirty="0">
                <a:solidFill>
                  <a:srgbClr val="16263B"/>
                </a:solidFill>
                <a:latin typeface="Arial" pitchFamily="34" charset="0"/>
                <a:ea typeface="Arial" pitchFamily="34" charset="-122"/>
                <a:cs typeface="Arial" pitchFamily="34" charset="-120"/>
              </a:rPr>
              <a:t>What it does</a:t>
            </a:r>
            <a:endParaRPr lang="en-US" sz="1700" dirty="0"/>
          </a:p>
        </p:txBody>
      </p:sp>
      <p:sp>
        <p:nvSpPr>
          <p:cNvPr id="8" name="Text 5"/>
          <p:cNvSpPr/>
          <p:nvPr/>
        </p:nvSpPr>
        <p:spPr>
          <a:xfrm>
            <a:off x="960120" y="2971800"/>
            <a:ext cx="4663440" cy="2743200"/>
          </a:xfrm>
          <a:prstGeom prst="rect">
            <a:avLst/>
          </a:prstGeom>
          <a:noFill/>
          <a:ln/>
        </p:spPr>
        <p:txBody>
          <a:bodyPr wrap="square" lIns="0" tIns="0" rIns="0" bIns="0" rtlCol="0" anchor="t"/>
          <a:lstStyle/>
          <a:p>
            <a:pPr marL="177800" indent="-177800">
              <a:spcAft>
                <a:spcPts val="1400"/>
              </a:spcAft>
              <a:buSzPct val="100000"/>
              <a:buChar char="•"/>
            </a:pPr>
            <a:r>
              <a:rPr lang="en-US" sz="1500" dirty="0">
                <a:solidFill>
                  <a:srgbClr val="16263B"/>
                </a:solidFill>
                <a:latin typeface="Arial" pitchFamily="34" charset="0"/>
                <a:ea typeface="Arial" pitchFamily="34" charset="-122"/>
                <a:cs typeface="Arial" pitchFamily="34" charset="-120"/>
              </a:rPr>
              <a:t>Learns: engagement → reply speed</a:t>
            </a:r>
            <a:endParaRPr lang="en-US" sz="1500" dirty="0"/>
          </a:p>
          <a:p>
            <a:pPr marL="177800" indent="-177800">
              <a:spcAft>
                <a:spcPts val="1400"/>
              </a:spcAft>
              <a:buSzPct val="100000"/>
              <a:buChar char="•"/>
            </a:pPr>
            <a:r>
              <a:rPr lang="en-US" sz="1500" dirty="0">
                <a:solidFill>
                  <a:srgbClr val="16263B"/>
                </a:solidFill>
                <a:latin typeface="Arial" pitchFamily="34" charset="0"/>
                <a:ea typeface="Arial" pitchFamily="34" charset="-122"/>
                <a:cs typeface="Arial" pitchFamily="34" charset="-120"/>
              </a:rPr>
              <a:t>Our clues overlap — needs to stay steady</a:t>
            </a:r>
            <a:endParaRPr lang="en-US" sz="1500" dirty="0"/>
          </a:p>
          <a:p>
            <a:pPr marL="177800" indent="-177800">
              <a:spcAft>
                <a:spcPts val="1400"/>
              </a:spcAft>
              <a:buSzPct val="100000"/>
              <a:buChar char="•"/>
            </a:pPr>
            <a:r>
              <a:rPr lang="en-US" sz="1500" dirty="0">
                <a:solidFill>
                  <a:srgbClr val="16263B"/>
                </a:solidFill>
                <a:latin typeface="Arial" pitchFamily="34" charset="0"/>
                <a:ea typeface="Arial" pitchFamily="34" charset="-122"/>
                <a:cs typeface="Arial" pitchFamily="34" charset="-120"/>
              </a:rPr>
              <a:t>Ridge regression keeps it stable &amp; readable</a:t>
            </a:r>
            <a:endParaRPr lang="en-US" sz="1500" dirty="0"/>
          </a:p>
        </p:txBody>
      </p:sp>
      <p:sp>
        <p:nvSpPr>
          <p:cNvPr id="9" name="Shape 6"/>
          <p:cNvSpPr/>
          <p:nvPr/>
        </p:nvSpPr>
        <p:spPr>
          <a:xfrm>
            <a:off x="6263640" y="1828800"/>
            <a:ext cx="5257800" cy="3977640"/>
          </a:xfrm>
          <a:prstGeom prst="roundRect">
            <a:avLst>
              <a:gd name="adj" fmla="val 2069"/>
            </a:avLst>
          </a:prstGeom>
          <a:solidFill>
            <a:srgbClr val="F4F9FB"/>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0" name="Shape 7"/>
          <p:cNvSpPr/>
          <p:nvPr/>
        </p:nvSpPr>
        <p:spPr>
          <a:xfrm>
            <a:off x="6492240" y="2103120"/>
            <a:ext cx="548640" cy="548640"/>
          </a:xfrm>
          <a:prstGeom prst="ellipse">
            <a:avLst/>
          </a:prstGeom>
          <a:solidFill>
            <a:srgbClr val="00A896"/>
          </a:solidFill>
          <a:ln/>
          <a:effectLst>
            <a:outerShdw sx="100000" sy="100000" kx="0" ky="0" algn="bl" rotWithShape="0" blurRad="114300" dist="38100" dir="5400000">
              <a:srgbClr val="0A1A2E">
                <a:alpha val="16000"/>
              </a:srgbClr>
            </a:outerShdw>
          </a:effectLst>
        </p:spPr>
      </p:sp>
      <p:pic>
        <p:nvPicPr>
          <p:cNvPr id="11" name="Image 1" descr="preencoded.png"/>
          <p:cNvPicPr>
            <a:picLocks noChangeAspect="1"/>
          </p:cNvPicPr>
          <p:nvPr/>
        </p:nvPicPr>
        <p:blipFill>
          <a:blip r:embed="rId2"/>
          <a:stretch>
            <a:fillRect/>
          </a:stretch>
        </p:blipFill>
        <p:spPr>
          <a:xfrm>
            <a:off x="6634886" y="2245766"/>
            <a:ext cx="263347" cy="263347"/>
          </a:xfrm>
          <a:prstGeom prst="rect">
            <a:avLst/>
          </a:prstGeom>
        </p:spPr>
      </p:pic>
      <p:sp>
        <p:nvSpPr>
          <p:cNvPr id="12" name="Text 8"/>
          <p:cNvSpPr/>
          <p:nvPr/>
        </p:nvSpPr>
        <p:spPr>
          <a:xfrm>
            <a:off x="7269480" y="2212848"/>
            <a:ext cx="4023360" cy="365760"/>
          </a:xfrm>
          <a:prstGeom prst="rect">
            <a:avLst/>
          </a:prstGeom>
          <a:noFill/>
          <a:ln/>
        </p:spPr>
        <p:txBody>
          <a:bodyPr wrap="square" lIns="0" tIns="0" rIns="0" bIns="0" rtlCol="0" anchor="ctr"/>
          <a:lstStyle/>
          <a:p>
            <a:pPr indent="0" marL="0">
              <a:buNone/>
            </a:pPr>
            <a:r>
              <a:rPr lang="en-US" sz="1700" b="1" dirty="0">
                <a:solidFill>
                  <a:srgbClr val="16263B"/>
                </a:solidFill>
                <a:latin typeface="Arial" pitchFamily="34" charset="0"/>
                <a:ea typeface="Arial" pitchFamily="34" charset="-122"/>
                <a:cs typeface="Arial" pitchFamily="34" charset="-120"/>
              </a:rPr>
              <a:t>How we checked it</a:t>
            </a:r>
            <a:endParaRPr lang="en-US" sz="1700" dirty="0"/>
          </a:p>
        </p:txBody>
      </p:sp>
      <p:sp>
        <p:nvSpPr>
          <p:cNvPr id="13" name="Text 9"/>
          <p:cNvSpPr/>
          <p:nvPr/>
        </p:nvSpPr>
        <p:spPr>
          <a:xfrm>
            <a:off x="6583680" y="2971800"/>
            <a:ext cx="4663440" cy="2743200"/>
          </a:xfrm>
          <a:prstGeom prst="rect">
            <a:avLst/>
          </a:prstGeom>
          <a:noFill/>
          <a:ln/>
        </p:spPr>
        <p:txBody>
          <a:bodyPr wrap="square" lIns="0" tIns="0" rIns="0" bIns="0" rtlCol="0" anchor="t"/>
          <a:lstStyle/>
          <a:p>
            <a:pPr marL="177800" indent="-177800">
              <a:spcAft>
                <a:spcPts val="1300"/>
              </a:spcAft>
              <a:buSzPct val="100000"/>
              <a:buChar char="✓"/>
            </a:pPr>
            <a:r>
              <a:rPr lang="en-US" sz="1500" dirty="0">
                <a:solidFill>
                  <a:srgbClr val="16263B"/>
                </a:solidFill>
                <a:latin typeface="Arial" pitchFamily="34" charset="0"/>
                <a:ea typeface="Arial" pitchFamily="34" charset="-122"/>
                <a:cs typeface="Arial" pitchFamily="34" charset="-120"/>
              </a:rPr>
              <a:t>Compared against other models</a:t>
            </a:r>
            <a:endParaRPr lang="en-US" sz="1500" dirty="0"/>
          </a:p>
          <a:p>
            <a:pPr marL="177800" indent="-177800">
              <a:spcAft>
                <a:spcPts val="1300"/>
              </a:spcAft>
              <a:buSzPct val="100000"/>
              <a:buChar char="✓"/>
            </a:pPr>
            <a:r>
              <a:rPr lang="en-US" sz="1500" dirty="0">
                <a:solidFill>
                  <a:srgbClr val="16263B"/>
                </a:solidFill>
                <a:latin typeface="Arial" pitchFamily="34" charset="0"/>
                <a:ea typeface="Arial" pitchFamily="34" charset="-122"/>
                <a:cs typeface="Arial" pitchFamily="34" charset="-120"/>
              </a:rPr>
              <a:t>Tuned the settings carefully</a:t>
            </a:r>
            <a:endParaRPr lang="en-US" sz="1500" dirty="0"/>
          </a:p>
          <a:p>
            <a:pPr marL="177800" indent="-177800">
              <a:spcAft>
                <a:spcPts val="1300"/>
              </a:spcAft>
              <a:buSzPct val="100000"/>
              <a:buChar char="✓"/>
            </a:pPr>
            <a:r>
              <a:rPr lang="en-US" sz="1500" dirty="0">
                <a:solidFill>
                  <a:srgbClr val="16263B"/>
                </a:solidFill>
                <a:latin typeface="Arial" pitchFamily="34" charset="0"/>
                <a:ea typeface="Arial" pitchFamily="34" charset="-122"/>
                <a:cs typeface="Arial" pitchFamily="34" charset="-120"/>
              </a:rPr>
              <a:t>Tested on days it never saw</a:t>
            </a:r>
            <a:endParaRPr lang="en-US" sz="1500" dirty="0"/>
          </a:p>
          <a:p>
            <a:pPr marL="177800" indent="-177800">
              <a:spcAft>
                <a:spcPts val="1300"/>
              </a:spcAft>
              <a:buSzPct val="100000"/>
              <a:buChar char="✓"/>
            </a:pPr>
            <a:r>
              <a:rPr lang="en-US" sz="1500" dirty="0">
                <a:solidFill>
                  <a:srgbClr val="16263B"/>
                </a:solidFill>
                <a:latin typeface="Arial" pitchFamily="34" charset="0"/>
                <a:ea typeface="Arial" pitchFamily="34" charset="-122"/>
                <a:cs typeface="Arial" pitchFamily="34" charset="-120"/>
              </a:rPr>
              <a:t>Ranked which clues matter most</a:t>
            </a:r>
            <a:endParaRPr lang="en-US" sz="1500" dirty="0"/>
          </a:p>
        </p:txBody>
      </p:sp>
      <p:sp>
        <p:nvSpPr>
          <p:cNvPr id="14" name="Shape 10"/>
          <p:cNvSpPr/>
          <p:nvPr/>
        </p:nvSpPr>
        <p:spPr>
          <a:xfrm>
            <a:off x="10698480" y="274320"/>
            <a:ext cx="1097280" cy="1097280"/>
          </a:xfrm>
          <a:prstGeom prst="roundRect">
            <a:avLst>
              <a:gd name="adj" fmla="val 5833"/>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pic>
        <p:nvPicPr>
          <p:cNvPr id="15" name="Image 2" descr="/home/claude/qr_colab.png"/>
          <p:cNvPicPr>
            <a:picLocks noChangeAspect="1"/>
          </p:cNvPicPr>
          <p:nvPr/>
        </p:nvPicPr>
        <p:blipFill>
          <a:blip r:embed="rId3"/>
          <a:stretch>
            <a:fillRect/>
          </a:stretch>
        </p:blipFill>
        <p:spPr>
          <a:xfrm>
            <a:off x="10808208" y="384048"/>
            <a:ext cx="877824" cy="877824"/>
          </a:xfrm>
          <a:prstGeom prst="rect">
            <a:avLst/>
          </a:prstGeom>
        </p:spPr>
      </p:pic>
      <p:sp>
        <p:nvSpPr>
          <p:cNvPr id="16" name="Text 11"/>
          <p:cNvSpPr/>
          <p:nvPr/>
        </p:nvSpPr>
        <p:spPr>
          <a:xfrm>
            <a:off x="10424160" y="1399032"/>
            <a:ext cx="1645920" cy="201168"/>
          </a:xfrm>
          <a:prstGeom prst="rect">
            <a:avLst/>
          </a:prstGeom>
          <a:noFill/>
          <a:ln/>
        </p:spPr>
        <p:txBody>
          <a:bodyPr wrap="square" lIns="0" tIns="0" rIns="0" bIns="0" rtlCol="0" anchor="ctr"/>
          <a:lstStyle/>
          <a:p>
            <a:pPr algn="ctr" indent="0" marL="0">
              <a:buNone/>
            </a:pPr>
            <a:r>
              <a:rPr lang="en-US" sz="850" b="1" dirty="0">
                <a:solidFill>
                  <a:srgbClr val="028090"/>
                </a:solidFill>
                <a:latin typeface="Arial" pitchFamily="34" charset="0"/>
                <a:ea typeface="Arial" pitchFamily="34" charset="-122"/>
                <a:cs typeface="Arial" pitchFamily="34" charset="-120"/>
              </a:rPr>
              <a:t>Scan · Request a briefing</a:t>
            </a:r>
            <a:endParaRPr lang="en-US" sz="850" dirty="0"/>
          </a:p>
        </p:txBody>
      </p:sp>
      <p:sp>
        <p:nvSpPr>
          <p:cNvPr id="17" name="Text 12"/>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000" dirty="0">
                <a:solidFill>
                  <a:srgbClr val="5C6B7A"/>
                </a:solidFill>
                <a:latin typeface="Arial" pitchFamily="34" charset="0"/>
                <a:ea typeface="Arial" pitchFamily="34" charset="-122"/>
                <a:cs typeface="Arial" pitchFamily="34" charset="-120"/>
              </a:rPr>
              <a:t>11</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AF2F6"/>
        </a:solidFill>
      </p:bgPr>
    </p:bg>
    <p:spTree>
      <p:nvGrpSpPr>
        <p:cNvPr id="1" name=""/>
        <p:cNvGrpSpPr/>
        <p:nvPr/>
      </p:nvGrpSpPr>
      <p:grpSpPr>
        <a:xfrm>
          <a:off x="0" y="0"/>
          <a:ext cx="0" cy="0"/>
          <a:chOff x="0" y="0"/>
          <a:chExt cx="0" cy="0"/>
        </a:xfrm>
      </p:grpSpPr>
      <p:sp>
        <p:nvSpPr>
          <p:cNvPr id="2" name="Text 0"/>
          <p:cNvSpPr/>
          <p:nvPr/>
        </p:nvSpPr>
        <p:spPr>
          <a:xfrm>
            <a:off x="640080" y="502920"/>
            <a:ext cx="10058400" cy="274320"/>
          </a:xfrm>
          <a:prstGeom prst="rect">
            <a:avLst/>
          </a:prstGeom>
          <a:noFill/>
          <a:ln/>
        </p:spPr>
        <p:txBody>
          <a:bodyPr wrap="square" lIns="0" tIns="0" rIns="0" bIns="0" rtlCol="0" anchor="ctr"/>
          <a:lstStyle/>
          <a:p>
            <a:pPr algn="l" indent="0" marL="0">
              <a:buNone/>
            </a:pPr>
            <a:r>
              <a:rPr lang="en-US" sz="1200" b="1" spc="300" kern="0" dirty="0">
                <a:solidFill>
                  <a:srgbClr val="028090"/>
                </a:solidFill>
                <a:latin typeface="Arial" pitchFamily="34" charset="0"/>
                <a:ea typeface="Arial" pitchFamily="34" charset="-122"/>
                <a:cs typeface="Arial" pitchFamily="34" charset="-120"/>
              </a:rPr>
              <a:t>WHAT WE BUILT</a:t>
            </a:r>
            <a:endParaRPr lang="en-US" sz="1200" dirty="0"/>
          </a:p>
        </p:txBody>
      </p:sp>
      <p:sp>
        <p:nvSpPr>
          <p:cNvPr id="3" name="Text 1"/>
          <p:cNvSpPr/>
          <p:nvPr/>
        </p:nvSpPr>
        <p:spPr>
          <a:xfrm>
            <a:off x="640080" y="822960"/>
            <a:ext cx="9601200" cy="1097280"/>
          </a:xfrm>
          <a:prstGeom prst="rect">
            <a:avLst/>
          </a:prstGeom>
          <a:noFill/>
          <a:ln/>
        </p:spPr>
        <p:txBody>
          <a:bodyPr wrap="square" lIns="0" tIns="0" rIns="0" bIns="0" rtlCol="0" anchor="t"/>
          <a:lstStyle/>
          <a:p>
            <a:pPr algn="l" indent="0" marL="0">
              <a:buNone/>
            </a:pPr>
            <a:r>
              <a:rPr lang="en-US" sz="2900" b="1" dirty="0">
                <a:solidFill>
                  <a:srgbClr val="16263B"/>
                </a:solidFill>
                <a:latin typeface="Georgia" pitchFamily="34" charset="0"/>
                <a:ea typeface="Georgia" pitchFamily="34" charset="-122"/>
                <a:cs typeface="Georgia" pitchFamily="34" charset="-120"/>
              </a:rPr>
              <a:t>A website that runs the whole thing</a:t>
            </a:r>
            <a:endParaRPr lang="en-US" sz="2900" dirty="0"/>
          </a:p>
        </p:txBody>
      </p:sp>
      <p:sp>
        <p:nvSpPr>
          <p:cNvPr id="4" name="Shape 2"/>
          <p:cNvSpPr/>
          <p:nvPr/>
        </p:nvSpPr>
        <p:spPr>
          <a:xfrm>
            <a:off x="640080" y="1828800"/>
            <a:ext cx="6035040" cy="3931920"/>
          </a:xfrm>
          <a:prstGeom prst="roundRect">
            <a:avLst>
              <a:gd name="adj" fmla="val 2093"/>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5" name="Shape 3"/>
          <p:cNvSpPr/>
          <p:nvPr/>
        </p:nvSpPr>
        <p:spPr>
          <a:xfrm>
            <a:off x="640080" y="1828800"/>
            <a:ext cx="6035040" cy="457200"/>
          </a:xfrm>
          <a:prstGeom prst="roundRect">
            <a:avLst>
              <a:gd name="adj" fmla="val 12000"/>
            </a:avLst>
          </a:prstGeom>
          <a:solidFill>
            <a:srgbClr val="11243F"/>
          </a:solidFill>
          <a:ln/>
        </p:spPr>
      </p:sp>
      <p:sp>
        <p:nvSpPr>
          <p:cNvPr id="6" name="Shape 4"/>
          <p:cNvSpPr/>
          <p:nvPr/>
        </p:nvSpPr>
        <p:spPr>
          <a:xfrm>
            <a:off x="841248" y="1993392"/>
            <a:ext cx="128016" cy="128016"/>
          </a:xfrm>
          <a:prstGeom prst="ellipse">
            <a:avLst/>
          </a:prstGeom>
          <a:solidFill>
            <a:srgbClr val="F96167"/>
          </a:solidFill>
          <a:ln/>
        </p:spPr>
      </p:sp>
      <p:sp>
        <p:nvSpPr>
          <p:cNvPr id="7" name="Shape 5"/>
          <p:cNvSpPr/>
          <p:nvPr/>
        </p:nvSpPr>
        <p:spPr>
          <a:xfrm>
            <a:off x="1042416" y="1993392"/>
            <a:ext cx="128016" cy="128016"/>
          </a:xfrm>
          <a:prstGeom prst="ellipse">
            <a:avLst/>
          </a:prstGeom>
          <a:solidFill>
            <a:srgbClr val="F9E795"/>
          </a:solidFill>
          <a:ln/>
        </p:spPr>
      </p:sp>
      <p:sp>
        <p:nvSpPr>
          <p:cNvPr id="8" name="Shape 6"/>
          <p:cNvSpPr/>
          <p:nvPr/>
        </p:nvSpPr>
        <p:spPr>
          <a:xfrm>
            <a:off x="1243584" y="1993392"/>
            <a:ext cx="128016" cy="128016"/>
          </a:xfrm>
          <a:prstGeom prst="ellipse">
            <a:avLst/>
          </a:prstGeom>
          <a:solidFill>
            <a:srgbClr val="00A896"/>
          </a:solidFill>
          <a:ln/>
        </p:spPr>
      </p:sp>
      <p:sp>
        <p:nvSpPr>
          <p:cNvPr id="9" name="Text 7"/>
          <p:cNvSpPr/>
          <p:nvPr/>
        </p:nvSpPr>
        <p:spPr>
          <a:xfrm>
            <a:off x="1554480" y="1920240"/>
            <a:ext cx="4937760" cy="274320"/>
          </a:xfrm>
          <a:prstGeom prst="rect">
            <a:avLst/>
          </a:prstGeom>
          <a:noFill/>
          <a:ln/>
        </p:spPr>
        <p:txBody>
          <a:bodyPr wrap="square" lIns="0" tIns="0" rIns="0" bIns="0" rtlCol="0" anchor="ctr"/>
          <a:lstStyle/>
          <a:p>
            <a:pPr indent="0" marL="0">
              <a:buNone/>
            </a:pPr>
            <a:r>
              <a:rPr lang="en-US" sz="1100" dirty="0">
                <a:solidFill>
                  <a:srgbClr val="C7D6E5"/>
                </a:solidFill>
                <a:latin typeface="Arial" pitchFamily="34" charset="0"/>
                <a:ea typeface="Arial" pitchFamily="34" charset="-122"/>
                <a:cs typeface="Arial" pitchFamily="34" charset="-120"/>
              </a:rPr>
              <a:t>organizationaltrustquotient.com</a:t>
            </a:r>
            <a:endParaRPr lang="en-US" sz="1100" dirty="0"/>
          </a:p>
        </p:txBody>
      </p:sp>
      <p:sp>
        <p:nvSpPr>
          <p:cNvPr id="10" name="Shape 8"/>
          <p:cNvSpPr/>
          <p:nvPr/>
        </p:nvSpPr>
        <p:spPr>
          <a:xfrm>
            <a:off x="914400" y="2514600"/>
            <a:ext cx="5486400" cy="1188720"/>
          </a:xfrm>
          <a:prstGeom prst="roundRect">
            <a:avLst>
              <a:gd name="adj" fmla="val 4615"/>
            </a:avLst>
          </a:prstGeom>
          <a:solidFill>
            <a:srgbClr val="F4F9FB"/>
          </a:solidFill>
          <a:ln w="19050">
            <a:solidFill>
              <a:srgbClr val="028090"/>
            </a:solidFill>
            <a:prstDash val="dash"/>
          </a:ln>
        </p:spPr>
      </p:sp>
      <p:sp>
        <p:nvSpPr>
          <p:cNvPr id="11" name="Shape 9"/>
          <p:cNvSpPr/>
          <p:nvPr/>
        </p:nvSpPr>
        <p:spPr>
          <a:xfrm>
            <a:off x="3520440" y="2697480"/>
            <a:ext cx="502920" cy="502920"/>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12" name="Image 0" descr="preencoded.png"/>
          <p:cNvPicPr>
            <a:picLocks noChangeAspect="1"/>
          </p:cNvPicPr>
          <p:nvPr/>
        </p:nvPicPr>
        <p:blipFill>
          <a:blip r:embed="rId1"/>
          <a:stretch>
            <a:fillRect/>
          </a:stretch>
        </p:blipFill>
        <p:spPr>
          <a:xfrm>
            <a:off x="3651199" y="2828239"/>
            <a:ext cx="241402" cy="241402"/>
          </a:xfrm>
          <a:prstGeom prst="rect">
            <a:avLst/>
          </a:prstGeom>
        </p:spPr>
      </p:pic>
      <p:sp>
        <p:nvSpPr>
          <p:cNvPr id="13" name="Text 10"/>
          <p:cNvSpPr/>
          <p:nvPr/>
        </p:nvSpPr>
        <p:spPr>
          <a:xfrm>
            <a:off x="1005840" y="3246120"/>
            <a:ext cx="5303520" cy="320040"/>
          </a:xfrm>
          <a:prstGeom prst="rect">
            <a:avLst/>
          </a:prstGeom>
          <a:noFill/>
          <a:ln/>
        </p:spPr>
        <p:txBody>
          <a:bodyPr wrap="square" lIns="0" tIns="0" rIns="0" bIns="0" rtlCol="0" anchor="ctr"/>
          <a:lstStyle/>
          <a:p>
            <a:pPr algn="ctr" indent="0" marL="0">
              <a:buNone/>
            </a:pPr>
            <a:r>
              <a:rPr lang="en-US" sz="1300" b="1" dirty="0">
                <a:solidFill>
                  <a:srgbClr val="16263B"/>
                </a:solidFill>
                <a:latin typeface="Arial" pitchFamily="34" charset="0"/>
                <a:ea typeface="Arial" pitchFamily="34" charset="-122"/>
                <a:cs typeface="Arial" pitchFamily="34" charset="-120"/>
              </a:rPr>
              <a:t>Client data</a:t>
            </a:r>
            <a:endParaRPr lang="en-US" sz="1300" dirty="0"/>
          </a:p>
        </p:txBody>
      </p:sp>
      <p:sp>
        <p:nvSpPr>
          <p:cNvPr id="20" name="Shape 17"/>
          <p:cNvSpPr/>
          <p:nvPr/>
        </p:nvSpPr>
        <p:spPr>
          <a:xfrm>
            <a:off x="914400" y="4040000"/>
            <a:ext cx="5486400" cy="777240"/>
          </a:xfrm>
          <a:prstGeom prst="roundRect">
            <a:avLst>
              <a:gd name="adj" fmla="val 7059"/>
            </a:avLst>
          </a:prstGeom>
          <a:solidFill>
            <a:srgbClr val="F4F9FB"/>
          </a:solidFill>
          <a:ln/>
        </p:spPr>
      </p:sp>
      <p:sp>
        <p:nvSpPr>
          <p:cNvPr id="21" name="Text 18"/>
          <p:cNvSpPr/>
          <p:nvPr/>
        </p:nvSpPr>
        <p:spPr>
          <a:xfrm>
            <a:off x="914400" y="4040000"/>
            <a:ext cx="5486400" cy="777240"/>
          </a:xfrm>
          <a:prstGeom prst="rect">
            <a:avLst/>
          </a:prstGeom>
          <a:noFill/>
          <a:ln/>
        </p:spPr>
        <p:txBody>
          <a:bodyPr wrap="square" lIns="0" tIns="0" rIns="0" bIns="0" rtlCol="0" anchor="ctr"/>
          <a:lstStyle/>
          <a:p>
            <a:pPr algn="ctr" indent="0" marL="0">
              <a:buNone/>
            </a:pPr>
            <a:r>
              <a:rPr lang="en-US" sz="1300" dirty="0">
                <a:solidFill>
                  <a:srgbClr val="5C6B7A"/>
                </a:solidFill>
                <a:latin typeface="Arial" pitchFamily="34" charset="0"/>
                <a:ea typeface="Arial" pitchFamily="34" charset="-122"/>
                <a:cs typeface="Arial" pitchFamily="34" charset="-120"/>
              </a:rPr>
              <a:t>We connect to your data source first — then OTQ delivers your team’s day-by-day predictions.</a:t>
            </a:r>
            <a:endParaRPr lang="en-US" sz="1200" dirty="0"/>
          </a:p>
        </p:txBody>
      </p:sp>
      <p:sp>
        <p:nvSpPr>
          <p:cNvPr id="22" name="Shape 19"/>
          <p:cNvSpPr/>
          <p:nvPr/>
        </p:nvSpPr>
        <p:spPr>
          <a:xfrm>
            <a:off x="6903720" y="1828800"/>
            <a:ext cx="4617720" cy="868680"/>
          </a:xfrm>
          <a:prstGeom prst="roundRect">
            <a:avLst>
              <a:gd name="adj" fmla="val 9474"/>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23" name="Shape 20"/>
          <p:cNvSpPr/>
          <p:nvPr/>
        </p:nvSpPr>
        <p:spPr>
          <a:xfrm>
            <a:off x="7114032" y="1993392"/>
            <a:ext cx="530352" cy="530352"/>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24" name="Image 1" descr="preencoded.png"/>
          <p:cNvPicPr>
            <a:picLocks noChangeAspect="1"/>
          </p:cNvPicPr>
          <p:nvPr/>
        </p:nvPicPr>
        <p:blipFill>
          <a:blip r:embed="rId2"/>
          <a:stretch>
            <a:fillRect/>
          </a:stretch>
        </p:blipFill>
        <p:spPr>
          <a:xfrm>
            <a:off x="7251924" y="2131284"/>
            <a:ext cx="254569" cy="254569"/>
          </a:xfrm>
          <a:prstGeom prst="rect">
            <a:avLst/>
          </a:prstGeom>
        </p:spPr>
      </p:pic>
      <p:sp>
        <p:nvSpPr>
          <p:cNvPr id="25" name="Text 21"/>
          <p:cNvSpPr/>
          <p:nvPr/>
        </p:nvSpPr>
        <p:spPr>
          <a:xfrm>
            <a:off x="7863840" y="1828800"/>
            <a:ext cx="3566160" cy="868680"/>
          </a:xfrm>
          <a:prstGeom prst="rect">
            <a:avLst/>
          </a:prstGeom>
          <a:noFill/>
          <a:ln/>
        </p:spPr>
        <p:txBody>
          <a:bodyPr wrap="square" lIns="0" tIns="0" rIns="0" bIns="0" rtlCol="0" anchor="ctr"/>
          <a:lstStyle/>
          <a:p>
            <a:pPr indent="0" marL="0">
              <a:buNone/>
            </a:pPr>
            <a:r>
              <a:rPr lang="en-US" sz="1500" b="1" dirty="0">
                <a:solidFill>
                  <a:srgbClr val="16263B"/>
                </a:solidFill>
                <a:latin typeface="Arial" pitchFamily="34" charset="0"/>
                <a:ea typeface="Arial" pitchFamily="34" charset="-122"/>
                <a:cs typeface="Arial" pitchFamily="34" charset="-120"/>
              </a:rPr>
              <a:t>Upload the files</a:t>
            </a:r>
            <a:endParaRPr lang="en-US" sz="1500" dirty="0"/>
          </a:p>
        </p:txBody>
      </p:sp>
      <p:sp>
        <p:nvSpPr>
          <p:cNvPr id="26" name="Shape 22"/>
          <p:cNvSpPr/>
          <p:nvPr/>
        </p:nvSpPr>
        <p:spPr>
          <a:xfrm>
            <a:off x="6903720" y="2834640"/>
            <a:ext cx="4617720" cy="868680"/>
          </a:xfrm>
          <a:prstGeom prst="roundRect">
            <a:avLst>
              <a:gd name="adj" fmla="val 9474"/>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27" name="Shape 23"/>
          <p:cNvSpPr/>
          <p:nvPr/>
        </p:nvSpPr>
        <p:spPr>
          <a:xfrm>
            <a:off x="7114032" y="2999232"/>
            <a:ext cx="530352" cy="530352"/>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28" name="Image 2" descr="preencoded.png"/>
          <p:cNvPicPr>
            <a:picLocks noChangeAspect="1"/>
          </p:cNvPicPr>
          <p:nvPr/>
        </p:nvPicPr>
        <p:blipFill>
          <a:blip r:embed="rId3"/>
          <a:stretch>
            <a:fillRect/>
          </a:stretch>
        </p:blipFill>
        <p:spPr>
          <a:xfrm>
            <a:off x="7251924" y="3137124"/>
            <a:ext cx="254569" cy="254569"/>
          </a:xfrm>
          <a:prstGeom prst="rect">
            <a:avLst/>
          </a:prstGeom>
        </p:spPr>
      </p:pic>
      <p:sp>
        <p:nvSpPr>
          <p:cNvPr id="29" name="Text 24"/>
          <p:cNvSpPr/>
          <p:nvPr/>
        </p:nvSpPr>
        <p:spPr>
          <a:xfrm>
            <a:off x="7863840" y="2834640"/>
            <a:ext cx="3566160" cy="868680"/>
          </a:xfrm>
          <a:prstGeom prst="rect">
            <a:avLst/>
          </a:prstGeom>
          <a:noFill/>
          <a:ln/>
        </p:spPr>
        <p:txBody>
          <a:bodyPr wrap="square" lIns="0" tIns="0" rIns="0" bIns="0" rtlCol="0" anchor="ctr"/>
          <a:lstStyle/>
          <a:p>
            <a:pPr indent="0" marL="0">
              <a:buNone/>
            </a:pPr>
            <a:r>
              <a:rPr lang="en-US" sz="1500" b="1" dirty="0">
                <a:solidFill>
                  <a:srgbClr val="16263B"/>
                </a:solidFill>
                <a:latin typeface="Arial" pitchFamily="34" charset="0"/>
                <a:ea typeface="Arial" pitchFamily="34" charset="-122"/>
                <a:cs typeface="Arial" pitchFamily="34" charset="-120"/>
              </a:rPr>
              <a:t>It runs everything for you</a:t>
            </a:r>
            <a:endParaRPr lang="en-US" sz="1500" dirty="0"/>
          </a:p>
        </p:txBody>
      </p:sp>
      <p:sp>
        <p:nvSpPr>
          <p:cNvPr id="30" name="Shape 25"/>
          <p:cNvSpPr/>
          <p:nvPr/>
        </p:nvSpPr>
        <p:spPr>
          <a:xfrm>
            <a:off x="6903720" y="3840480"/>
            <a:ext cx="4617720" cy="868680"/>
          </a:xfrm>
          <a:prstGeom prst="roundRect">
            <a:avLst>
              <a:gd name="adj" fmla="val 9474"/>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31" name="Shape 26"/>
          <p:cNvSpPr/>
          <p:nvPr/>
        </p:nvSpPr>
        <p:spPr>
          <a:xfrm>
            <a:off x="7114032" y="4005072"/>
            <a:ext cx="530352" cy="530352"/>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32" name="Image 3" descr="preencoded.png"/>
          <p:cNvPicPr>
            <a:picLocks noChangeAspect="1"/>
          </p:cNvPicPr>
          <p:nvPr/>
        </p:nvPicPr>
        <p:blipFill>
          <a:blip r:embed="rId4"/>
          <a:stretch>
            <a:fillRect/>
          </a:stretch>
        </p:blipFill>
        <p:spPr>
          <a:xfrm>
            <a:off x="7251924" y="4142964"/>
            <a:ext cx="254569" cy="254569"/>
          </a:xfrm>
          <a:prstGeom prst="rect">
            <a:avLst/>
          </a:prstGeom>
        </p:spPr>
      </p:pic>
      <p:sp>
        <p:nvSpPr>
          <p:cNvPr id="33" name="Text 27"/>
          <p:cNvSpPr/>
          <p:nvPr/>
        </p:nvSpPr>
        <p:spPr>
          <a:xfrm>
            <a:off x="7863840" y="3840480"/>
            <a:ext cx="3566160" cy="868680"/>
          </a:xfrm>
          <a:prstGeom prst="rect">
            <a:avLst/>
          </a:prstGeom>
          <a:noFill/>
          <a:ln/>
        </p:spPr>
        <p:txBody>
          <a:bodyPr wrap="square" lIns="0" tIns="0" rIns="0" bIns="0" rtlCol="0" anchor="ctr"/>
          <a:lstStyle/>
          <a:p>
            <a:pPr indent="0" marL="0">
              <a:buNone/>
            </a:pPr>
            <a:r>
              <a:rPr lang="en-US" sz="1500" b="1" dirty="0">
                <a:solidFill>
                  <a:srgbClr val="16263B"/>
                </a:solidFill>
                <a:latin typeface="Arial" pitchFamily="34" charset="0"/>
                <a:ea typeface="Arial" pitchFamily="34" charset="-122"/>
                <a:cs typeface="Arial" pitchFamily="34" charset="-120"/>
              </a:rPr>
              <a:t>See results &amp; charts</a:t>
            </a:r>
            <a:endParaRPr lang="en-US" sz="1500" dirty="0"/>
          </a:p>
        </p:txBody>
      </p:sp>
      <p:sp>
        <p:nvSpPr>
          <p:cNvPr id="34" name="Shape 28"/>
          <p:cNvSpPr/>
          <p:nvPr/>
        </p:nvSpPr>
        <p:spPr>
          <a:xfrm>
            <a:off x="6903720" y="4846320"/>
            <a:ext cx="4617720" cy="868680"/>
          </a:xfrm>
          <a:prstGeom prst="roundRect">
            <a:avLst>
              <a:gd name="adj" fmla="val 9474"/>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35" name="Shape 29"/>
          <p:cNvSpPr/>
          <p:nvPr/>
        </p:nvSpPr>
        <p:spPr>
          <a:xfrm>
            <a:off x="7114032" y="5010912"/>
            <a:ext cx="530352" cy="530352"/>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36" name="Image 4" descr="preencoded.png"/>
          <p:cNvPicPr>
            <a:picLocks noChangeAspect="1"/>
          </p:cNvPicPr>
          <p:nvPr/>
        </p:nvPicPr>
        <p:blipFill>
          <a:blip r:embed="rId5"/>
          <a:stretch>
            <a:fillRect/>
          </a:stretch>
        </p:blipFill>
        <p:spPr>
          <a:xfrm>
            <a:off x="7251924" y="5148804"/>
            <a:ext cx="254569" cy="254569"/>
          </a:xfrm>
          <a:prstGeom prst="rect">
            <a:avLst/>
          </a:prstGeom>
        </p:spPr>
      </p:pic>
      <p:sp>
        <p:nvSpPr>
          <p:cNvPr id="37" name="Text 30"/>
          <p:cNvSpPr/>
          <p:nvPr/>
        </p:nvSpPr>
        <p:spPr>
          <a:xfrm>
            <a:off x="7863840" y="4846320"/>
            <a:ext cx="3566160" cy="868680"/>
          </a:xfrm>
          <a:prstGeom prst="rect">
            <a:avLst/>
          </a:prstGeom>
          <a:noFill/>
          <a:ln/>
        </p:spPr>
        <p:txBody>
          <a:bodyPr wrap="square" lIns="0" tIns="0" rIns="0" bIns="0" rtlCol="0" anchor="ctr"/>
          <a:lstStyle/>
          <a:p>
            <a:pPr indent="0" marL="0">
              <a:buNone/>
            </a:pPr>
            <a:r>
              <a:rPr lang="en-US" sz="1500" b="1" dirty="0">
                <a:solidFill>
                  <a:srgbClr val="16263B"/>
                </a:solidFill>
                <a:latin typeface="Arial" pitchFamily="34" charset="0"/>
                <a:ea typeface="Arial" pitchFamily="34" charset="-122"/>
                <a:cs typeface="Arial" pitchFamily="34" charset="-120"/>
              </a:rPr>
              <a:t>Day-by-day predictions</a:t>
            </a:r>
            <a:endParaRPr lang="en-US" sz="1500" dirty="0"/>
          </a:p>
        </p:txBody>
      </p:sp>
      <p:sp>
        <p:nvSpPr>
          <p:cNvPr id="38" name="Shape 31"/>
          <p:cNvSpPr/>
          <p:nvPr/>
        </p:nvSpPr>
        <p:spPr>
          <a:xfrm>
            <a:off x="10698480" y="274320"/>
            <a:ext cx="1097280" cy="1097280"/>
          </a:xfrm>
          <a:prstGeom prst="roundRect">
            <a:avLst>
              <a:gd name="adj" fmla="val 5833"/>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pic>
        <p:nvPicPr>
          <p:cNvPr id="39" name="Image 5" descr="/home/claude/qr_colab.png"/>
          <p:cNvPicPr>
            <a:picLocks noChangeAspect="1"/>
          </p:cNvPicPr>
          <p:nvPr/>
        </p:nvPicPr>
        <p:blipFill>
          <a:blip r:embed="rId6"/>
          <a:stretch>
            <a:fillRect/>
          </a:stretch>
        </p:blipFill>
        <p:spPr>
          <a:xfrm>
            <a:off x="10808208" y="384048"/>
            <a:ext cx="877824" cy="877824"/>
          </a:xfrm>
          <a:prstGeom prst="rect">
            <a:avLst/>
          </a:prstGeom>
        </p:spPr>
      </p:pic>
      <p:sp>
        <p:nvSpPr>
          <p:cNvPr id="40" name="Text 32"/>
          <p:cNvSpPr/>
          <p:nvPr/>
        </p:nvSpPr>
        <p:spPr>
          <a:xfrm>
            <a:off x="10424160" y="1399032"/>
            <a:ext cx="1645920" cy="201168"/>
          </a:xfrm>
          <a:prstGeom prst="rect">
            <a:avLst/>
          </a:prstGeom>
          <a:noFill/>
          <a:ln/>
        </p:spPr>
        <p:txBody>
          <a:bodyPr wrap="square" lIns="0" tIns="0" rIns="0" bIns="0" rtlCol="0" anchor="ctr"/>
          <a:lstStyle/>
          <a:p>
            <a:pPr algn="ctr" indent="0" marL="0">
              <a:buNone/>
            </a:pPr>
            <a:r>
              <a:rPr lang="en-US" sz="850" b="1" dirty="0">
                <a:solidFill>
                  <a:srgbClr val="028090"/>
                </a:solidFill>
                <a:latin typeface="Arial" pitchFamily="34" charset="0"/>
                <a:ea typeface="Arial" pitchFamily="34" charset="-122"/>
                <a:cs typeface="Arial" pitchFamily="34" charset="-120"/>
              </a:rPr>
              <a:t>Scan · Request a briefing</a:t>
            </a:r>
            <a:endParaRPr lang="en-US" sz="850" dirty="0"/>
          </a:p>
        </p:txBody>
      </p:sp>
      <p:sp>
        <p:nvSpPr>
          <p:cNvPr id="41" name="Text 33"/>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000" dirty="0">
                <a:solidFill>
                  <a:srgbClr val="5C6B7A"/>
                </a:solidFill>
                <a:latin typeface="Arial" pitchFamily="34" charset="0"/>
                <a:ea typeface="Arial" pitchFamily="34" charset="-122"/>
                <a:cs typeface="Arial" pitchFamily="34" charset="-120"/>
              </a:rPr>
              <a:t>12</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1243F"/>
        </a:solidFill>
      </p:bgPr>
    </p:bg>
    <p:spTree>
      <p:nvGrpSpPr>
        <p:cNvPr id="1" name=""/>
        <p:cNvGrpSpPr/>
        <p:nvPr/>
      </p:nvGrpSpPr>
      <p:grpSpPr>
        <a:xfrm>
          <a:off x="0" y="0"/>
          <a:ext cx="0" cy="0"/>
          <a:chOff x="0" y="0"/>
          <a:chExt cx="0" cy="0"/>
        </a:xfrm>
      </p:grpSpPr>
      <p:sp>
        <p:nvSpPr>
          <p:cNvPr id="2" name="Text 0"/>
          <p:cNvSpPr/>
          <p:nvPr/>
        </p:nvSpPr>
        <p:spPr>
          <a:xfrm>
            <a:off x="640080" y="502920"/>
            <a:ext cx="10058400" cy="274320"/>
          </a:xfrm>
          <a:prstGeom prst="rect">
            <a:avLst/>
          </a:prstGeom>
          <a:noFill/>
          <a:ln/>
        </p:spPr>
        <p:txBody>
          <a:bodyPr wrap="square" lIns="0" tIns="0" rIns="0" bIns="0" rtlCol="0" anchor="ctr"/>
          <a:lstStyle/>
          <a:p>
            <a:pPr algn="l" indent="0" marL="0">
              <a:buNone/>
            </a:pPr>
            <a:r>
              <a:rPr lang="en-US" sz="1200" b="1" spc="300" kern="0" dirty="0">
                <a:solidFill>
                  <a:srgbClr val="00A896"/>
                </a:solidFill>
                <a:latin typeface="Arial" pitchFamily="34" charset="0"/>
                <a:ea typeface="Arial" pitchFamily="34" charset="-122"/>
                <a:cs typeface="Arial" pitchFamily="34" charset="-120"/>
              </a:rPr>
              <a:t>TAKE-HOME POINTS</a:t>
            </a:r>
            <a:endParaRPr lang="en-US" sz="1200" dirty="0"/>
          </a:p>
        </p:txBody>
      </p:sp>
      <p:sp>
        <p:nvSpPr>
          <p:cNvPr id="3" name="Text 1"/>
          <p:cNvSpPr/>
          <p:nvPr/>
        </p:nvSpPr>
        <p:spPr>
          <a:xfrm>
            <a:off x="640080" y="822960"/>
            <a:ext cx="9601200" cy="1097280"/>
          </a:xfrm>
          <a:prstGeom prst="rect">
            <a:avLst/>
          </a:prstGeom>
          <a:noFill/>
          <a:ln/>
        </p:spPr>
        <p:txBody>
          <a:bodyPr wrap="square" lIns="0" tIns="0" rIns="0" bIns="0" rtlCol="0" anchor="t"/>
          <a:lstStyle/>
          <a:p>
            <a:pPr algn="l" indent="0" marL="0">
              <a:buNone/>
            </a:pPr>
            <a:r>
              <a:rPr lang="en-US" sz="2900" b="1" dirty="0">
                <a:solidFill>
                  <a:srgbClr val="FFFFFF"/>
                </a:solidFill>
                <a:latin typeface="Georgia" pitchFamily="34" charset="0"/>
                <a:ea typeface="Georgia" pitchFamily="34" charset="-122"/>
                <a:cs typeface="Georgia" pitchFamily="34" charset="-120"/>
              </a:rPr>
              <a:t>What to remember</a:t>
            </a:r>
            <a:endParaRPr lang="en-US" sz="2900" dirty="0"/>
          </a:p>
        </p:txBody>
      </p:sp>
      <p:sp>
        <p:nvSpPr>
          <p:cNvPr id="4" name="Shape 2"/>
          <p:cNvSpPr/>
          <p:nvPr/>
        </p:nvSpPr>
        <p:spPr>
          <a:xfrm>
            <a:off x="640080" y="1874520"/>
            <a:ext cx="5349240" cy="1828800"/>
          </a:xfrm>
          <a:prstGeom prst="roundRect">
            <a:avLst>
              <a:gd name="adj" fmla="val 4500"/>
            </a:avLst>
          </a:prstGeom>
          <a:solidFill>
            <a:srgbClr val="1B3358"/>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5" name="Shape 3"/>
          <p:cNvSpPr/>
          <p:nvPr/>
        </p:nvSpPr>
        <p:spPr>
          <a:xfrm>
            <a:off x="914400" y="2148840"/>
            <a:ext cx="640080" cy="640080"/>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6" name="Image 0" descr="preencoded.png"/>
          <p:cNvPicPr>
            <a:picLocks noChangeAspect="1"/>
          </p:cNvPicPr>
          <p:nvPr/>
        </p:nvPicPr>
        <p:blipFill>
          <a:blip r:embed="rId1"/>
          <a:stretch>
            <a:fillRect/>
          </a:stretch>
        </p:blipFill>
        <p:spPr>
          <a:xfrm>
            <a:off x="1080821" y="2315261"/>
            <a:ext cx="307238" cy="307238"/>
          </a:xfrm>
          <a:prstGeom prst="rect">
            <a:avLst/>
          </a:prstGeom>
        </p:spPr>
      </p:pic>
      <p:sp>
        <p:nvSpPr>
          <p:cNvPr id="7" name="Text 4"/>
          <p:cNvSpPr/>
          <p:nvPr/>
        </p:nvSpPr>
        <p:spPr>
          <a:xfrm>
            <a:off x="1737360" y="2167128"/>
            <a:ext cx="4069080" cy="64008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Always-on beats once a year</a:t>
            </a:r>
            <a:endParaRPr lang="en-US" sz="1700" dirty="0"/>
          </a:p>
        </p:txBody>
      </p:sp>
      <p:sp>
        <p:nvSpPr>
          <p:cNvPr id="8" name="Text 5"/>
          <p:cNvSpPr/>
          <p:nvPr/>
        </p:nvSpPr>
        <p:spPr>
          <a:xfrm>
            <a:off x="1737360" y="2834640"/>
            <a:ext cx="4069080" cy="731520"/>
          </a:xfrm>
          <a:prstGeom prst="rect">
            <a:avLst/>
          </a:prstGeom>
          <a:noFill/>
          <a:ln/>
        </p:spPr>
        <p:txBody>
          <a:bodyPr wrap="square" lIns="0" tIns="0" rIns="0" bIns="0" rtlCol="0" anchor="ctr"/>
          <a:lstStyle/>
          <a:p>
            <a:pPr indent="0" marL="0">
              <a:buNone/>
            </a:pPr>
            <a:r>
              <a:rPr lang="en-US" sz="1300" dirty="0">
                <a:solidFill>
                  <a:srgbClr val="C7D6E5"/>
                </a:solidFill>
                <a:latin typeface="Arial" pitchFamily="34" charset="0"/>
                <a:ea typeface="Arial" pitchFamily="34" charset="-122"/>
                <a:cs typeface="Arial" pitchFamily="34" charset="-120"/>
              </a:rPr>
              <a:t>a live read, not an annual survey</a:t>
            </a:r>
            <a:endParaRPr lang="en-US" sz="1300" dirty="0"/>
          </a:p>
        </p:txBody>
      </p:sp>
      <p:sp>
        <p:nvSpPr>
          <p:cNvPr id="9" name="Shape 6"/>
          <p:cNvSpPr/>
          <p:nvPr/>
        </p:nvSpPr>
        <p:spPr>
          <a:xfrm>
            <a:off x="6172200" y="1874520"/>
            <a:ext cx="5349240" cy="1828800"/>
          </a:xfrm>
          <a:prstGeom prst="roundRect">
            <a:avLst>
              <a:gd name="adj" fmla="val 4500"/>
            </a:avLst>
          </a:prstGeom>
          <a:solidFill>
            <a:srgbClr val="1B3358"/>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0" name="Shape 7"/>
          <p:cNvSpPr/>
          <p:nvPr/>
        </p:nvSpPr>
        <p:spPr>
          <a:xfrm>
            <a:off x="6446520" y="2148840"/>
            <a:ext cx="640080" cy="640080"/>
          </a:xfrm>
          <a:prstGeom prst="ellipse">
            <a:avLst/>
          </a:prstGeom>
          <a:solidFill>
            <a:srgbClr val="00A896"/>
          </a:solidFill>
          <a:ln/>
          <a:effectLst>
            <a:outerShdw sx="100000" sy="100000" kx="0" ky="0" algn="bl" rotWithShape="0" blurRad="114300" dist="38100" dir="5400000">
              <a:srgbClr val="0A1A2E">
                <a:alpha val="16000"/>
              </a:srgbClr>
            </a:outerShdw>
          </a:effectLst>
        </p:spPr>
      </p:sp>
      <p:pic>
        <p:nvPicPr>
          <p:cNvPr id="11" name="Image 1" descr="preencoded.png"/>
          <p:cNvPicPr>
            <a:picLocks noChangeAspect="1"/>
          </p:cNvPicPr>
          <p:nvPr/>
        </p:nvPicPr>
        <p:blipFill>
          <a:blip r:embed="rId2"/>
          <a:stretch>
            <a:fillRect/>
          </a:stretch>
        </p:blipFill>
        <p:spPr>
          <a:xfrm>
            <a:off x="6612941" y="2315261"/>
            <a:ext cx="307238" cy="307238"/>
          </a:xfrm>
          <a:prstGeom prst="rect">
            <a:avLst/>
          </a:prstGeom>
        </p:spPr>
      </p:pic>
      <p:sp>
        <p:nvSpPr>
          <p:cNvPr id="12" name="Text 8"/>
          <p:cNvSpPr/>
          <p:nvPr/>
        </p:nvSpPr>
        <p:spPr>
          <a:xfrm>
            <a:off x="7269480" y="2167128"/>
            <a:ext cx="4069080" cy="64008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Talk predicts replies</a:t>
            </a:r>
            <a:endParaRPr lang="en-US" sz="1700" dirty="0"/>
          </a:p>
        </p:txBody>
      </p:sp>
      <p:sp>
        <p:nvSpPr>
          <p:cNvPr id="13" name="Text 9"/>
          <p:cNvSpPr/>
          <p:nvPr/>
        </p:nvSpPr>
        <p:spPr>
          <a:xfrm>
            <a:off x="7269480" y="2834640"/>
            <a:ext cx="4069080" cy="731520"/>
          </a:xfrm>
          <a:prstGeom prst="rect">
            <a:avLst/>
          </a:prstGeom>
          <a:noFill/>
          <a:ln/>
        </p:spPr>
        <p:txBody>
          <a:bodyPr wrap="square" lIns="0" tIns="0" rIns="0" bIns="0" rtlCol="0" anchor="ctr"/>
          <a:lstStyle/>
          <a:p>
            <a:pPr indent="0" marL="0">
              <a:buNone/>
            </a:pPr>
            <a:r>
              <a:rPr lang="en-US" sz="1300" dirty="0">
                <a:solidFill>
                  <a:srgbClr val="C7D6E5"/>
                </a:solidFill>
                <a:latin typeface="Arial" pitchFamily="34" charset="0"/>
                <a:ea typeface="Arial" pitchFamily="34" charset="-122"/>
                <a:cs typeface="Arial" pitchFamily="34" charset="-120"/>
              </a:rPr>
              <a:t>more engaged teams answer faster</a:t>
            </a:r>
            <a:endParaRPr lang="en-US" sz="1300" dirty="0"/>
          </a:p>
        </p:txBody>
      </p:sp>
      <p:sp>
        <p:nvSpPr>
          <p:cNvPr id="14" name="Shape 10"/>
          <p:cNvSpPr/>
          <p:nvPr/>
        </p:nvSpPr>
        <p:spPr>
          <a:xfrm>
            <a:off x="640080" y="3931920"/>
            <a:ext cx="5349240" cy="1828800"/>
          </a:xfrm>
          <a:prstGeom prst="roundRect">
            <a:avLst>
              <a:gd name="adj" fmla="val 4500"/>
            </a:avLst>
          </a:prstGeom>
          <a:solidFill>
            <a:srgbClr val="1B3358"/>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5" name="Shape 11"/>
          <p:cNvSpPr/>
          <p:nvPr/>
        </p:nvSpPr>
        <p:spPr>
          <a:xfrm>
            <a:off x="914400" y="4206240"/>
            <a:ext cx="640080" cy="640080"/>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16" name="Image 2" descr="preencoded.png"/>
          <p:cNvPicPr>
            <a:picLocks noChangeAspect="1"/>
          </p:cNvPicPr>
          <p:nvPr/>
        </p:nvPicPr>
        <p:blipFill>
          <a:blip r:embed="rId3"/>
          <a:stretch>
            <a:fillRect/>
          </a:stretch>
        </p:blipFill>
        <p:spPr>
          <a:xfrm>
            <a:off x="1080821" y="4372661"/>
            <a:ext cx="307238" cy="307238"/>
          </a:xfrm>
          <a:prstGeom prst="rect">
            <a:avLst/>
          </a:prstGeom>
        </p:spPr>
      </p:pic>
      <p:sp>
        <p:nvSpPr>
          <p:cNvPr id="17" name="Text 12"/>
          <p:cNvSpPr/>
          <p:nvPr/>
        </p:nvSpPr>
        <p:spPr>
          <a:xfrm>
            <a:off x="1737360" y="4224528"/>
            <a:ext cx="4069080" cy="64008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We're honest about it</a:t>
            </a:r>
            <a:endParaRPr lang="en-US" sz="1700" dirty="0"/>
          </a:p>
        </p:txBody>
      </p:sp>
      <p:sp>
        <p:nvSpPr>
          <p:cNvPr id="18" name="Text 13"/>
          <p:cNvSpPr/>
          <p:nvPr/>
        </p:nvSpPr>
        <p:spPr>
          <a:xfrm>
            <a:off x="1737360" y="4892040"/>
            <a:ext cx="4069080" cy="731520"/>
          </a:xfrm>
          <a:prstGeom prst="rect">
            <a:avLst/>
          </a:prstGeom>
          <a:noFill/>
          <a:ln/>
        </p:spPr>
        <p:txBody>
          <a:bodyPr wrap="square" lIns="0" tIns="0" rIns="0" bIns="0" rtlCol="0" anchor="ctr"/>
          <a:lstStyle/>
          <a:p>
            <a:pPr indent="0" marL="0">
              <a:buNone/>
            </a:pPr>
            <a:r>
              <a:rPr lang="en-US" sz="1300" dirty="0">
                <a:solidFill>
                  <a:srgbClr val="C7D6E5"/>
                </a:solidFill>
                <a:latin typeface="Arial" pitchFamily="34" charset="0"/>
                <a:ea typeface="Arial" pitchFamily="34" charset="-122"/>
                <a:cs typeface="Arial" pitchFamily="34" charset="-120"/>
              </a:rPr>
              <a:t>we measure talk, not trust itself — yet</a:t>
            </a:r>
            <a:endParaRPr lang="en-US" sz="1300" dirty="0"/>
          </a:p>
        </p:txBody>
      </p:sp>
      <p:sp>
        <p:nvSpPr>
          <p:cNvPr id="19" name="Shape 14"/>
          <p:cNvSpPr/>
          <p:nvPr/>
        </p:nvSpPr>
        <p:spPr>
          <a:xfrm>
            <a:off x="6172200" y="3931920"/>
            <a:ext cx="5349240" cy="1828800"/>
          </a:xfrm>
          <a:prstGeom prst="roundRect">
            <a:avLst>
              <a:gd name="adj" fmla="val 4500"/>
            </a:avLst>
          </a:prstGeom>
          <a:solidFill>
            <a:srgbClr val="1B3358"/>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20" name="Shape 15"/>
          <p:cNvSpPr/>
          <p:nvPr/>
        </p:nvSpPr>
        <p:spPr>
          <a:xfrm>
            <a:off x="6446520" y="4206240"/>
            <a:ext cx="640080" cy="640080"/>
          </a:xfrm>
          <a:prstGeom prst="ellipse">
            <a:avLst/>
          </a:prstGeom>
          <a:solidFill>
            <a:srgbClr val="00A896"/>
          </a:solidFill>
          <a:ln/>
          <a:effectLst>
            <a:outerShdw sx="100000" sy="100000" kx="0" ky="0" algn="bl" rotWithShape="0" blurRad="114300" dist="38100" dir="5400000">
              <a:srgbClr val="0A1A2E">
                <a:alpha val="16000"/>
              </a:srgbClr>
            </a:outerShdw>
          </a:effectLst>
        </p:spPr>
      </p:sp>
      <p:pic>
        <p:nvPicPr>
          <p:cNvPr id="21" name="Image 3" descr="preencoded.png"/>
          <p:cNvPicPr>
            <a:picLocks noChangeAspect="1"/>
          </p:cNvPicPr>
          <p:nvPr/>
        </p:nvPicPr>
        <p:blipFill>
          <a:blip r:embed="rId4"/>
          <a:stretch>
            <a:fillRect/>
          </a:stretch>
        </p:blipFill>
        <p:spPr>
          <a:xfrm>
            <a:off x="6612941" y="4372661"/>
            <a:ext cx="307238" cy="307238"/>
          </a:xfrm>
          <a:prstGeom prst="rect">
            <a:avLst/>
          </a:prstGeom>
        </p:spPr>
      </p:pic>
      <p:sp>
        <p:nvSpPr>
          <p:cNvPr id="22" name="Text 16"/>
          <p:cNvSpPr/>
          <p:nvPr/>
        </p:nvSpPr>
        <p:spPr>
          <a:xfrm>
            <a:off x="7269480" y="4224528"/>
            <a:ext cx="4069080" cy="64008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Private by design</a:t>
            </a:r>
            <a:endParaRPr lang="en-US" sz="1700" dirty="0"/>
          </a:p>
        </p:txBody>
      </p:sp>
      <p:sp>
        <p:nvSpPr>
          <p:cNvPr id="23" name="Text 17"/>
          <p:cNvSpPr/>
          <p:nvPr/>
        </p:nvSpPr>
        <p:spPr>
          <a:xfrm>
            <a:off x="7269480" y="4892040"/>
            <a:ext cx="4069080" cy="731520"/>
          </a:xfrm>
          <a:prstGeom prst="rect">
            <a:avLst/>
          </a:prstGeom>
          <a:noFill/>
          <a:ln/>
        </p:spPr>
        <p:txBody>
          <a:bodyPr wrap="square" lIns="0" tIns="0" rIns="0" bIns="0" rtlCol="0" anchor="ctr"/>
          <a:lstStyle/>
          <a:p>
            <a:pPr indent="0" marL="0">
              <a:buNone/>
            </a:pPr>
            <a:r>
              <a:rPr lang="en-US" sz="1300" dirty="0">
                <a:solidFill>
                  <a:srgbClr val="C7D6E5"/>
                </a:solidFill>
                <a:latin typeface="Arial" pitchFamily="34" charset="0"/>
                <a:ea typeface="Arial" pitchFamily="34" charset="-122"/>
                <a:cs typeface="Arial" pitchFamily="34" charset="-120"/>
              </a:rPr>
              <a:t>counts &amp; timing only, no message content</a:t>
            </a:r>
            <a:endParaRPr lang="en-US" sz="1300" dirty="0"/>
          </a:p>
        </p:txBody>
      </p:sp>
      <p:sp>
        <p:nvSpPr>
          <p:cNvPr id="24" name="Shape 18"/>
          <p:cNvSpPr/>
          <p:nvPr/>
        </p:nvSpPr>
        <p:spPr>
          <a:xfrm>
            <a:off x="10698480" y="274320"/>
            <a:ext cx="1097280" cy="1097280"/>
          </a:xfrm>
          <a:prstGeom prst="roundRect">
            <a:avLst>
              <a:gd name="adj" fmla="val 5833"/>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pic>
        <p:nvPicPr>
          <p:cNvPr id="25" name="Image 4" descr="/home/claude/qr_colab.png"/>
          <p:cNvPicPr>
            <a:picLocks noChangeAspect="1"/>
          </p:cNvPicPr>
          <p:nvPr/>
        </p:nvPicPr>
        <p:blipFill>
          <a:blip r:embed="rId5"/>
          <a:stretch>
            <a:fillRect/>
          </a:stretch>
        </p:blipFill>
        <p:spPr>
          <a:xfrm>
            <a:off x="10808208" y="384048"/>
            <a:ext cx="877824" cy="877824"/>
          </a:xfrm>
          <a:prstGeom prst="rect">
            <a:avLst/>
          </a:prstGeom>
        </p:spPr>
      </p:pic>
      <p:sp>
        <p:nvSpPr>
          <p:cNvPr id="26" name="Text 19"/>
          <p:cNvSpPr/>
          <p:nvPr/>
        </p:nvSpPr>
        <p:spPr>
          <a:xfrm>
            <a:off x="10424160" y="1399032"/>
            <a:ext cx="1645920" cy="201168"/>
          </a:xfrm>
          <a:prstGeom prst="rect">
            <a:avLst/>
          </a:prstGeom>
          <a:noFill/>
          <a:ln/>
        </p:spPr>
        <p:txBody>
          <a:bodyPr wrap="square" lIns="0" tIns="0" rIns="0" bIns="0" rtlCol="0" anchor="ctr"/>
          <a:lstStyle/>
          <a:p>
            <a:pPr algn="ctr" indent="0" marL="0">
              <a:buNone/>
            </a:pPr>
            <a:r>
              <a:rPr lang="en-US" sz="850" b="1" dirty="0">
                <a:solidFill>
                  <a:srgbClr val="028090"/>
                </a:solidFill>
                <a:latin typeface="Arial" pitchFamily="34" charset="0"/>
                <a:ea typeface="Arial" pitchFamily="34" charset="-122"/>
                <a:cs typeface="Arial" pitchFamily="34" charset="-120"/>
              </a:rPr>
              <a:t>Scan · Request a briefing</a:t>
            </a:r>
            <a:endParaRPr lang="en-US" sz="850" dirty="0"/>
          </a:p>
        </p:txBody>
      </p:sp>
      <p:sp>
        <p:nvSpPr>
          <p:cNvPr id="27" name="Text 20"/>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000" dirty="0">
                <a:solidFill>
                  <a:srgbClr val="5C6B7A"/>
                </a:solidFill>
                <a:latin typeface="Arial" pitchFamily="34" charset="0"/>
                <a:ea typeface="Arial" pitchFamily="34" charset="-122"/>
                <a:cs typeface="Arial" pitchFamily="34" charset="-120"/>
              </a:rPr>
              <a:t>16</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AF2F6"/>
        </a:solidFill>
      </p:bgPr>
    </p:bg>
    <p:spTree>
      <p:nvGrpSpPr>
        <p:cNvPr id="1" name=""/>
        <p:cNvGrpSpPr/>
        <p:nvPr/>
      </p:nvGrpSpPr>
      <p:grpSpPr>
        <a:xfrm>
          <a:off x="0" y="0"/>
          <a:ext cx="0" cy="0"/>
          <a:chOff x="0" y="0"/>
          <a:chExt cx="0" cy="0"/>
        </a:xfrm>
      </p:grpSpPr>
      <p:sp>
        <p:nvSpPr>
          <p:cNvPr id="2" name="Text 0"/>
          <p:cNvSpPr/>
          <p:nvPr/>
        </p:nvSpPr>
        <p:spPr>
          <a:xfrm>
            <a:off x="640080" y="502920"/>
            <a:ext cx="10058400" cy="274320"/>
          </a:xfrm>
          <a:prstGeom prst="rect">
            <a:avLst/>
          </a:prstGeom>
          <a:noFill/>
          <a:ln/>
        </p:spPr>
        <p:txBody>
          <a:bodyPr wrap="square" lIns="0" tIns="0" rIns="0" bIns="0" rtlCol="0" anchor="ctr"/>
          <a:lstStyle/>
          <a:p>
            <a:pPr algn="l" indent="0" marL="0">
              <a:buNone/>
            </a:pPr>
            <a:r>
              <a:rPr lang="en-US" sz="1200" b="1" spc="300" kern="0" dirty="0">
                <a:solidFill>
                  <a:srgbClr val="028090"/>
                </a:solidFill>
                <a:latin typeface="Arial" pitchFamily="34" charset="0"/>
                <a:ea typeface="Arial" pitchFamily="34" charset="-122"/>
                <a:cs typeface="Arial" pitchFamily="34" charset="-120"/>
              </a:rPr>
              <a:t>WHAT'S NEXT</a:t>
            </a:r>
            <a:endParaRPr lang="en-US" sz="1200" dirty="0"/>
          </a:p>
        </p:txBody>
      </p:sp>
      <p:sp>
        <p:nvSpPr>
          <p:cNvPr id="3" name="Text 1"/>
          <p:cNvSpPr/>
          <p:nvPr/>
        </p:nvSpPr>
        <p:spPr>
          <a:xfrm>
            <a:off x="640080" y="822960"/>
            <a:ext cx="9601200" cy="1097280"/>
          </a:xfrm>
          <a:prstGeom prst="rect">
            <a:avLst/>
          </a:prstGeom>
          <a:noFill/>
          <a:ln/>
        </p:spPr>
        <p:txBody>
          <a:bodyPr wrap="square" lIns="0" tIns="0" rIns="0" bIns="0" rtlCol="0" anchor="t"/>
          <a:lstStyle/>
          <a:p>
            <a:pPr algn="l" indent="0" marL="0">
              <a:buNone/>
            </a:pPr>
            <a:r>
              <a:rPr lang="en-US" sz="2900" b="1" dirty="0">
                <a:solidFill>
                  <a:srgbClr val="16263B"/>
                </a:solidFill>
                <a:latin typeface="Georgia" pitchFamily="34" charset="0"/>
                <a:ea typeface="Georgia" pitchFamily="34" charset="-122"/>
                <a:cs typeface="Georgia" pitchFamily="34" charset="-120"/>
              </a:rPr>
              <a:t>Next steps &amp; questions</a:t>
            </a:r>
            <a:endParaRPr lang="en-US" sz="2900" dirty="0"/>
          </a:p>
        </p:txBody>
      </p:sp>
      <p:pic>
        <p:nvPicPr>
          <p:cNvPr id="4" name="Image 0" descr="preencoded.png"/>
          <p:cNvPicPr>
            <a:picLocks noChangeAspect="1"/>
          </p:cNvPicPr>
          <p:nvPr/>
        </p:nvPicPr>
        <p:blipFill>
          <a:blip r:embed="rId1"/>
          <a:stretch>
            <a:fillRect/>
          </a:stretch>
        </p:blipFill>
        <p:spPr>
          <a:xfrm>
            <a:off x="10469880" y="228600"/>
            <a:ext cx="1554480" cy="1554480"/>
          </a:xfrm>
          <a:prstGeom prst="rect">
            <a:avLst/>
          </a:prstGeom>
        </p:spPr>
      </p:pic>
      <p:sp>
        <p:nvSpPr>
          <p:cNvPr id="5" name="Shape 2"/>
          <p:cNvSpPr/>
          <p:nvPr/>
        </p:nvSpPr>
        <p:spPr>
          <a:xfrm>
            <a:off x="640080" y="1828800"/>
            <a:ext cx="5760720" cy="3977640"/>
          </a:xfrm>
          <a:prstGeom prst="roundRect">
            <a:avLst>
              <a:gd name="adj" fmla="val 2069"/>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6" name="Shape 3"/>
          <p:cNvSpPr/>
          <p:nvPr/>
        </p:nvSpPr>
        <p:spPr>
          <a:xfrm>
            <a:off x="868680" y="2103120"/>
            <a:ext cx="548640" cy="548640"/>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7" name="Image 1" descr="preencoded.png"/>
          <p:cNvPicPr>
            <a:picLocks noChangeAspect="1"/>
          </p:cNvPicPr>
          <p:nvPr/>
        </p:nvPicPr>
        <p:blipFill>
          <a:blip r:embed="rId2"/>
          <a:stretch>
            <a:fillRect/>
          </a:stretch>
        </p:blipFill>
        <p:spPr>
          <a:xfrm>
            <a:off x="1011326" y="2245766"/>
            <a:ext cx="263347" cy="263347"/>
          </a:xfrm>
          <a:prstGeom prst="rect">
            <a:avLst/>
          </a:prstGeom>
        </p:spPr>
      </p:pic>
      <p:sp>
        <p:nvSpPr>
          <p:cNvPr id="8" name="Text 4"/>
          <p:cNvSpPr/>
          <p:nvPr/>
        </p:nvSpPr>
        <p:spPr>
          <a:xfrm>
            <a:off x="1645920" y="2212848"/>
            <a:ext cx="4389120" cy="365760"/>
          </a:xfrm>
          <a:prstGeom prst="rect">
            <a:avLst/>
          </a:prstGeom>
          <a:noFill/>
          <a:ln/>
        </p:spPr>
        <p:txBody>
          <a:bodyPr wrap="square" lIns="0" tIns="0" rIns="0" bIns="0" rtlCol="0" anchor="ctr"/>
          <a:lstStyle/>
          <a:p>
            <a:pPr indent="0" marL="0">
              <a:buNone/>
            </a:pPr>
            <a:r>
              <a:rPr lang="en-US" sz="1700" b="1" dirty="0">
                <a:solidFill>
                  <a:srgbClr val="16263B"/>
                </a:solidFill>
                <a:latin typeface="Arial" pitchFamily="34" charset="0"/>
                <a:ea typeface="Arial" pitchFamily="34" charset="-122"/>
                <a:cs typeface="Arial" pitchFamily="34" charset="-120"/>
              </a:rPr>
              <a:t>Where we go from here</a:t>
            </a:r>
            <a:endParaRPr lang="en-US" sz="1700" dirty="0"/>
          </a:p>
        </p:txBody>
      </p:sp>
      <p:sp>
        <p:nvSpPr>
          <p:cNvPr id="9" name="Text 5"/>
          <p:cNvSpPr/>
          <p:nvPr/>
        </p:nvSpPr>
        <p:spPr>
          <a:xfrm>
            <a:off x="960120" y="2971800"/>
            <a:ext cx="5212080" cy="2743200"/>
          </a:xfrm>
          <a:prstGeom prst="rect">
            <a:avLst/>
          </a:prstGeom>
          <a:noFill/>
          <a:ln/>
        </p:spPr>
        <p:txBody>
          <a:bodyPr wrap="square" lIns="0" tIns="0" rIns="0" bIns="0" rtlCol="0" anchor="t"/>
          <a:lstStyle/>
          <a:p>
            <a:pPr marL="177800" indent="-177800">
              <a:spcAft>
                <a:spcPts val="1300"/>
              </a:spcAft>
              <a:buSzPct val="100000"/>
              <a:buChar char="•"/>
            </a:pPr>
            <a:r>
              <a:rPr lang="en-US" sz="1550" dirty="0">
                <a:solidFill>
                  <a:srgbClr val="16263B"/>
                </a:solidFill>
                <a:latin typeface="Arial" pitchFamily="34" charset="0"/>
                <a:ea typeface="Arial" pitchFamily="34" charset="-122"/>
                <a:cs typeface="Arial" pitchFamily="34" charset="-120"/>
              </a:rPr>
              <a:t>Check our score against a trusted trust survey</a:t>
            </a:r>
            <a:endParaRPr lang="en-US" sz="1550" dirty="0"/>
          </a:p>
          <a:p>
            <a:pPr marL="177800" indent="-177800">
              <a:spcAft>
                <a:spcPts val="1300"/>
              </a:spcAft>
              <a:buSzPct val="100000"/>
              <a:buChar char="•"/>
            </a:pPr>
            <a:r>
              <a:rPr lang="en-US" sz="1550" dirty="0">
                <a:solidFill>
                  <a:srgbClr val="16263B"/>
                </a:solidFill>
                <a:latin typeface="Arial" pitchFamily="34" charset="0"/>
                <a:ea typeface="Arial" pitchFamily="34" charset="-122"/>
                <a:cs typeface="Arial" pitchFamily="34" charset="-120"/>
              </a:rPr>
              <a:t>Use a real company's data</a:t>
            </a:r>
            <a:endParaRPr lang="en-US" sz="1550" dirty="0"/>
          </a:p>
          <a:p>
            <a:pPr marL="177800" indent="-177800">
              <a:spcAft>
                <a:spcPts val="1300"/>
              </a:spcAft>
              <a:buSzPct val="100000"/>
              <a:buChar char="•"/>
            </a:pPr>
            <a:r>
              <a:rPr lang="en-US" sz="1550" dirty="0">
                <a:solidFill>
                  <a:srgbClr val="16263B"/>
                </a:solidFill>
                <a:latin typeface="Arial" pitchFamily="34" charset="0"/>
                <a:ea typeface="Arial" pitchFamily="34" charset="-122"/>
                <a:cs typeface="Arial" pitchFamily="34" charset="-120"/>
              </a:rPr>
              <a:t>Give each team &amp; person their own score</a:t>
            </a:r>
            <a:endParaRPr lang="en-US" sz="1550" dirty="0"/>
          </a:p>
          <a:p>
            <a:pPr marL="177800" indent="-177800">
              <a:spcAft>
                <a:spcPts val="1300"/>
              </a:spcAft>
              <a:buSzPct val="100000"/>
              <a:buChar char="•"/>
            </a:pPr>
            <a:r>
              <a:rPr lang="en-US" sz="1550" dirty="0">
                <a:solidFill>
                  <a:srgbClr val="16263B"/>
                </a:solidFill>
                <a:latin typeface="Arial" pitchFamily="34" charset="0"/>
                <a:ea typeface="Arial" pitchFamily="34" charset="-122"/>
                <a:cs typeface="Arial" pitchFamily="34" charset="-120"/>
              </a:rPr>
              <a:t>Track real outcomes (deadlines, tickets)</a:t>
            </a:r>
            <a:endParaRPr lang="en-US" sz="1550" dirty="0"/>
          </a:p>
        </p:txBody>
      </p:sp>
      <p:sp>
        <p:nvSpPr>
          <p:cNvPr id="10" name="Text 6"/>
          <p:cNvSpPr/>
          <p:nvPr/>
        </p:nvSpPr>
        <p:spPr>
          <a:xfrm>
            <a:off x="6675120" y="2377440"/>
            <a:ext cx="4846320" cy="640080"/>
          </a:xfrm>
          <a:prstGeom prst="rect">
            <a:avLst/>
          </a:prstGeom>
          <a:noFill/>
          <a:ln/>
        </p:spPr>
        <p:txBody>
          <a:bodyPr wrap="square" lIns="0" tIns="0" rIns="0" bIns="0" rtlCol="0" anchor="ctr"/>
          <a:lstStyle/>
          <a:p>
            <a:pPr algn="ctr" indent="0" marL="0">
              <a:buNone/>
            </a:pPr>
            <a:r>
              <a:rPr lang="en-US" sz="3600" b="1" dirty="0">
                <a:solidFill>
                  <a:srgbClr val="16263B"/>
                </a:solidFill>
                <a:latin typeface="Georgia" pitchFamily="34" charset="0"/>
                <a:ea typeface="Georgia" pitchFamily="34" charset="-122"/>
                <a:cs typeface="Georgia" pitchFamily="34" charset="-120"/>
              </a:rPr>
              <a:t>Questions?</a:t>
            </a:r>
            <a:endParaRPr lang="en-US" sz="3600" dirty="0"/>
          </a:p>
        </p:txBody>
      </p:sp>
      <p:sp>
        <p:nvSpPr>
          <p:cNvPr id="11" name="Text 7"/>
          <p:cNvSpPr/>
          <p:nvPr/>
        </p:nvSpPr>
        <p:spPr>
          <a:xfrm>
            <a:off x="6675120" y="3291840"/>
            <a:ext cx="4846320" cy="1005840"/>
          </a:xfrm>
          <a:prstGeom prst="rect">
            <a:avLst/>
          </a:prstGeom>
          <a:noFill/>
          <a:ln/>
        </p:spPr>
        <p:txBody>
          <a:bodyPr wrap="square" lIns="0" tIns="0" rIns="0" bIns="0" rtlCol="0" anchor="ctr"/>
          <a:lstStyle/>
          <a:p>
            <a:pPr algn="ctr" indent="0" marL="0">
              <a:buNone/>
            </a:pPr>
            <a:r>
              <a:rPr lang="en-US" sz="1400" b="1" dirty="0">
                <a:solidFill>
                  <a:srgbClr val="16263B"/>
                </a:solidFill>
                <a:latin typeface="Arial" pitchFamily="34" charset="0"/>
                <a:ea typeface="Arial" pitchFamily="34" charset="-122"/>
                <a:cs typeface="Arial" pitchFamily="34" charset="-120"/>
              </a:rPr>
              <a:t>Vernon T. Cox  ·  Srilatha Alla</a:t>
            </a:r>
            <a:endParaRPr lang="en-US" sz="1400" dirty="0"/>
          </a:p>
          <a:p>
            <a:pPr algn="ctr" indent="0" marL="0">
              <a:buNone/>
            </a:pPr>
            <a:r>
              <a:rPr lang="en-US" sz="1200" dirty="0">
                <a:solidFill>
                  <a:srgbClr val="5C6B7A"/>
                </a:solidFill>
                <a:latin typeface="Arial" pitchFamily="34" charset="0"/>
                <a:ea typeface="Arial" pitchFamily="34" charset="-122"/>
                <a:cs typeface="Arial" pitchFamily="34" charset="-120"/>
              </a:rPr>
              <a:t>Instructor: Robert Citek — CNM Ingenuity</a:t>
            </a:r>
            <a:endParaRPr lang="en-US" sz="1400" dirty="0"/>
          </a:p>
          <a:p>
            <a:pPr algn="ctr" indent="0" marL="0">
              <a:buNone/>
            </a:pPr>
            <a:r>
              <a:rPr lang="en-US" sz="1200" dirty="0">
                <a:solidFill>
                  <a:srgbClr val="5C6B7A"/>
                </a:solidFill>
                <a:latin typeface="Arial" pitchFamily="34" charset="0"/>
                <a:ea typeface="Arial" pitchFamily="34" charset="-122"/>
                <a:cs typeface="Arial" pitchFamily="34" charset="-120"/>
              </a:rPr>
              <a:t>SME: Prof. R. DelCampo — UNM Anderson</a:t>
            </a:r>
            <a:endParaRPr lang="en-US" sz="1400" dirty="0"/>
          </a:p>
        </p:txBody>
      </p:sp>
      <p:sp>
        <p:nvSpPr>
          <p:cNvPr id="12" name="Shape 8"/>
          <p:cNvSpPr/>
          <p:nvPr/>
        </p:nvSpPr>
        <p:spPr>
          <a:xfrm>
            <a:off x="10104120" y="4846320"/>
            <a:ext cx="1600200" cy="1600200"/>
          </a:xfrm>
          <a:prstGeom prst="roundRect">
            <a:avLst>
              <a:gd name="adj" fmla="val 4571"/>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pic>
        <p:nvPicPr>
          <p:cNvPr id="13" name="Image 2" descr="/home/claude/qr_colab.png"/>
          <p:cNvPicPr>
            <a:picLocks noChangeAspect="1"/>
          </p:cNvPicPr>
          <p:nvPr/>
        </p:nvPicPr>
        <p:blipFill>
          <a:blip r:embed="rId3"/>
          <a:stretch>
            <a:fillRect/>
          </a:stretch>
        </p:blipFill>
        <p:spPr>
          <a:xfrm>
            <a:off x="10264140" y="5006340"/>
            <a:ext cx="1280160" cy="1280160"/>
          </a:xfrm>
          <a:prstGeom prst="rect">
            <a:avLst/>
          </a:prstGeom>
        </p:spPr>
      </p:pic>
      <p:sp>
        <p:nvSpPr>
          <p:cNvPr id="14" name="Text 9"/>
          <p:cNvSpPr/>
          <p:nvPr/>
        </p:nvSpPr>
        <p:spPr>
          <a:xfrm>
            <a:off x="9692640" y="4553712"/>
            <a:ext cx="2423160" cy="256032"/>
          </a:xfrm>
          <a:prstGeom prst="rect">
            <a:avLst/>
          </a:prstGeom>
          <a:noFill/>
          <a:ln/>
        </p:spPr>
        <p:txBody>
          <a:bodyPr wrap="square" lIns="0" tIns="0" rIns="0" bIns="0" rtlCol="0" anchor="ctr"/>
          <a:lstStyle/>
          <a:p>
            <a:pPr algn="ctr" indent="0" marL="0">
              <a:buNone/>
            </a:pPr>
            <a:r>
              <a:rPr lang="en-US" sz="1050" b="1" dirty="0">
                <a:solidFill>
                  <a:srgbClr val="028090"/>
                </a:solidFill>
                <a:latin typeface="Arial" pitchFamily="34" charset="0"/>
                <a:ea typeface="Arial" pitchFamily="34" charset="-122"/>
                <a:cs typeface="Arial" pitchFamily="34" charset="-120"/>
              </a:rPr>
              <a:t>Scan to request a briefing</a:t>
            </a:r>
            <a:endParaRPr lang="en-US" sz="1050" dirty="0"/>
          </a:p>
        </p:txBody>
      </p:sp>
      <p:sp>
        <p:nvSpPr>
          <p:cNvPr id="15" name="Text 10"/>
          <p:cNvSpPr/>
          <p:nvPr/>
        </p:nvSpPr>
        <p:spPr>
          <a:xfrm>
            <a:off x="640080" y="6400800"/>
            <a:ext cx="548640" cy="274320"/>
          </a:xfrm>
          <a:prstGeom prst="rect">
            <a:avLst/>
          </a:prstGeom>
          <a:noFill/>
          <a:ln/>
        </p:spPr>
        <p:txBody>
          <a:bodyPr wrap="square" lIns="0" tIns="0" rIns="0" bIns="0" rtlCol="0" anchor="ctr"/>
          <a:lstStyle/>
          <a:p>
            <a:pPr algn="l" indent="0" marL="0">
              <a:buNone/>
            </a:pPr>
            <a:r>
              <a:rPr lang="en-US" sz="1000" dirty="0">
                <a:solidFill>
                  <a:srgbClr val="5C6B7A"/>
                </a:solidFill>
                <a:latin typeface="Arial" pitchFamily="34" charset="0"/>
                <a:ea typeface="Arial" pitchFamily="34" charset="-122"/>
                <a:cs typeface="Arial" pitchFamily="34" charset="-120"/>
              </a:rPr>
              <a:t>17</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9">
    <p:bg>
      <p:bgPr>
        <a:solidFill>
          <a:srgbClr val="EAF2F6"/>
        </a:solidFill>
      </p:bgPr>
    </p:bg>
    <p:spTree>
      <p:nvGrpSpPr>
        <p:cNvPr id="1" name=""/>
        <p:cNvGrpSpPr/>
        <p:nvPr/>
      </p:nvGrpSpPr>
      <p:grpSpPr>
        <a:xfrm>
          <a:off x="0" y="0"/>
          <a:ext cx="0" cy="0"/>
          <a:chOff x="0" y="0"/>
          <a:chExt cx="0" cy="0"/>
        </a:xfrm>
      </p:grpSpPr>
      <p:sp>
        <p:nvSpPr>
          <p:cNvPr id="2" name="Text 0"/>
          <p:cNvSpPr/>
          <p:nvPr/>
        </p:nvSpPr>
        <p:spPr>
          <a:xfrm>
            <a:off x="640080" y="502920"/>
            <a:ext cx="10058400" cy="274320"/>
          </a:xfrm>
          <a:prstGeom prst="rect">
            <a:avLst/>
          </a:prstGeom>
          <a:noFill/>
          <a:ln/>
        </p:spPr>
        <p:txBody>
          <a:bodyPr wrap="square" lIns="0" tIns="0" rIns="0" bIns="0" rtlCol="0" anchor="ctr"/>
          <a:lstStyle/>
          <a:p>
            <a:pPr algn="l" indent="0" marL="0">
              <a:buNone/>
            </a:pPr>
            <a:r>
              <a:rPr lang="en-US" sz="1200" b="1" spc="300" kern="0" dirty="0">
                <a:solidFill>
                  <a:srgbClr val="028090"/>
                </a:solidFill>
                <a:latin typeface="Arial" pitchFamily="34" charset="0"/>
                <a:ea typeface="Arial" pitchFamily="34" charset="-122"/>
                <a:cs typeface="Arial" pitchFamily="34" charset="-120"/>
              </a:rPr>
              <a:t>BEYOND RESPONSIVENESS · STAGE SIGNAL</a:t>
            </a:r>
            <a:endParaRPr lang="en-US" sz="1200" dirty="0"/>
          </a:p>
        </p:txBody>
      </p:sp>
      <p:sp>
        <p:nvSpPr>
          <p:cNvPr id="3" name="Text 1"/>
          <p:cNvSpPr/>
          <p:nvPr/>
        </p:nvSpPr>
        <p:spPr>
          <a:xfrm>
            <a:off x="640080" y="822960"/>
            <a:ext cx="9601200" cy="1097280"/>
          </a:xfrm>
          <a:prstGeom prst="rect">
            <a:avLst/>
          </a:prstGeom>
          <a:noFill/>
          <a:ln/>
        </p:spPr>
        <p:txBody>
          <a:bodyPr wrap="square" lIns="0" tIns="0" rIns="0" bIns="0" rtlCol="0" anchor="t"/>
          <a:lstStyle/>
          <a:p>
            <a:pPr algn="l" indent="0" marL="0">
              <a:buNone/>
            </a:pPr>
            <a:r>
              <a:rPr lang="en-US" sz="2900" b="1" dirty="0">
                <a:solidFill>
                  <a:srgbClr val="16263B"/>
                </a:solidFill>
                <a:latin typeface="Georgia" pitchFamily="34" charset="0"/>
                <a:ea typeface="Georgia" pitchFamily="34" charset="-122"/>
                <a:cs typeface="Georgia" pitchFamily="34" charset="-120"/>
              </a:rPr>
              <a:t>Where the team sits — by stage</a:t>
            </a:r>
            <a:endParaRPr lang="en-US" sz="2900" dirty="0"/>
          </a:p>
        </p:txBody>
      </p:sp>
      <p:sp>
        <p:nvSpPr>
          <p:cNvPr id="4" name="Shape 2"/>
          <p:cNvSpPr/>
          <p:nvPr/>
        </p:nvSpPr>
        <p:spPr>
          <a:xfrm>
            <a:off x="1155400" y="2210000"/>
            <a:ext cx="9881200" cy="3583923"/>
          </a:xfrm>
          <a:prstGeom prst="roundRect">
            <a:avLst>
              <a:gd name="adj" fmla="val 1895"/>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pic>
        <p:nvPicPr>
          <p:cNvPr id="5" name="Image 0" descr="/home/claude/nb_eda.png"/>
          <p:cNvPicPr>
            <a:picLocks noChangeAspect="1"/>
          </p:cNvPicPr>
          <p:nvPr/>
        </p:nvPicPr>
        <p:blipFill>
          <a:blip r:embed="rId1"/>
          <a:srcRect l="0" r="0" t="0" b="0"/>
          <a:stretch/>
        </p:blipFill>
        <p:spPr>
          <a:xfrm>
            <a:off x="1295400" y="2350000"/>
            <a:ext cx="9601200" cy="3303923"/>
          </a:xfrm>
          <a:prstGeom prst="rect">
            <a:avLst/>
          </a:prstGeom>
        </p:spPr>
      </p:pic>
      <p:sp>
        <p:nvSpPr>
          <p:cNvPr id="6" name="Text 3"/>
          <p:cNvSpPr/>
          <p:nvPr/>
        </p:nvSpPr>
        <p:spPr>
          <a:xfrm>
            <a:off x="1295400" y="5760000"/>
            <a:ext cx="9601200" cy="520000"/>
          </a:xfrm>
          <a:prstGeom prst="rect">
            <a:avLst/>
          </a:prstGeom>
          <a:noFill/>
          <a:ln/>
        </p:spPr>
        <p:txBody>
          <a:bodyPr wrap="square" lIns="0" tIns="0" rIns="0" bIns="0" rtlCol="0" anchor="ctr"/>
          <a:lstStyle/>
          <a:p>
            <a:pPr algn="ctr" indent="0" marL="0">
              <a:buNone/>
            </a:pPr>
            <a:r>
              <a:rPr lang="en-US" sz="1150" i="1" dirty="0">
                <a:solidFill>
                  <a:srgbClr val="5C6B7A"/>
                </a:solidFill>
                <a:latin typeface="Arial" pitchFamily="34" charset="0"/>
                <a:ea typeface="Arial" pitchFamily="34" charset="-122"/>
                <a:cs typeface="Arial" pitchFamily="34" charset="-120"/>
              </a:rPr>
              <a:t>OTQ maps the same engagement patterns onto two team-stage frameworks (Tuckman &amp; Logan). An indicative signal to discuss — not a validated team-development or culture diagnosis.</a:t>
            </a:r>
            <a:endParaRPr lang="en-US" sz="1150" dirty="0"/>
          </a:p>
        </p:txBody>
      </p:sp>
      <p:sp>
        <p:nvSpPr>
          <p:cNvPr id="7" name="Shape 4"/>
          <p:cNvSpPr/>
          <p:nvPr/>
        </p:nvSpPr>
        <p:spPr>
          <a:xfrm>
            <a:off x="10698480" y="274320"/>
            <a:ext cx="1097280" cy="1097280"/>
          </a:xfrm>
          <a:prstGeom prst="roundRect">
            <a:avLst>
              <a:gd name="adj" fmla="val 5833"/>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pic>
        <p:nvPicPr>
          <p:cNvPr id="8" name="Image 1" descr="/home/claude/qr_colab.png"/>
          <p:cNvPicPr>
            <a:picLocks noChangeAspect="1"/>
          </p:cNvPicPr>
          <p:nvPr/>
        </p:nvPicPr>
        <p:blipFill>
          <a:blip r:embed="rId2"/>
          <a:stretch>
            <a:fillRect/>
          </a:stretch>
        </p:blipFill>
        <p:spPr>
          <a:xfrm>
            <a:off x="10808208" y="384048"/>
            <a:ext cx="877824" cy="877824"/>
          </a:xfrm>
          <a:prstGeom prst="rect">
            <a:avLst/>
          </a:prstGeom>
        </p:spPr>
      </p:pic>
      <p:sp>
        <p:nvSpPr>
          <p:cNvPr id="9" name="Text 5"/>
          <p:cNvSpPr/>
          <p:nvPr/>
        </p:nvSpPr>
        <p:spPr>
          <a:xfrm>
            <a:off x="10424160" y="1399032"/>
            <a:ext cx="1645920" cy="201168"/>
          </a:xfrm>
          <a:prstGeom prst="rect">
            <a:avLst/>
          </a:prstGeom>
          <a:noFill/>
          <a:ln/>
        </p:spPr>
        <p:txBody>
          <a:bodyPr wrap="square" lIns="0" tIns="0" rIns="0" bIns="0" rtlCol="0" anchor="ctr"/>
          <a:lstStyle/>
          <a:p>
            <a:pPr algn="ctr" indent="0" marL="0">
              <a:buNone/>
            </a:pPr>
            <a:r>
              <a:rPr lang="en-US" sz="850" b="1" dirty="0">
                <a:solidFill>
                  <a:srgbClr val="028090"/>
                </a:solidFill>
                <a:latin typeface="Arial" pitchFamily="34" charset="0"/>
                <a:ea typeface="Arial" pitchFamily="34" charset="-122"/>
                <a:cs typeface="Arial" pitchFamily="34" charset="-120"/>
              </a:rPr>
              <a:t>Scan · Request a briefing</a:t>
            </a:r>
            <a:endParaRPr lang="en-US" sz="850" dirty="0"/>
          </a:p>
        </p:txBody>
      </p:sp>
      <p:sp>
        <p:nvSpPr>
          <p:cNvPr id="10" name="Text 6"/>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000" dirty="0">
                <a:solidFill>
                  <a:srgbClr val="5C6B7A"/>
                </a:solidFill>
                <a:latin typeface="Arial" pitchFamily="34" charset="0"/>
                <a:ea typeface="Arial" pitchFamily="34" charset="-122"/>
                <a:cs typeface="Arial" pitchFamily="34" charset="-120"/>
              </a:rPr>
              <a:t>14</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9">
    <p:bg>
      <p:bgPr>
        <a:solidFill>
          <a:srgbClr val="EAF2F6"/>
        </a:solidFill>
      </p:bgPr>
    </p:bg>
    <p:spTree>
      <p:nvGrpSpPr>
        <p:cNvPr id="1" name=""/>
        <p:cNvGrpSpPr/>
        <p:nvPr/>
      </p:nvGrpSpPr>
      <p:grpSpPr>
        <a:xfrm>
          <a:off x="0" y="0"/>
          <a:ext cx="0" cy="0"/>
          <a:chOff x="0" y="0"/>
          <a:chExt cx="0" cy="0"/>
        </a:xfrm>
      </p:grpSpPr>
      <p:sp>
        <p:nvSpPr>
          <p:cNvPr id="2" name="Text 0"/>
          <p:cNvSpPr/>
          <p:nvPr/>
        </p:nvSpPr>
        <p:spPr>
          <a:xfrm>
            <a:off x="640080" y="502920"/>
            <a:ext cx="10058400" cy="274320"/>
          </a:xfrm>
          <a:prstGeom prst="rect">
            <a:avLst/>
          </a:prstGeom>
          <a:noFill/>
          <a:ln/>
        </p:spPr>
        <p:txBody>
          <a:bodyPr wrap="square" lIns="0" tIns="0" rIns="0" bIns="0" rtlCol="0" anchor="ctr"/>
          <a:lstStyle/>
          <a:p>
            <a:pPr algn="l" indent="0" marL="0">
              <a:buNone/>
            </a:pPr>
            <a:r>
              <a:rPr lang="en-US" sz="1200" b="1" spc="300" kern="0" dirty="0">
                <a:solidFill>
                  <a:srgbClr val="028090"/>
                </a:solidFill>
                <a:latin typeface="Arial" pitchFamily="34" charset="0"/>
                <a:ea typeface="Arial" pitchFamily="34" charset="-122"/>
                <a:cs typeface="Arial" pitchFamily="34" charset="-120"/>
              </a:rPr>
              <a:t>THE VERDICT</a:t>
            </a:r>
            <a:endParaRPr lang="en-US" sz="1200" dirty="0"/>
          </a:p>
        </p:txBody>
      </p:sp>
      <p:sp>
        <p:nvSpPr>
          <p:cNvPr id="3" name="Text 1"/>
          <p:cNvSpPr/>
          <p:nvPr/>
        </p:nvSpPr>
        <p:spPr>
          <a:xfrm>
            <a:off x="640080" y="822960"/>
            <a:ext cx="9601200" cy="1097280"/>
          </a:xfrm>
          <a:prstGeom prst="rect">
            <a:avLst/>
          </a:prstGeom>
          <a:noFill/>
          <a:ln/>
        </p:spPr>
        <p:txBody>
          <a:bodyPr wrap="square" lIns="0" tIns="0" rIns="0" bIns="0" rtlCol="0" anchor="t"/>
          <a:lstStyle/>
          <a:p>
            <a:pPr algn="l" indent="0" marL="0">
              <a:buNone/>
            </a:pPr>
            <a:r>
              <a:rPr lang="en-US" sz="2900" b="1" dirty="0">
                <a:solidFill>
                  <a:srgbClr val="16263B"/>
                </a:solidFill>
                <a:latin typeface="Georgia" pitchFamily="34" charset="0"/>
                <a:ea typeface="Georgia" pitchFamily="34" charset="-122"/>
                <a:cs typeface="Georgia" pitchFamily="34" charset="-120"/>
              </a:rPr>
              <a:t>The stage read, in one view</a:t>
            </a:r>
            <a:endParaRPr lang="en-US" sz="2900" dirty="0"/>
          </a:p>
        </p:txBody>
      </p:sp>
      <p:sp>
        <p:nvSpPr>
          <p:cNvPr id="4" name="Shape 2"/>
          <p:cNvSpPr/>
          <p:nvPr/>
        </p:nvSpPr>
        <p:spPr>
          <a:xfrm>
            <a:off x="1155400" y="2360000"/>
            <a:ext cx="9881200" cy="3158000"/>
          </a:xfrm>
          <a:prstGeom prst="roundRect">
            <a:avLst>
              <a:gd name="adj" fmla="val 1895"/>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pic>
        <p:nvPicPr>
          <p:cNvPr id="5" name="Image 0" descr="/home/claude/nb_eda.png"/>
          <p:cNvPicPr>
            <a:picLocks noChangeAspect="1"/>
          </p:cNvPicPr>
          <p:nvPr/>
        </p:nvPicPr>
        <p:blipFill>
          <a:blip r:embed="rId1"/>
          <a:srcRect l="0" r="0" t="0" b="0"/>
          <a:stretch/>
        </p:blipFill>
        <p:spPr>
          <a:xfrm>
            <a:off x="1295400" y="2500000"/>
            <a:ext cx="9601200" cy="2878000"/>
          </a:xfrm>
          <a:prstGeom prst="rect">
            <a:avLst/>
          </a:prstGeom>
        </p:spPr>
      </p:pic>
      <p:sp>
        <p:nvSpPr>
          <p:cNvPr id="6" name="Text 3"/>
          <p:cNvSpPr/>
          <p:nvPr/>
        </p:nvSpPr>
        <p:spPr>
          <a:xfrm>
            <a:off x="1295400" y="5560000"/>
            <a:ext cx="9601200" cy="520000"/>
          </a:xfrm>
          <a:prstGeom prst="rect">
            <a:avLst/>
          </a:prstGeom>
          <a:noFill/>
          <a:ln/>
        </p:spPr>
        <p:txBody>
          <a:bodyPr wrap="square" lIns="0" tIns="0" rIns="0" bIns="0" rtlCol="0" anchor="ctr"/>
          <a:lstStyle/>
          <a:p>
            <a:pPr algn="ctr" indent="0" marL="0">
              <a:buNone/>
            </a:pPr>
            <a:r>
              <a:rPr lang="en-US" sz="1150" i="1" dirty="0">
                <a:solidFill>
                  <a:srgbClr val="5C6B7A"/>
                </a:solidFill>
                <a:latin typeface="Arial" pitchFamily="34" charset="0"/>
                <a:ea typeface="Arial" pitchFamily="34" charset="-122"/>
                <a:cs typeface="Arial" pitchFamily="34" charset="-120"/>
              </a:rPr>
              <a:t>Diagnosed stage on each track with a confidence score, plus the underlying metrics (1,250 events · 184 actors · Jun–Nov 2025). An engagement-based indicator, not a clinical assessment.</a:t>
            </a:r>
            <a:endParaRPr lang="en-US" sz="1150" dirty="0"/>
          </a:p>
        </p:txBody>
      </p:sp>
      <p:sp>
        <p:nvSpPr>
          <p:cNvPr id="7" name="Shape 4"/>
          <p:cNvSpPr/>
          <p:nvPr/>
        </p:nvSpPr>
        <p:spPr>
          <a:xfrm>
            <a:off x="10698480" y="274320"/>
            <a:ext cx="1097280" cy="1097280"/>
          </a:xfrm>
          <a:prstGeom prst="roundRect">
            <a:avLst>
              <a:gd name="adj" fmla="val 5833"/>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pic>
        <p:nvPicPr>
          <p:cNvPr id="8" name="Image 1" descr="/home/claude/qr_colab.png"/>
          <p:cNvPicPr>
            <a:picLocks noChangeAspect="1"/>
          </p:cNvPicPr>
          <p:nvPr/>
        </p:nvPicPr>
        <p:blipFill>
          <a:blip r:embed="rId2"/>
          <a:stretch>
            <a:fillRect/>
          </a:stretch>
        </p:blipFill>
        <p:spPr>
          <a:xfrm>
            <a:off x="10808208" y="384048"/>
            <a:ext cx="877824" cy="877824"/>
          </a:xfrm>
          <a:prstGeom prst="rect">
            <a:avLst/>
          </a:prstGeom>
        </p:spPr>
      </p:pic>
      <p:sp>
        <p:nvSpPr>
          <p:cNvPr id="9" name="Text 5"/>
          <p:cNvSpPr/>
          <p:nvPr/>
        </p:nvSpPr>
        <p:spPr>
          <a:xfrm>
            <a:off x="10424160" y="1399032"/>
            <a:ext cx="1645920" cy="201168"/>
          </a:xfrm>
          <a:prstGeom prst="rect">
            <a:avLst/>
          </a:prstGeom>
          <a:noFill/>
          <a:ln/>
        </p:spPr>
        <p:txBody>
          <a:bodyPr wrap="square" lIns="0" tIns="0" rIns="0" bIns="0" rtlCol="0" anchor="ctr"/>
          <a:lstStyle/>
          <a:p>
            <a:pPr algn="ctr" indent="0" marL="0">
              <a:buNone/>
            </a:pPr>
            <a:r>
              <a:rPr lang="en-US" sz="850" b="1" dirty="0">
                <a:solidFill>
                  <a:srgbClr val="028090"/>
                </a:solidFill>
                <a:latin typeface="Arial" pitchFamily="34" charset="0"/>
                <a:ea typeface="Arial" pitchFamily="34" charset="-122"/>
                <a:cs typeface="Arial" pitchFamily="34" charset="-120"/>
              </a:rPr>
              <a:t>Scan · Request a briefing</a:t>
            </a:r>
            <a:endParaRPr lang="en-US" sz="850" dirty="0"/>
          </a:p>
        </p:txBody>
      </p:sp>
      <p:sp>
        <p:nvSpPr>
          <p:cNvPr id="10" name="Text 6"/>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000" dirty="0">
                <a:solidFill>
                  <a:srgbClr val="5C6B7A"/>
                </a:solidFill>
                <a:latin typeface="Arial" pitchFamily="34" charset="0"/>
                <a:ea typeface="Arial" pitchFamily="34" charset="-122"/>
                <a:cs typeface="Arial" pitchFamily="34" charset="-120"/>
              </a:rPr>
              <a:t>15</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9">
    <p:bg>
      <p:bgPr>
        <a:solidFill>
          <a:srgbClr val="EAF2F6"/>
        </a:solidFill>
      </p:bgPr>
    </p:bg>
    <p:spTree>
      <p:nvGrpSpPr>
        <p:cNvPr id="1" name=""/>
        <p:cNvGrpSpPr/>
        <p:nvPr/>
      </p:nvGrpSpPr>
      <p:grpSpPr>
        <a:xfrm>
          <a:off x="0" y="0"/>
          <a:ext cx="0" cy="0"/>
          <a:chOff x="0" y="0"/>
          <a:chExt cx="0" cy="0"/>
        </a:xfrm>
      </p:grpSpPr>
      <p:sp>
        <p:nvSpPr>
          <p:cNvPr id="2" name="Text 0"/>
          <p:cNvSpPr/>
          <p:nvPr/>
        </p:nvSpPr>
        <p:spPr>
          <a:xfrm>
            <a:off x="640080" y="502920"/>
            <a:ext cx="10058400" cy="274320"/>
          </a:xfrm>
          <a:prstGeom prst="rect">
            <a:avLst/>
          </a:prstGeom>
          <a:noFill/>
          <a:ln/>
        </p:spPr>
        <p:txBody>
          <a:bodyPr wrap="square" lIns="0" tIns="0" rIns="0" bIns="0" rtlCol="0" anchor="ctr"/>
          <a:lstStyle/>
          <a:p>
            <a:pPr algn="l" indent="0" marL="0">
              <a:buNone/>
            </a:pPr>
            <a:r>
              <a:rPr lang="en-US" sz="1200" b="1" spc="300" kern="0" dirty="0">
                <a:solidFill>
                  <a:srgbClr val="028090"/>
                </a:solidFill>
                <a:latin typeface="Arial" pitchFamily="34" charset="0"/>
                <a:ea typeface="Arial" pitchFamily="34" charset="-122"/>
                <a:cs typeface="Arial" pitchFamily="34" charset="-120"/>
              </a:rPr>
              <a:t>STAGE DIAGNOSIS · FULL BREAKDOWN</a:t>
            </a:r>
            <a:endParaRPr lang="en-US" sz="1200" dirty="0"/>
          </a:p>
        </p:txBody>
      </p:sp>
      <p:sp>
        <p:nvSpPr>
          <p:cNvPr id="3" name="Text 1"/>
          <p:cNvSpPr/>
          <p:nvPr/>
        </p:nvSpPr>
        <p:spPr>
          <a:xfrm>
            <a:off x="640080" y="822960"/>
            <a:ext cx="9601200" cy="1097280"/>
          </a:xfrm>
          <a:prstGeom prst="rect">
            <a:avLst/>
          </a:prstGeom>
          <a:noFill/>
          <a:ln/>
        </p:spPr>
        <p:txBody>
          <a:bodyPr wrap="square" lIns="0" tIns="0" rIns="0" bIns="0" rtlCol="0" anchor="t"/>
          <a:lstStyle/>
          <a:p>
            <a:pPr algn="l" indent="0" marL="0">
              <a:buNone/>
            </a:pPr>
            <a:r>
              <a:rPr lang="en-US" sz="2900" b="1" dirty="0">
                <a:solidFill>
                  <a:srgbClr val="16263B"/>
                </a:solidFill>
                <a:latin typeface="Georgia" pitchFamily="34" charset="0"/>
                <a:ea typeface="Georgia" pitchFamily="34" charset="-122"/>
                <a:cs typeface="Georgia" pitchFamily="34" charset="-120"/>
              </a:rPr>
              <a:t>Every stage, scored</a:t>
            </a:r>
            <a:endParaRPr lang="en-US" sz="2900" dirty="0"/>
          </a:p>
        </p:txBody>
      </p:sp>
      <p:sp>
        <p:nvSpPr>
          <p:cNvPr id="4" name="Shape 2"/>
          <p:cNvSpPr/>
          <p:nvPr/>
        </p:nvSpPr>
        <p:spPr>
          <a:xfrm>
            <a:off x="1828800" y="1783080"/>
            <a:ext cx="8503920" cy="4343400"/>
          </a:xfrm>
          <a:prstGeom prst="roundRect">
            <a:avLst>
              <a:gd name="adj" fmla="val 1895"/>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pic>
        <p:nvPicPr>
          <p:cNvPr id="5" name="Image 0" descr="/home/claude/nb_eda.png"/>
          <p:cNvPicPr>
            <a:picLocks noChangeAspect="1"/>
          </p:cNvPicPr>
          <p:nvPr/>
        </p:nvPicPr>
        <p:blipFill>
          <a:blip r:embed="rId1"/>
          <a:srcRect l="0" r="0" t="0" b="0"/>
          <a:stretch/>
        </p:blipFill>
        <p:spPr>
          <a:xfrm>
            <a:off x="1975104" y="1929384"/>
            <a:ext cx="8211312" cy="4050792"/>
          </a:xfrm>
          <a:prstGeom prst="rect">
            <a:avLst/>
          </a:prstGeom>
        </p:spPr>
      </p:pic>
      <p:sp>
        <p:nvSpPr>
          <p:cNvPr id="6" name="Text 3"/>
          <p:cNvSpPr/>
          <p:nvPr/>
        </p:nvSpPr>
        <p:spPr>
          <a:xfrm>
            <a:off x="1828800" y="6144768"/>
            <a:ext cx="8503920" cy="274320"/>
          </a:xfrm>
          <a:prstGeom prst="rect">
            <a:avLst/>
          </a:prstGeom>
          <a:noFill/>
          <a:ln/>
        </p:spPr>
        <p:txBody>
          <a:bodyPr wrap="square" lIns="0" tIns="0" rIns="0" bIns="0" rtlCol="0" anchor="ctr"/>
          <a:lstStyle/>
          <a:p>
            <a:pPr algn="ctr" indent="0" marL="0">
              <a:buNone/>
            </a:pPr>
            <a:r>
              <a:rPr lang="en-US" sz="1150" i="1" dirty="0">
                <a:solidFill>
                  <a:srgbClr val="5C6B7A"/>
                </a:solidFill>
                <a:latin typeface="Arial" pitchFamily="34" charset="0"/>
                <a:ea typeface="Arial" pitchFamily="34" charset="-122"/>
                <a:cs typeface="Arial" pitchFamily="34" charset="-120"/>
              </a:rPr>
              <a:t>Full Tuckman and Logan scores, ranked. An engagement-based indicator for discussion — not a validated team-development or culture diagnosis.</a:t>
            </a:r>
            <a:endParaRPr lang="en-US" sz="1150" dirty="0"/>
          </a:p>
        </p:txBody>
      </p:sp>
      <p:sp>
        <p:nvSpPr>
          <p:cNvPr id="7" name="Shape 4"/>
          <p:cNvSpPr/>
          <p:nvPr/>
        </p:nvSpPr>
        <p:spPr>
          <a:xfrm>
            <a:off x="10698480" y="274320"/>
            <a:ext cx="1097280" cy="1097280"/>
          </a:xfrm>
          <a:prstGeom prst="roundRect">
            <a:avLst>
              <a:gd name="adj" fmla="val 5833"/>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pic>
        <p:nvPicPr>
          <p:cNvPr id="8" name="Image 1" descr="/home/claude/qr_colab.png"/>
          <p:cNvPicPr>
            <a:picLocks noChangeAspect="1"/>
          </p:cNvPicPr>
          <p:nvPr/>
        </p:nvPicPr>
        <p:blipFill>
          <a:blip r:embed="rId2"/>
          <a:stretch>
            <a:fillRect/>
          </a:stretch>
        </p:blipFill>
        <p:spPr>
          <a:xfrm>
            <a:off x="10808208" y="384048"/>
            <a:ext cx="877824" cy="877824"/>
          </a:xfrm>
          <a:prstGeom prst="rect">
            <a:avLst/>
          </a:prstGeom>
        </p:spPr>
      </p:pic>
      <p:sp>
        <p:nvSpPr>
          <p:cNvPr id="9" name="Text 5"/>
          <p:cNvSpPr/>
          <p:nvPr/>
        </p:nvSpPr>
        <p:spPr>
          <a:xfrm>
            <a:off x="10424160" y="1399032"/>
            <a:ext cx="1645920" cy="201168"/>
          </a:xfrm>
          <a:prstGeom prst="rect">
            <a:avLst/>
          </a:prstGeom>
          <a:noFill/>
          <a:ln/>
        </p:spPr>
        <p:txBody>
          <a:bodyPr wrap="square" lIns="0" tIns="0" rIns="0" bIns="0" rtlCol="0" anchor="ctr"/>
          <a:lstStyle/>
          <a:p>
            <a:pPr algn="ctr" indent="0" marL="0">
              <a:buNone/>
            </a:pPr>
            <a:r>
              <a:rPr lang="en-US" sz="850" b="1" dirty="0">
                <a:solidFill>
                  <a:srgbClr val="028090"/>
                </a:solidFill>
                <a:latin typeface="Arial" pitchFamily="34" charset="0"/>
                <a:ea typeface="Arial" pitchFamily="34" charset="-122"/>
                <a:cs typeface="Arial" pitchFamily="34" charset="-120"/>
              </a:rPr>
              <a:t>Scan · Request a briefing</a:t>
            </a:r>
            <a:endParaRPr lang="en-US" sz="850" dirty="0"/>
          </a:p>
        </p:txBody>
      </p:sp>
      <p:sp>
        <p:nvSpPr>
          <p:cNvPr id="10" name="Text 6"/>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000" dirty="0">
                <a:solidFill>
                  <a:srgbClr val="5C6B7A"/>
                </a:solidFill>
                <a:latin typeface="Arial" pitchFamily="34" charset="0"/>
                <a:ea typeface="Arial" pitchFamily="34" charset="-122"/>
                <a:cs typeface="Arial" pitchFamily="34" charset="-120"/>
              </a:rPr>
              <a:t>13</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4">
    <p:bg>
      <p:bgPr>
        <a:solidFill>
          <a:srgbClr val="EAF2F6"/>
        </a:solidFill>
      </p:bgPr>
    </p:bg>
    <p:spTree>
      <p:nvGrpSpPr>
        <p:cNvPr id="1" name=""/>
        <p:cNvGrpSpPr/>
        <p:nvPr/>
      </p:nvGrpSpPr>
      <p:grpSpPr>
        <a:xfrm>
          <a:off x="0" y="0"/>
          <a:ext cx="0" cy="0"/>
          <a:chOff x="0" y="0"/>
          <a:chExt cx="0" cy="0"/>
        </a:xfrm>
      </p:grpSpPr>
      <p:sp>
        <p:nvSpPr>
          <p:cNvPr id="2" name="Text 0"/>
          <p:cNvSpPr/>
          <p:nvPr/>
        </p:nvSpPr>
        <p:spPr>
          <a:xfrm>
            <a:off x="640080" y="502920"/>
            <a:ext cx="10058400" cy="274320"/>
          </a:xfrm>
          <a:prstGeom prst="rect">
            <a:avLst/>
          </a:prstGeom>
          <a:noFill/>
          <a:ln/>
        </p:spPr>
        <p:txBody>
          <a:bodyPr wrap="square" lIns="0" tIns="0" rIns="0" bIns="0" rtlCol="0" anchor="ctr"/>
          <a:lstStyle/>
          <a:p>
            <a:pPr algn="l" indent="0" marL="0">
              <a:buNone/>
            </a:pPr>
            <a:r>
              <a:rPr lang="en-US" sz="1200" b="1" spc="300" kern="0" dirty="0">
                <a:solidFill>
                  <a:srgbClr val="028090"/>
                </a:solidFill>
                <a:latin typeface="Arial" pitchFamily="34" charset="0"/>
                <a:ea typeface="Arial" pitchFamily="34" charset="-122"/>
                <a:cs typeface="Arial" pitchFamily="34" charset="-120"/>
              </a:rPr>
              <a:t>THE BUSINESS PROBLEM</a:t>
            </a:r>
            <a:endParaRPr lang="en-US" sz="1200" dirty="0"/>
          </a:p>
        </p:txBody>
      </p:sp>
      <p:sp>
        <p:nvSpPr>
          <p:cNvPr id="3" name="Text 1"/>
          <p:cNvSpPr/>
          <p:nvPr/>
        </p:nvSpPr>
        <p:spPr>
          <a:xfrm>
            <a:off x="640080" y="822960"/>
            <a:ext cx="9601200" cy="1097280"/>
          </a:xfrm>
          <a:prstGeom prst="rect">
            <a:avLst/>
          </a:prstGeom>
          <a:noFill/>
          <a:ln/>
        </p:spPr>
        <p:txBody>
          <a:bodyPr wrap="square" lIns="0" tIns="0" rIns="0" bIns="0" rtlCol="0" anchor="t"/>
          <a:lstStyle/>
          <a:p>
            <a:pPr algn="l" indent="0" marL="0">
              <a:buNone/>
            </a:pPr>
            <a:r>
              <a:rPr lang="en-US" sz="2900" b="1" dirty="0">
                <a:solidFill>
                  <a:srgbClr val="16263B"/>
                </a:solidFill>
                <a:latin typeface="Georgia" pitchFamily="34" charset="0"/>
                <a:ea typeface="Georgia" pitchFamily="34" charset="-122"/>
                <a:cs typeface="Georgia" pitchFamily="34" charset="-120"/>
              </a:rPr>
              <a:t>Unfocused, disjointed, unheard teams cost time and money</a:t>
            </a:r>
            <a:endParaRPr lang="en-US" sz="2900" dirty="0"/>
          </a:p>
        </p:txBody>
      </p:sp>
      <p:sp>
        <p:nvSpPr>
          <p:cNvPr id="4" name="Shape 2"/>
          <p:cNvSpPr/>
          <p:nvPr/>
        </p:nvSpPr>
        <p:spPr>
          <a:xfrm>
            <a:off x="640080" y="1828800"/>
            <a:ext cx="3383280" cy="3200400"/>
          </a:xfrm>
          <a:prstGeom prst="roundRect">
            <a:avLst>
              <a:gd name="adj" fmla="val 2571"/>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5" name="Shape 3"/>
          <p:cNvSpPr/>
          <p:nvPr/>
        </p:nvSpPr>
        <p:spPr>
          <a:xfrm>
            <a:off x="1947672" y="2103120"/>
            <a:ext cx="768096" cy="768096"/>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6" name="Image 0" descr="preencoded.png"/>
          <p:cNvPicPr>
            <a:picLocks noChangeAspect="1"/>
          </p:cNvPicPr>
          <p:nvPr/>
        </p:nvPicPr>
        <p:blipFill>
          <a:blip r:embed="rId1"/>
          <a:stretch>
            <a:fillRect/>
          </a:stretch>
        </p:blipFill>
        <p:spPr>
          <a:xfrm>
            <a:off x="2147377" y="2302825"/>
            <a:ext cx="368686" cy="368686"/>
          </a:xfrm>
          <a:prstGeom prst="rect">
            <a:avLst/>
          </a:prstGeom>
        </p:spPr>
      </p:pic>
      <p:sp>
        <p:nvSpPr>
          <p:cNvPr id="7" name="Text 4"/>
          <p:cNvSpPr/>
          <p:nvPr/>
        </p:nvSpPr>
        <p:spPr>
          <a:xfrm>
            <a:off x="640080" y="3017520"/>
            <a:ext cx="3383280" cy="274320"/>
          </a:xfrm>
          <a:prstGeom prst="rect">
            <a:avLst/>
          </a:prstGeom>
          <a:noFill/>
          <a:ln/>
        </p:spPr>
        <p:txBody>
          <a:bodyPr wrap="square" lIns="0" tIns="0" rIns="0" bIns="0" rtlCol="0" anchor="ctr"/>
          <a:lstStyle/>
          <a:p>
            <a:pPr algn="ctr" indent="0" marL="0">
              <a:buNone/>
            </a:pPr>
            <a:r>
              <a:rPr lang="en-US" sz="1200" b="1" spc="200" kern="0" dirty="0">
                <a:solidFill>
                  <a:srgbClr val="028090"/>
                </a:solidFill>
                <a:latin typeface="Arial" pitchFamily="34" charset="0"/>
                <a:ea typeface="Arial" pitchFamily="34" charset="-122"/>
                <a:cs typeface="Arial" pitchFamily="34" charset="-120"/>
              </a:rPr>
              <a:t>PULLED APART</a:t>
            </a:r>
            <a:endParaRPr lang="en-US" sz="1200" dirty="0"/>
          </a:p>
        </p:txBody>
      </p:sp>
      <p:sp>
        <p:nvSpPr>
          <p:cNvPr id="8" name="Text 5"/>
          <p:cNvSpPr/>
          <p:nvPr/>
        </p:nvSpPr>
        <p:spPr>
          <a:xfrm>
            <a:off x="822960" y="3310128"/>
            <a:ext cx="3017520" cy="502920"/>
          </a:xfrm>
          <a:prstGeom prst="rect">
            <a:avLst/>
          </a:prstGeom>
          <a:noFill/>
          <a:ln/>
        </p:spPr>
        <p:txBody>
          <a:bodyPr wrap="square" lIns="0" tIns="0" rIns="0" bIns="0" rtlCol="0" anchor="ctr"/>
          <a:lstStyle/>
          <a:p>
            <a:pPr algn="ctr" indent="0" marL="0">
              <a:buNone/>
            </a:pPr>
            <a:r>
              <a:rPr lang="en-US" sz="2400" b="1" dirty="0">
                <a:solidFill>
                  <a:srgbClr val="16263B"/>
                </a:solidFill>
                <a:latin typeface="Georgia" pitchFamily="34" charset="0"/>
                <a:ea typeface="Georgia" pitchFamily="34" charset="-122"/>
                <a:cs typeface="Georgia" pitchFamily="34" charset="-120"/>
              </a:rPr>
              <a:t>Unfocused</a:t>
            </a:r>
            <a:endParaRPr lang="en-US" sz="2400" dirty="0"/>
          </a:p>
        </p:txBody>
      </p:sp>
      <p:sp>
        <p:nvSpPr>
          <p:cNvPr id="9" name="Text 6"/>
          <p:cNvSpPr/>
          <p:nvPr/>
        </p:nvSpPr>
        <p:spPr>
          <a:xfrm>
            <a:off x="868680" y="3931920"/>
            <a:ext cx="2926080" cy="822960"/>
          </a:xfrm>
          <a:prstGeom prst="rect">
            <a:avLst/>
          </a:prstGeom>
          <a:noFill/>
          <a:ln/>
        </p:spPr>
        <p:txBody>
          <a:bodyPr wrap="square" lIns="0" tIns="0" rIns="0" bIns="0" rtlCol="0" anchor="ctr"/>
          <a:lstStyle/>
          <a:p>
            <a:pPr algn="ctr" indent="0" marL="0">
              <a:buNone/>
            </a:pPr>
            <a:r>
              <a:rPr lang="en-US" sz="1350" dirty="0">
                <a:solidFill>
                  <a:srgbClr val="5C6B7A"/>
                </a:solidFill>
                <a:latin typeface="Arial" pitchFamily="34" charset="0"/>
                <a:ea typeface="Arial" pitchFamily="34" charset="-122"/>
                <a:cs typeface="Arial" pitchFamily="34" charset="-120"/>
              </a:rPr>
              <a:t>effort scatters, priorities blur</a:t>
            </a:r>
            <a:endParaRPr lang="en-US" sz="1350" dirty="0"/>
          </a:p>
        </p:txBody>
      </p:sp>
      <p:sp>
        <p:nvSpPr>
          <p:cNvPr id="10" name="Text 7"/>
          <p:cNvSpPr/>
          <p:nvPr/>
        </p:nvSpPr>
        <p:spPr>
          <a:xfrm>
            <a:off x="3977640" y="2743200"/>
            <a:ext cx="457200" cy="548640"/>
          </a:xfrm>
          <a:prstGeom prst="rect">
            <a:avLst/>
          </a:prstGeom>
          <a:noFill/>
          <a:ln/>
        </p:spPr>
        <p:txBody>
          <a:bodyPr wrap="square" lIns="0" tIns="0" rIns="0" bIns="0" rtlCol="0" anchor="ctr"/>
          <a:lstStyle/>
          <a:p>
            <a:pPr algn="ctr" indent="0" marL="0">
              <a:buNone/>
            </a:pPr>
            <a:r>
              <a:rPr lang="en-US" sz="3200" b="1" dirty="0">
                <a:solidFill>
                  <a:srgbClr val="028090"/>
                </a:solidFill>
                <a:latin typeface="Arial" pitchFamily="34" charset="0"/>
                <a:ea typeface="Arial" pitchFamily="34" charset="-122"/>
                <a:cs typeface="Arial" pitchFamily="34" charset="-120"/>
              </a:rPr>
              <a:t>+</a:t>
            </a:r>
            <a:endParaRPr lang="en-US" sz="3200" dirty="0"/>
          </a:p>
        </p:txBody>
      </p:sp>
      <p:sp>
        <p:nvSpPr>
          <p:cNvPr id="11" name="Shape 8"/>
          <p:cNvSpPr/>
          <p:nvPr/>
        </p:nvSpPr>
        <p:spPr>
          <a:xfrm>
            <a:off x="4389120" y="1828800"/>
            <a:ext cx="3383280" cy="3200400"/>
          </a:xfrm>
          <a:prstGeom prst="roundRect">
            <a:avLst>
              <a:gd name="adj" fmla="val 2571"/>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2" name="Shape 9"/>
          <p:cNvSpPr/>
          <p:nvPr/>
        </p:nvSpPr>
        <p:spPr>
          <a:xfrm>
            <a:off x="5696712" y="2103120"/>
            <a:ext cx="768096" cy="768096"/>
          </a:xfrm>
          <a:prstGeom prst="ellipse">
            <a:avLst/>
          </a:prstGeom>
          <a:solidFill>
            <a:srgbClr val="00A896"/>
          </a:solidFill>
          <a:ln/>
          <a:effectLst>
            <a:outerShdw sx="100000" sy="100000" kx="0" ky="0" algn="bl" rotWithShape="0" blurRad="114300" dist="38100" dir="5400000">
              <a:srgbClr val="0A1A2E">
                <a:alpha val="16000"/>
              </a:srgbClr>
            </a:outerShdw>
          </a:effectLst>
        </p:spPr>
      </p:sp>
      <p:pic>
        <p:nvPicPr>
          <p:cNvPr id="13" name="Image 1" descr="preencoded.png"/>
          <p:cNvPicPr>
            <a:picLocks noChangeAspect="1"/>
          </p:cNvPicPr>
          <p:nvPr/>
        </p:nvPicPr>
        <p:blipFill>
          <a:blip r:embed="rId2"/>
          <a:stretch>
            <a:fillRect/>
          </a:stretch>
        </p:blipFill>
        <p:spPr>
          <a:xfrm>
            <a:off x="5896417" y="2302825"/>
            <a:ext cx="368686" cy="368686"/>
          </a:xfrm>
          <a:prstGeom prst="rect">
            <a:avLst/>
          </a:prstGeom>
        </p:spPr>
      </p:pic>
      <p:sp>
        <p:nvSpPr>
          <p:cNvPr id="14" name="Text 10"/>
          <p:cNvSpPr/>
          <p:nvPr/>
        </p:nvSpPr>
        <p:spPr>
          <a:xfrm>
            <a:off x="4389120" y="3017520"/>
            <a:ext cx="3383280" cy="274320"/>
          </a:xfrm>
          <a:prstGeom prst="rect">
            <a:avLst/>
          </a:prstGeom>
          <a:noFill/>
          <a:ln/>
        </p:spPr>
        <p:txBody>
          <a:bodyPr wrap="square" lIns="0" tIns="0" rIns="0" bIns="0" rtlCol="0" anchor="ctr"/>
          <a:lstStyle/>
          <a:p>
            <a:pPr algn="ctr" indent="0" marL="0">
              <a:buNone/>
            </a:pPr>
            <a:r>
              <a:rPr lang="en-US" sz="1200" b="1" spc="200" kern="0" dirty="0">
                <a:solidFill>
                  <a:srgbClr val="00A896"/>
                </a:solidFill>
                <a:latin typeface="Arial" pitchFamily="34" charset="0"/>
                <a:ea typeface="Arial" pitchFamily="34" charset="-122"/>
                <a:cs typeface="Arial" pitchFamily="34" charset="-120"/>
              </a:rPr>
              <a:t>WALLED OFF</a:t>
            </a:r>
            <a:endParaRPr lang="en-US" sz="1200" dirty="0"/>
          </a:p>
        </p:txBody>
      </p:sp>
      <p:sp>
        <p:nvSpPr>
          <p:cNvPr id="15" name="Text 11"/>
          <p:cNvSpPr/>
          <p:nvPr/>
        </p:nvSpPr>
        <p:spPr>
          <a:xfrm>
            <a:off x="4572000" y="3310128"/>
            <a:ext cx="3017520" cy="502920"/>
          </a:xfrm>
          <a:prstGeom prst="rect">
            <a:avLst/>
          </a:prstGeom>
          <a:noFill/>
          <a:ln/>
        </p:spPr>
        <p:txBody>
          <a:bodyPr wrap="square" lIns="0" tIns="0" rIns="0" bIns="0" rtlCol="0" anchor="ctr"/>
          <a:lstStyle/>
          <a:p>
            <a:pPr algn="ctr" indent="0" marL="0">
              <a:buNone/>
            </a:pPr>
            <a:r>
              <a:rPr lang="en-US" sz="2400" b="1" dirty="0">
                <a:solidFill>
                  <a:srgbClr val="16263B"/>
                </a:solidFill>
                <a:latin typeface="Georgia" pitchFamily="34" charset="0"/>
                <a:ea typeface="Georgia" pitchFamily="34" charset="-122"/>
                <a:cs typeface="Georgia" pitchFamily="34" charset="-120"/>
              </a:rPr>
              <a:t>Disjointed</a:t>
            </a:r>
            <a:endParaRPr lang="en-US" sz="2400" dirty="0"/>
          </a:p>
        </p:txBody>
      </p:sp>
      <p:sp>
        <p:nvSpPr>
          <p:cNvPr id="16" name="Text 12"/>
          <p:cNvSpPr/>
          <p:nvPr/>
        </p:nvSpPr>
        <p:spPr>
          <a:xfrm>
            <a:off x="4617720" y="3931920"/>
            <a:ext cx="2926080" cy="822960"/>
          </a:xfrm>
          <a:prstGeom prst="rect">
            <a:avLst/>
          </a:prstGeom>
          <a:noFill/>
          <a:ln/>
        </p:spPr>
        <p:txBody>
          <a:bodyPr wrap="square" lIns="0" tIns="0" rIns="0" bIns="0" rtlCol="0" anchor="ctr"/>
          <a:lstStyle/>
          <a:p>
            <a:pPr algn="ctr" indent="0" marL="0">
              <a:buNone/>
            </a:pPr>
            <a:r>
              <a:rPr lang="en-US" sz="1350" dirty="0">
                <a:solidFill>
                  <a:srgbClr val="5C6B7A"/>
                </a:solidFill>
                <a:latin typeface="Arial" pitchFamily="34" charset="0"/>
                <a:ea typeface="Arial" pitchFamily="34" charset="-122"/>
                <a:cs typeface="Arial" pitchFamily="34" charset="-120"/>
              </a:rPr>
              <a:t>work duplicated, handoffs dropped</a:t>
            </a:r>
            <a:endParaRPr lang="en-US" sz="1350" dirty="0"/>
          </a:p>
        </p:txBody>
      </p:sp>
      <p:sp>
        <p:nvSpPr>
          <p:cNvPr id="17" name="Text 13"/>
          <p:cNvSpPr/>
          <p:nvPr/>
        </p:nvSpPr>
        <p:spPr>
          <a:xfrm>
            <a:off x="7726680" y="2743200"/>
            <a:ext cx="457200" cy="548640"/>
          </a:xfrm>
          <a:prstGeom prst="rect">
            <a:avLst/>
          </a:prstGeom>
          <a:noFill/>
          <a:ln/>
        </p:spPr>
        <p:txBody>
          <a:bodyPr wrap="square" lIns="0" tIns="0" rIns="0" bIns="0" rtlCol="0" anchor="ctr"/>
          <a:lstStyle/>
          <a:p>
            <a:pPr algn="ctr" indent="0" marL="0">
              <a:buNone/>
            </a:pPr>
            <a:r>
              <a:rPr lang="en-US" sz="3200" b="1" dirty="0">
                <a:solidFill>
                  <a:srgbClr val="028090"/>
                </a:solidFill>
                <a:latin typeface="Arial" pitchFamily="34" charset="0"/>
                <a:ea typeface="Arial" pitchFamily="34" charset="-122"/>
                <a:cs typeface="Arial" pitchFamily="34" charset="-120"/>
              </a:rPr>
              <a:t>+</a:t>
            </a:r>
            <a:endParaRPr lang="en-US" sz="3200" dirty="0"/>
          </a:p>
        </p:txBody>
      </p:sp>
      <p:sp>
        <p:nvSpPr>
          <p:cNvPr id="18" name="Shape 14"/>
          <p:cNvSpPr/>
          <p:nvPr/>
        </p:nvSpPr>
        <p:spPr>
          <a:xfrm>
            <a:off x="8138160" y="1828800"/>
            <a:ext cx="3383280" cy="3200400"/>
          </a:xfrm>
          <a:prstGeom prst="roundRect">
            <a:avLst>
              <a:gd name="adj" fmla="val 2571"/>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9" name="Shape 15"/>
          <p:cNvSpPr/>
          <p:nvPr/>
        </p:nvSpPr>
        <p:spPr>
          <a:xfrm>
            <a:off x="9445752" y="2103120"/>
            <a:ext cx="768096" cy="768096"/>
          </a:xfrm>
          <a:prstGeom prst="ellipse">
            <a:avLst/>
          </a:prstGeom>
          <a:solidFill>
            <a:srgbClr val="02C39A"/>
          </a:solidFill>
          <a:ln/>
          <a:effectLst>
            <a:outerShdw sx="100000" sy="100000" kx="0" ky="0" algn="bl" rotWithShape="0" blurRad="114300" dist="38100" dir="5400000">
              <a:srgbClr val="0A1A2E">
                <a:alpha val="16000"/>
              </a:srgbClr>
            </a:outerShdw>
          </a:effectLst>
        </p:spPr>
      </p:sp>
      <p:pic>
        <p:nvPicPr>
          <p:cNvPr id="20" name="Image 2" descr="preencoded.png"/>
          <p:cNvPicPr>
            <a:picLocks noChangeAspect="1"/>
          </p:cNvPicPr>
          <p:nvPr/>
        </p:nvPicPr>
        <p:blipFill>
          <a:blip r:embed="rId3"/>
          <a:stretch>
            <a:fillRect/>
          </a:stretch>
        </p:blipFill>
        <p:spPr>
          <a:xfrm>
            <a:off x="9645457" y="2302825"/>
            <a:ext cx="368686" cy="368686"/>
          </a:xfrm>
          <a:prstGeom prst="rect">
            <a:avLst/>
          </a:prstGeom>
        </p:spPr>
      </p:pic>
      <p:sp>
        <p:nvSpPr>
          <p:cNvPr id="21" name="Text 16"/>
          <p:cNvSpPr/>
          <p:nvPr/>
        </p:nvSpPr>
        <p:spPr>
          <a:xfrm>
            <a:off x="8138160" y="3017520"/>
            <a:ext cx="3383280" cy="274320"/>
          </a:xfrm>
          <a:prstGeom prst="rect">
            <a:avLst/>
          </a:prstGeom>
          <a:noFill/>
          <a:ln/>
        </p:spPr>
        <p:txBody>
          <a:bodyPr wrap="square" lIns="0" tIns="0" rIns="0" bIns="0" rtlCol="0" anchor="ctr"/>
          <a:lstStyle/>
          <a:p>
            <a:pPr algn="ctr" indent="0" marL="0">
              <a:buNone/>
            </a:pPr>
            <a:r>
              <a:rPr lang="en-US" sz="1200" b="1" spc="200" kern="0" dirty="0">
                <a:solidFill>
                  <a:srgbClr val="02C39A"/>
                </a:solidFill>
                <a:latin typeface="Arial" pitchFamily="34" charset="0"/>
                <a:ea typeface="Arial" pitchFamily="34" charset="-122"/>
                <a:cs typeface="Arial" pitchFamily="34" charset="-120"/>
              </a:rPr>
              <a:t>TUNED OUT</a:t>
            </a:r>
            <a:endParaRPr lang="en-US" sz="1200" dirty="0"/>
          </a:p>
        </p:txBody>
      </p:sp>
      <p:sp>
        <p:nvSpPr>
          <p:cNvPr id="22" name="Text 17"/>
          <p:cNvSpPr/>
          <p:nvPr/>
        </p:nvSpPr>
        <p:spPr>
          <a:xfrm>
            <a:off x="8321040" y="3310128"/>
            <a:ext cx="3017520" cy="502920"/>
          </a:xfrm>
          <a:prstGeom prst="rect">
            <a:avLst/>
          </a:prstGeom>
          <a:noFill/>
          <a:ln/>
        </p:spPr>
        <p:txBody>
          <a:bodyPr wrap="square" lIns="0" tIns="0" rIns="0" bIns="0" rtlCol="0" anchor="ctr"/>
          <a:lstStyle/>
          <a:p>
            <a:pPr algn="ctr" indent="0" marL="0">
              <a:buNone/>
            </a:pPr>
            <a:r>
              <a:rPr lang="en-US" sz="2400" b="1" dirty="0">
                <a:solidFill>
                  <a:srgbClr val="16263B"/>
                </a:solidFill>
                <a:latin typeface="Georgia" pitchFamily="34" charset="0"/>
                <a:ea typeface="Georgia" pitchFamily="34" charset="-122"/>
                <a:cs typeface="Georgia" pitchFamily="34" charset="-120"/>
              </a:rPr>
              <a:t>Unheard</a:t>
            </a:r>
            <a:endParaRPr lang="en-US" sz="2400" dirty="0"/>
          </a:p>
        </p:txBody>
      </p:sp>
      <p:sp>
        <p:nvSpPr>
          <p:cNvPr id="23" name="Text 18"/>
          <p:cNvSpPr/>
          <p:nvPr/>
        </p:nvSpPr>
        <p:spPr>
          <a:xfrm>
            <a:off x="8366760" y="3931920"/>
            <a:ext cx="2926080" cy="822960"/>
          </a:xfrm>
          <a:prstGeom prst="rect">
            <a:avLst/>
          </a:prstGeom>
          <a:noFill/>
          <a:ln/>
        </p:spPr>
        <p:txBody>
          <a:bodyPr wrap="square" lIns="0" tIns="0" rIns="0" bIns="0" rtlCol="0" anchor="ctr"/>
          <a:lstStyle/>
          <a:p>
            <a:pPr algn="ctr" indent="0" marL="0">
              <a:buNone/>
            </a:pPr>
            <a:r>
              <a:rPr lang="en-US" sz="1350" dirty="0">
                <a:solidFill>
                  <a:srgbClr val="5C6B7A"/>
                </a:solidFill>
                <a:latin typeface="Arial" pitchFamily="34" charset="0"/>
                <a:ea typeface="Arial" pitchFamily="34" charset="-122"/>
                <a:cs typeface="Arial" pitchFamily="34" charset="-120"/>
              </a:rPr>
              <a:t>concerns surface too late</a:t>
            </a:r>
            <a:endParaRPr lang="en-US" sz="1350" dirty="0"/>
          </a:p>
        </p:txBody>
      </p:sp>
      <p:sp>
        <p:nvSpPr>
          <p:cNvPr id="24" name="Shape 19"/>
          <p:cNvSpPr/>
          <p:nvPr/>
        </p:nvSpPr>
        <p:spPr>
          <a:xfrm>
            <a:off x="640080" y="5257800"/>
            <a:ext cx="10881360" cy="731520"/>
          </a:xfrm>
          <a:prstGeom prst="roundRect">
            <a:avLst>
              <a:gd name="adj" fmla="val 11250"/>
            </a:avLst>
          </a:prstGeom>
          <a:solidFill>
            <a:srgbClr val="F4F9FB"/>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25" name="Text 20"/>
          <p:cNvSpPr/>
          <p:nvPr/>
        </p:nvSpPr>
        <p:spPr>
          <a:xfrm>
            <a:off x="914400" y="5257800"/>
            <a:ext cx="10332720" cy="731520"/>
          </a:xfrm>
          <a:prstGeom prst="rect">
            <a:avLst/>
          </a:prstGeom>
          <a:noFill/>
          <a:ln/>
        </p:spPr>
        <p:txBody>
          <a:bodyPr wrap="square" lIns="0" tIns="0" rIns="0" bIns="0" rtlCol="0" anchor="ctr"/>
          <a:lstStyle/>
          <a:p>
            <a:pPr indent="0" marL="0">
              <a:buNone/>
            </a:pPr>
            <a:r>
              <a:rPr lang="en-US" sz="1400" b="1" dirty="0">
                <a:solidFill>
                  <a:srgbClr val="028090"/>
                </a:solidFill>
                <a:latin typeface="Arial" pitchFamily="34" charset="0"/>
                <a:ea typeface="Arial" pitchFamily="34" charset="-122"/>
                <a:cs typeface="Arial" pitchFamily="34" charset="-120"/>
              </a:rPr>
              <a:t xml:space="preserve">The cost:  </a:t>
            </a:r>
            <a:pPr indent="0" marL="0">
              <a:buNone/>
            </a:pPr>
            <a:r>
              <a:rPr lang="en-US" sz="1400" dirty="0">
                <a:solidFill>
                  <a:srgbClr val="16263B"/>
                </a:solidFill>
                <a:latin typeface="Arial" pitchFamily="34" charset="0"/>
                <a:ea typeface="Arial" pitchFamily="34" charset="-122"/>
                <a:cs typeface="Arial" pitchFamily="34" charset="-120"/>
              </a:rPr>
              <a:t>Across every company this quietly drains hours, slows delivery, and pushes good people out — real money leaders rarely see.</a:t>
            </a:r>
            <a:endParaRPr lang="en-US" sz="1400" dirty="0"/>
          </a:p>
        </p:txBody>
      </p:sp>
      <p:sp>
        <p:nvSpPr>
          <p:cNvPr id="26" name="Shape 21"/>
          <p:cNvSpPr/>
          <p:nvPr/>
        </p:nvSpPr>
        <p:spPr>
          <a:xfrm>
            <a:off x="10698480" y="274320"/>
            <a:ext cx="1097280" cy="1097280"/>
          </a:xfrm>
          <a:prstGeom prst="roundRect">
            <a:avLst>
              <a:gd name="adj" fmla="val 5833"/>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pic>
        <p:nvPicPr>
          <p:cNvPr id="27" name="Image 3" descr="/home/claude/qr_colab.png"/>
          <p:cNvPicPr>
            <a:picLocks noChangeAspect="1"/>
          </p:cNvPicPr>
          <p:nvPr/>
        </p:nvPicPr>
        <p:blipFill>
          <a:blip r:embed="rId4"/>
          <a:stretch>
            <a:fillRect/>
          </a:stretch>
        </p:blipFill>
        <p:spPr>
          <a:xfrm>
            <a:off x="10808208" y="384048"/>
            <a:ext cx="877824" cy="877824"/>
          </a:xfrm>
          <a:prstGeom prst="rect">
            <a:avLst/>
          </a:prstGeom>
        </p:spPr>
      </p:pic>
      <p:sp>
        <p:nvSpPr>
          <p:cNvPr id="28" name="Text 22"/>
          <p:cNvSpPr/>
          <p:nvPr/>
        </p:nvSpPr>
        <p:spPr>
          <a:xfrm>
            <a:off x="10424160" y="1399032"/>
            <a:ext cx="1645920" cy="201168"/>
          </a:xfrm>
          <a:prstGeom prst="rect">
            <a:avLst/>
          </a:prstGeom>
          <a:noFill/>
          <a:ln/>
        </p:spPr>
        <p:txBody>
          <a:bodyPr wrap="square" lIns="0" tIns="0" rIns="0" bIns="0" rtlCol="0" anchor="ctr"/>
          <a:lstStyle/>
          <a:p>
            <a:pPr algn="ctr" indent="0" marL="0">
              <a:buNone/>
            </a:pPr>
            <a:r>
              <a:rPr lang="en-US" sz="850" b="1" dirty="0">
                <a:solidFill>
                  <a:srgbClr val="028090"/>
                </a:solidFill>
                <a:latin typeface="Arial" pitchFamily="34" charset="0"/>
                <a:ea typeface="Arial" pitchFamily="34" charset="-122"/>
                <a:cs typeface="Arial" pitchFamily="34" charset="-120"/>
              </a:rPr>
              <a:t>Scan · Request a briefing</a:t>
            </a:r>
            <a:endParaRPr lang="en-US" sz="850" dirty="0"/>
          </a:p>
        </p:txBody>
      </p:sp>
      <p:sp>
        <p:nvSpPr>
          <p:cNvPr id="29" name="Text 23"/>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000" dirty="0">
                <a:solidFill>
                  <a:srgbClr val="5C6B7A"/>
                </a:solidFill>
                <a:latin typeface="Arial" pitchFamily="34" charset="0"/>
                <a:ea typeface="Arial" pitchFamily="34" charset="-122"/>
                <a:cs typeface="Arial" pitchFamily="34" charset="-120"/>
              </a:rPr>
              <a:t>03</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Organizational Trust Quotient (OTQ)</dc:title>
  <dc:subject>PptxGenJS Presentation</dc:subject>
  <dc:creator>Vernon T. Cox</dc:creator>
  <cp:lastModifiedBy>Vernon T. Cox</cp:lastModifiedBy>
  <cp:revision>1</cp:revision>
  <dcterms:created xsi:type="dcterms:W3CDTF">2026-06-23T11:48:21Z</dcterms:created>
  <dcterms:modified xsi:type="dcterms:W3CDTF">2026-06-23T11:48:21Z</dcterms:modified>
</cp:coreProperties>
</file>