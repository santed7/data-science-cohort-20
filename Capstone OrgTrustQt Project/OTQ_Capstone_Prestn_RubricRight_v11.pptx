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63B"/>
                </a:solidFill>
                <a:latin typeface="Arial"/>
              </a:defRPr>
            </a:pPr>
            <a:r>
              <a:rPr sz="1300" b="0" i="0" u="none" strike="noStrike">
                <a:solidFill>
                  <a:srgbClr val="16263B"/>
                </a:solidFill>
                <a:latin typeface="Arial"/>
              </a:rPr>
              <a:t>Starting score by interaction type</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028090"/>
            </a:solidFill>
            <a:effectLst/>
          </c:spPr>
          <c:invertIfNegative val="0"/>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0A896"/>
              </a:solidFill>
              <a:effectLst/>
            </c:spPr>
          </c:dPt>
          <c:dPt>
            <c:idx val="3"/>
            <c:invertIfNegative val="0"/>
            <c:bubble3D val="0"/>
            <c:spPr>
              <a:solidFill>
                <a:srgbClr val="02C39A"/>
              </a:solidFill>
              <a:effectLst/>
            </c:spPr>
          </c:dPt>
          <c:dPt>
            <c:idx val="4"/>
            <c:invertIfNegative val="0"/>
            <c:bubble3D val="0"/>
            <c:spPr>
              <a:solidFill>
                <a:srgbClr val="9DC9CE"/>
              </a:solidFill>
              <a:effectLst/>
            </c:spPr>
          </c:dPt>
          <c:cat>
            <c:multiLvlStrRef>
              <c:f>Sheet1!$A$2:$A$6</c:f>
              <c:multiLvlStrCache>
                <c:ptCount val="5"/>
                <c:lvl>
                  <c:pt idx="0">
                    <c:v>Meeting</c:v>
                  </c:pt>
                  <c:pt idx="1">
                    <c:v>Chat</c:v>
                  </c:pt>
                  <c:pt idx="2">
                    <c:v>Call</c:v>
                  </c:pt>
                  <c:pt idx="3">
                    <c:v>Email</c:v>
                  </c:pt>
                  <c:pt idx="4">
                    <c:v>Other</c:v>
                  </c:pt>
                </c:lvl>
              </c:multiLvlStrCache>
            </c:multiLvlStrRef>
          </c:cat>
          <c:val>
            <c:numRef>
              <c:f>Sheet1!$B$2:$B$6</c:f>
              <c:numCache>
                <c:formatCode>General</c:formatCode>
                <c:ptCount val="5"/>
                <c:pt idx="0">
                  <c:v>24.5</c:v>
                </c:pt>
                <c:pt idx="1">
                  <c:v>9.5</c:v>
                </c:pt>
                <c:pt idx="2">
                  <c:v>8.5</c:v>
                </c:pt>
                <c:pt idx="3">
                  <c:v>6</c:v>
                </c:pt>
                <c:pt idx="4">
                  <c:v>5</c:v>
                </c:pt>
              </c:numCache>
            </c:numRef>
          </c:val>
        </c:ser>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C6B7A"/>
                    </a:solidFill>
                    <a:latin typeface="Arial"/>
                  </a:defRPr>
                </a:pPr>
                <a:r>
                  <a:rPr sz="1100" b="0" i="0" u="none" strike="noStrike">
                    <a:solidFill>
                      <a:srgbClr val="5C6B7A"/>
                    </a:solidFill>
                    <a:latin typeface="Arial"/>
                  </a:rPr>
                  <a:t>Interaction type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6350" cap="flat">
              <a:solidFill>
                <a:srgbClr val="D6E2EA"/>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Engagement points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EAF2F6"/>
        </a:solidFill>
        <a:ln>
          <a:noFill/>
        </a:ln>
        <a:effectLst/>
      </c:spPr>
    </c:plotArea>
    <c:plotVisOnly val="1"/>
    <c:dispBlanksAs val="span"/>
  </c:chart>
  <c:spPr>
    <a:solidFill>
      <a:srgbClr val="EAF2F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Vernon Cox, with Srilatha Alla. Our project asks a simple question: can the way a team communicates tell us how healthy the team is? We read everyday message patterns — not the words — and turn them into a signal. The QR code opens our notebook runnable in Colab.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we're gonna tell 'em. Five beats: the problem, what we look at, the data plus our scoring, results and the dashboard, then take-homes and next steps.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plain terms. Trust decides whether people speak up early or share half-finished ideas. But we usually only check once a year, with a survey that's slow, biased, and disruptive. Meanwhile teams already produce thousands of signals a day. Our goal: use those, with no extra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actually look at — and our reviewer's key point. We measure engagement (how much people talk and meet), we predict responsiveness (how fast they reply), and trust is the thing underneath that we're really after. We're careful not to overclaim: we don't say we measure trust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data comes from. We pull from the three tools people already use — Slack, Teams, Outlook — and merge them into one table of 106 events. Since we don't have a real company's data yet, we built safe practice data from Bible figures, the apostles, in exactly the same format a real export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data. Each row is a single interaction with a few plain facts: which tool, what type, who, where, how long, how many people, and a reply-speed clue. Crucially, we keep counts and timing — never the contents of any message. 106 events, 3 sources, about 8 fields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turn interactions into numbers. Every event gets an engagement score: start with the type — meetings count most, email least — then add a little for how long it ran and how many people were involved. Then we add everything up per day to get daily team numbers. All the rules are simple and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peek under the hood. On the left, the scoring rule we just described, exactly as it runs: a base by type, a small duration bonus, and a log-scaled reach. On the right, the model: five daily features, a Ridge regression with its strength tuned by grid search, then we score it on days it never saw. You can scan the QR to run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exploratory view from the notebook. Most events are short chats with a couple of people; meetings are rarer but score much higher. The bottom-right panel is the one to watch — total daily engagement against response time — which is the relationship the model goes on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in plain terms. It learns the link between engagement and reply speed. Because our clues overlap a lot, we used Ridge regression — a model built to stay steady and stay readable when that happens. And we didn't trust one run: we compared other models, tuned settings, tested on days it had never seen, and ranked which clues mattered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real output. Left: the features genuinely overlap — total events and its log are correlated 0.98 — which is exactly the situation Ridge is built for. Right: under the same 5-fold cross-validation, Ridge had the lowest error of the five model families we tried, so it's not just convenient, it's the best of the bunch.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real results. The four diagnostic panels show predictions tracking actuals, the response-time trend, the core engagement-versus-response relationship, and a residual plot with no obvious pattern — a good sign. The coefficient chart is the headline in one picture: the engagement features are negative, meaning more engagement predicts shorter response times, exactly as hypothesized. This is real model output, run on the synthetic practice data, so the direction holds but the exact magnitudes will move with real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website, run for real. We dropped in a single Outlook export — 350 calendar events — and the tool did everything: read and scored the file, built daily features, fit the model, and returned these results. The four numbers are real: it modeled 103 days, with an average error around two hours on a noisy proxy. The three charts are the live output — engagement scores, the feature coefficients (engagement is negative, so more engagement means faster replies), and actual-versus-predicted over time. Someone with no coding background gets all of this from one upload. With Slack and Teams added alongside Outlook, accuracy improves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you told 'em. Four take-homes: always-on beats once a year; how people talk predicts how fast they reply; we're honest that we measure talk, not trust itself yet; and it's private by design — counts and timing only, never message content. If they remember one slide,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and questions. The big next step is checking our score against a trusted, validated trust survey on a real team — that's what would let us truly say 'trust.' Then real company data, scores per team and person, and tracking real outcomes. The QR code opens the notebook in Colab. Thank the instructor and SME, and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8229600" y="-320040"/>
            <a:ext cx="4206240" cy="4206240"/>
          </a:xfrm>
          <a:prstGeom prst="ellipse">
            <a:avLst/>
          </a:prstGeom>
          <a:solidFill>
            <a:srgbClr val="028090"/>
          </a:solidFill>
          <a:ln/>
        </p:spPr>
      </p:sp>
      <p:pic>
        <p:nvPicPr>
          <p:cNvPr id="3" name="Image 0" descr="/home/claude/team.png">    </p:cNvPr>
          <p:cNvPicPr>
            <a:picLocks noChangeAspect="1"/>
          </p:cNvPicPr>
          <p:nvPr/>
        </p:nvPicPr>
        <p:blipFill>
          <a:blip r:embed="rId1"/>
          <a:stretch>
            <a:fillRect/>
          </a:stretch>
        </p:blipFill>
        <p:spPr>
          <a:xfrm>
            <a:off x="8321040" y="-228600"/>
            <a:ext cx="4023360" cy="4023360"/>
          </a:xfrm>
          <a:prstGeom prst="ellipse">
            <a:avLst/>
          </a:prstGeom>
        </p:spPr>
      </p:pic>
      <p:sp>
        <p:nvSpPr>
          <p:cNvPr id="4" name="Text 1"/>
          <p:cNvSpPr/>
          <p:nvPr/>
        </p:nvSpPr>
        <p:spPr>
          <a:xfrm>
            <a:off x="822960" y="1554480"/>
            <a:ext cx="9144000" cy="365760"/>
          </a:xfrm>
          <a:prstGeom prst="rect">
            <a:avLst/>
          </a:prstGeom>
          <a:noFill/>
          <a:ln/>
        </p:spPr>
        <p:txBody>
          <a:bodyPr wrap="square" lIns="0" tIns="0" rIns="0" bIns="0" rtlCol="0" anchor="ctr"/>
          <a:lstStyle/>
          <a:p>
            <a:pPr indent="0" marL="0">
              <a:buNone/>
            </a:pPr>
            <a:r>
              <a:rPr lang="en-US" sz="1500" b="1" spc="400" kern="0" dirty="0">
                <a:solidFill>
                  <a:srgbClr val="00A896"/>
                </a:solidFill>
                <a:latin typeface="Arial" pitchFamily="34" charset="0"/>
                <a:ea typeface="Arial" pitchFamily="34" charset="-122"/>
                <a:cs typeface="Arial" pitchFamily="34" charset="-120"/>
              </a:rPr>
              <a:t>ORGANIZATIONAL TRUST QUOTIENT®</a:t>
            </a:r>
            <a:endParaRPr lang="en-US" sz="1500" dirty="0"/>
          </a:p>
        </p:txBody>
      </p:sp>
      <p:sp>
        <p:nvSpPr>
          <p:cNvPr id="5" name="Text 2"/>
          <p:cNvSpPr/>
          <p:nvPr/>
        </p:nvSpPr>
        <p:spPr>
          <a:xfrm>
            <a:off x="822960" y="2057400"/>
            <a:ext cx="9875520" cy="173736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Reading team health</a:t>
            </a:r>
            <a:endParaRPr lang="en-US" sz="4200" dirty="0"/>
          </a:p>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from everyday messages</a:t>
            </a:r>
            <a:endParaRPr lang="en-US" sz="4200" dirty="0"/>
          </a:p>
        </p:txBody>
      </p:sp>
      <p:sp>
        <p:nvSpPr>
          <p:cNvPr id="6" name="Text 3"/>
          <p:cNvSpPr/>
          <p:nvPr/>
        </p:nvSpPr>
        <p:spPr>
          <a:xfrm>
            <a:off x="822960" y="3931920"/>
            <a:ext cx="9601200" cy="411480"/>
          </a:xfrm>
          <a:prstGeom prst="rect">
            <a:avLst/>
          </a:prstGeom>
          <a:noFill/>
          <a:ln/>
        </p:spPr>
        <p:txBody>
          <a:bodyPr wrap="square" lIns="0" tIns="0" rIns="0" bIns="0" rtlCol="0" anchor="ctr"/>
          <a:lstStyle/>
          <a:p>
            <a:pPr indent="0" marL="0">
              <a:buNone/>
            </a:pPr>
            <a:r>
              <a:rPr lang="en-US" sz="1700" i="1" dirty="0">
                <a:solidFill>
                  <a:srgbClr val="C7D6E5"/>
                </a:solidFill>
                <a:latin typeface="Arial" pitchFamily="34" charset="0"/>
                <a:ea typeface="Arial" pitchFamily="34" charset="-122"/>
                <a:cs typeface="Arial" pitchFamily="34" charset="-120"/>
              </a:rPr>
              <a:t>How people talk at work → a signal of how the team is doing</a:t>
            </a:r>
            <a:endParaRPr lang="en-US" sz="1700" dirty="0"/>
          </a:p>
        </p:txBody>
      </p:sp>
      <p:sp>
        <p:nvSpPr>
          <p:cNvPr id="7" name="Shape 4"/>
          <p:cNvSpPr/>
          <p:nvPr/>
        </p:nvSpPr>
        <p:spPr>
          <a:xfrm>
            <a:off x="841248" y="4800600"/>
            <a:ext cx="3840480" cy="0"/>
          </a:xfrm>
          <a:prstGeom prst="line">
            <a:avLst/>
          </a:prstGeom>
          <a:noFill/>
          <a:ln w="19050">
            <a:solidFill>
              <a:srgbClr val="028090"/>
            </a:solidFill>
            <a:prstDash val="solid"/>
          </a:ln>
        </p:spPr>
      </p:sp>
      <p:sp>
        <p:nvSpPr>
          <p:cNvPr id="8" name="Text 5"/>
          <p:cNvSpPr/>
          <p:nvPr/>
        </p:nvSpPr>
        <p:spPr>
          <a:xfrm>
            <a:off x="822960" y="4937760"/>
            <a:ext cx="9144000" cy="10972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 Data Science Bootcamp Capstone</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Instructor: Robert Citek</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SME: Prof. R. DelCampo — UNM Anderson</a:t>
            </a:r>
            <a:endParaRPr lang="en-US" sz="1500" dirty="0"/>
          </a:p>
        </p:txBody>
      </p:sp>
      <p:sp>
        <p:nvSpPr>
          <p:cNvPr id="9" name="Shape 6"/>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0" name="Image 1" descr="/home/claude/qr_colab.png">    </p:cNvPr>
          <p:cNvPicPr>
            <a:picLocks noChangeAspect="1"/>
          </p:cNvPicPr>
          <p:nvPr/>
        </p:nvPicPr>
        <p:blipFill>
          <a:blip r:embed="rId2"/>
          <a:stretch>
            <a:fillRect/>
          </a:stretch>
        </p:blipFill>
        <p:spPr>
          <a:xfrm>
            <a:off x="10264140" y="5006340"/>
            <a:ext cx="1280160" cy="1280160"/>
          </a:xfrm>
          <a:prstGeom prst="rect">
            <a:avLst/>
          </a:prstGeom>
        </p:spPr>
      </p:pic>
      <p:sp>
        <p:nvSpPr>
          <p:cNvPr id="11" name="Text 7"/>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0A896"/>
                </a:solidFill>
                <a:latin typeface="Arial" pitchFamily="34" charset="0"/>
                <a:ea typeface="Arial" pitchFamily="34" charset="-122"/>
                <a:cs typeface="Arial" pitchFamily="34" charset="-120"/>
              </a:rPr>
              <a:t>Scan to open in Colab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PREVIEW — WHAT WE'LL COVER</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The next 10 minutes</a:t>
            </a:r>
            <a:endParaRPr lang="en-US" sz="2900" dirty="0"/>
          </a:p>
        </p:txBody>
      </p:sp>
      <p:sp>
        <p:nvSpPr>
          <p:cNvPr id="4" name="Shape 2"/>
          <p:cNvSpPr/>
          <p:nvPr/>
        </p:nvSpPr>
        <p:spPr>
          <a:xfrm>
            <a:off x="640080" y="17830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18928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6" name="Text 4"/>
          <p:cNvSpPr/>
          <p:nvPr/>
        </p:nvSpPr>
        <p:spPr>
          <a:xfrm>
            <a:off x="91440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Shape 5"/>
          <p:cNvSpPr/>
          <p:nvPr/>
        </p:nvSpPr>
        <p:spPr>
          <a:xfrm>
            <a:off x="1783080" y="19065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8" name="Image 0" descr="preencoded.png">    </p:cNvPr>
          <p:cNvPicPr>
            <a:picLocks noChangeAspect="1"/>
          </p:cNvPicPr>
          <p:nvPr/>
        </p:nvPicPr>
        <p:blipFill>
          <a:blip r:embed="rId1"/>
          <a:stretch>
            <a:fillRect/>
          </a:stretch>
        </p:blipFill>
        <p:spPr>
          <a:xfrm>
            <a:off x="1920972" y="2044416"/>
            <a:ext cx="254569" cy="254569"/>
          </a:xfrm>
          <a:prstGeom prst="rect">
            <a:avLst/>
          </a:prstGeom>
        </p:spPr>
      </p:pic>
      <p:sp>
        <p:nvSpPr>
          <p:cNvPr id="9" name="Text 6"/>
          <p:cNvSpPr/>
          <p:nvPr/>
        </p:nvSpPr>
        <p:spPr>
          <a:xfrm>
            <a:off x="2606040" y="17830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problem we set out to solve</a:t>
            </a:r>
            <a:endParaRPr lang="en-US" sz="1900" dirty="0"/>
          </a:p>
        </p:txBody>
      </p:sp>
      <p:sp>
        <p:nvSpPr>
          <p:cNvPr id="10" name="Shape 7"/>
          <p:cNvSpPr/>
          <p:nvPr/>
        </p:nvSpPr>
        <p:spPr>
          <a:xfrm>
            <a:off x="640080" y="26974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914400" y="28072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2" name="Text 9"/>
          <p:cNvSpPr/>
          <p:nvPr/>
        </p:nvSpPr>
        <p:spPr>
          <a:xfrm>
            <a:off x="914400" y="28072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Shape 10"/>
          <p:cNvSpPr/>
          <p:nvPr/>
        </p:nvSpPr>
        <p:spPr>
          <a:xfrm>
            <a:off x="1783080" y="28209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14" name="Image 1" descr="preencoded.png">    </p:cNvPr>
          <p:cNvPicPr>
            <a:picLocks noChangeAspect="1"/>
          </p:cNvPicPr>
          <p:nvPr/>
        </p:nvPicPr>
        <p:blipFill>
          <a:blip r:embed="rId2"/>
          <a:stretch>
            <a:fillRect/>
          </a:stretch>
        </p:blipFill>
        <p:spPr>
          <a:xfrm>
            <a:off x="1920972" y="2958816"/>
            <a:ext cx="254569" cy="254569"/>
          </a:xfrm>
          <a:prstGeom prst="rect">
            <a:avLst/>
          </a:prstGeom>
        </p:spPr>
      </p:pic>
      <p:sp>
        <p:nvSpPr>
          <p:cNvPr id="15" name="Text 11"/>
          <p:cNvSpPr/>
          <p:nvPr/>
        </p:nvSpPr>
        <p:spPr>
          <a:xfrm>
            <a:off x="2606040" y="26974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What OTQ looks at</a:t>
            </a:r>
            <a:endParaRPr lang="en-US" sz="1900" dirty="0"/>
          </a:p>
        </p:txBody>
      </p:sp>
      <p:sp>
        <p:nvSpPr>
          <p:cNvPr id="16" name="Shape 12"/>
          <p:cNvSpPr/>
          <p:nvPr/>
        </p:nvSpPr>
        <p:spPr>
          <a:xfrm>
            <a:off x="640080" y="36118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7" name="Shape 13"/>
          <p:cNvSpPr/>
          <p:nvPr/>
        </p:nvSpPr>
        <p:spPr>
          <a:xfrm>
            <a:off x="914400" y="37216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8" name="Text 14"/>
          <p:cNvSpPr/>
          <p:nvPr/>
        </p:nvSpPr>
        <p:spPr>
          <a:xfrm>
            <a:off x="914400" y="3721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Shape 15"/>
          <p:cNvSpPr/>
          <p:nvPr/>
        </p:nvSpPr>
        <p:spPr>
          <a:xfrm>
            <a:off x="1783080" y="37353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r>
          <p:cNvPicPr>
            <a:picLocks noChangeAspect="1"/>
          </p:cNvPicPr>
          <p:nvPr/>
        </p:nvPicPr>
        <p:blipFill>
          <a:blip r:embed="rId3"/>
          <a:stretch>
            <a:fillRect/>
          </a:stretch>
        </p:blipFill>
        <p:spPr>
          <a:xfrm>
            <a:off x="1920972" y="3873216"/>
            <a:ext cx="254569" cy="254569"/>
          </a:xfrm>
          <a:prstGeom prst="rect">
            <a:avLst/>
          </a:prstGeom>
        </p:spPr>
      </p:pic>
      <p:sp>
        <p:nvSpPr>
          <p:cNvPr id="21" name="Text 16"/>
          <p:cNvSpPr/>
          <p:nvPr/>
        </p:nvSpPr>
        <p:spPr>
          <a:xfrm>
            <a:off x="2606040" y="36118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data — and how we score it</a:t>
            </a:r>
            <a:endParaRPr lang="en-US" sz="1900" dirty="0"/>
          </a:p>
        </p:txBody>
      </p:sp>
      <p:sp>
        <p:nvSpPr>
          <p:cNvPr id="22" name="Shape 17"/>
          <p:cNvSpPr/>
          <p:nvPr/>
        </p:nvSpPr>
        <p:spPr>
          <a:xfrm>
            <a:off x="640080" y="45262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18"/>
          <p:cNvSpPr/>
          <p:nvPr/>
        </p:nvSpPr>
        <p:spPr>
          <a:xfrm>
            <a:off x="914400" y="46360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24" name="Text 19"/>
          <p:cNvSpPr/>
          <p:nvPr/>
        </p:nvSpPr>
        <p:spPr>
          <a:xfrm>
            <a:off x="914400" y="46360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5" name="Shape 20"/>
          <p:cNvSpPr/>
          <p:nvPr/>
        </p:nvSpPr>
        <p:spPr>
          <a:xfrm>
            <a:off x="1783080" y="46497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6" name="Image 3" descr="preencoded.png">    </p:cNvPr>
          <p:cNvPicPr>
            <a:picLocks noChangeAspect="1"/>
          </p:cNvPicPr>
          <p:nvPr/>
        </p:nvPicPr>
        <p:blipFill>
          <a:blip r:embed="rId4"/>
          <a:stretch>
            <a:fillRect/>
          </a:stretch>
        </p:blipFill>
        <p:spPr>
          <a:xfrm>
            <a:off x="1920972" y="4787616"/>
            <a:ext cx="254569" cy="254569"/>
          </a:xfrm>
          <a:prstGeom prst="rect">
            <a:avLst/>
          </a:prstGeom>
        </p:spPr>
      </p:pic>
      <p:sp>
        <p:nvSpPr>
          <p:cNvPr id="27" name="Text 21"/>
          <p:cNvSpPr/>
          <p:nvPr/>
        </p:nvSpPr>
        <p:spPr>
          <a:xfrm>
            <a:off x="2606040" y="45262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Results &amp; the dashboard we built</a:t>
            </a:r>
            <a:endParaRPr lang="en-US" sz="1900" dirty="0"/>
          </a:p>
        </p:txBody>
      </p:sp>
      <p:sp>
        <p:nvSpPr>
          <p:cNvPr id="28" name="Shape 22"/>
          <p:cNvSpPr/>
          <p:nvPr/>
        </p:nvSpPr>
        <p:spPr>
          <a:xfrm>
            <a:off x="640080" y="54406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9" name="Shape 23"/>
          <p:cNvSpPr/>
          <p:nvPr/>
        </p:nvSpPr>
        <p:spPr>
          <a:xfrm>
            <a:off x="914400" y="5550408"/>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sp>
        <p:nvSpPr>
          <p:cNvPr id="30" name="Text 24"/>
          <p:cNvSpPr/>
          <p:nvPr/>
        </p:nvSpPr>
        <p:spPr>
          <a:xfrm>
            <a:off x="914400" y="5550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1" name="Shape 25"/>
          <p:cNvSpPr/>
          <p:nvPr/>
        </p:nvSpPr>
        <p:spPr>
          <a:xfrm>
            <a:off x="1783080" y="55641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32" name="Image 4" descr="preencoded.png">    </p:cNvPr>
          <p:cNvPicPr>
            <a:picLocks noChangeAspect="1"/>
          </p:cNvPicPr>
          <p:nvPr/>
        </p:nvPicPr>
        <p:blipFill>
          <a:blip r:embed="rId5"/>
          <a:stretch>
            <a:fillRect/>
          </a:stretch>
        </p:blipFill>
        <p:spPr>
          <a:xfrm>
            <a:off x="1920972" y="5702016"/>
            <a:ext cx="254569" cy="254569"/>
          </a:xfrm>
          <a:prstGeom prst="rect">
            <a:avLst/>
          </a:prstGeom>
        </p:spPr>
      </p:pic>
      <p:sp>
        <p:nvSpPr>
          <p:cNvPr id="33" name="Text 26"/>
          <p:cNvSpPr/>
          <p:nvPr/>
        </p:nvSpPr>
        <p:spPr>
          <a:xfrm>
            <a:off x="2606040" y="54406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Take-homes &amp; what's next</a:t>
            </a:r>
            <a:endParaRPr lang="en-US" sz="1900" dirty="0"/>
          </a:p>
        </p:txBody>
      </p:sp>
      <p:sp>
        <p:nvSpPr>
          <p:cNvPr id="34" name="Shape 27"/>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5" name="Image 5" descr="/home/claude/qr_colab.png">    </p:cNvPr>
          <p:cNvPicPr>
            <a:picLocks noChangeAspect="1"/>
          </p:cNvPicPr>
          <p:nvPr/>
        </p:nvPicPr>
        <p:blipFill>
          <a:blip r:embed="rId6"/>
          <a:stretch>
            <a:fillRect/>
          </a:stretch>
        </p:blipFill>
        <p:spPr>
          <a:xfrm>
            <a:off x="10808208" y="384048"/>
            <a:ext cx="877824" cy="877824"/>
          </a:xfrm>
          <a:prstGeom prst="rect">
            <a:avLst/>
          </a:prstGeom>
        </p:spPr>
      </p:pic>
      <p:sp>
        <p:nvSpPr>
          <p:cNvPr id="36" name="Text 28"/>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37" name="Text 29"/>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Trust is hard to see — until it's gone</a:t>
            </a:r>
            <a:endParaRPr lang="en-US" sz="2900" dirty="0"/>
          </a:p>
        </p:txBody>
      </p:sp>
      <p:sp>
        <p:nvSpPr>
          <p:cNvPr id="4" name="Shape 2"/>
          <p:cNvSpPr/>
          <p:nvPr/>
        </p:nvSpPr>
        <p:spPr>
          <a:xfrm>
            <a:off x="640080" y="1783080"/>
            <a:ext cx="5852160" cy="4023360"/>
          </a:xfrm>
          <a:prstGeom prst="roundRect">
            <a:avLst>
              <a:gd name="adj" fmla="val 204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57400"/>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61801" y="2204801"/>
            <a:ext cx="272125" cy="272125"/>
          </a:xfrm>
          <a:prstGeom prst="rect">
            <a:avLst/>
          </a:prstGeom>
        </p:spPr>
      </p:pic>
      <p:sp>
        <p:nvSpPr>
          <p:cNvPr id="7" name="Text 4"/>
          <p:cNvSpPr/>
          <p:nvPr/>
        </p:nvSpPr>
        <p:spPr>
          <a:xfrm>
            <a:off x="1691640" y="2121408"/>
            <a:ext cx="4663440" cy="41148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The usual way: a yearly survey</a:t>
            </a:r>
            <a:endParaRPr lang="en-US" sz="1700" dirty="0"/>
          </a:p>
        </p:txBody>
      </p:sp>
      <p:sp>
        <p:nvSpPr>
          <p:cNvPr id="8" name="Text 5"/>
          <p:cNvSpPr/>
          <p:nvPr/>
        </p:nvSpPr>
        <p:spPr>
          <a:xfrm>
            <a:off x="914400" y="2926080"/>
            <a:ext cx="5394960" cy="27432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Only once a year — misses problems as they build</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People answer how they “should”</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Takes time away from work</a:t>
            </a:r>
            <a:endParaRPr lang="en-US" sz="1600" dirty="0"/>
          </a:p>
        </p:txBody>
      </p:sp>
      <p:sp>
        <p:nvSpPr>
          <p:cNvPr id="9" name="Shape 6"/>
          <p:cNvSpPr/>
          <p:nvPr/>
        </p:nvSpPr>
        <p:spPr>
          <a:xfrm>
            <a:off x="914400" y="4572000"/>
            <a:ext cx="566928" cy="566928"/>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0" name="Image 1" descr="preencoded.png">    </p:cNvPr>
          <p:cNvPicPr>
            <a:picLocks noChangeAspect="1"/>
          </p:cNvPicPr>
          <p:nvPr/>
        </p:nvPicPr>
        <p:blipFill>
          <a:blip r:embed="rId2"/>
          <a:stretch>
            <a:fillRect/>
          </a:stretch>
        </p:blipFill>
        <p:spPr>
          <a:xfrm>
            <a:off x="1061801" y="4719401"/>
            <a:ext cx="272125" cy="272125"/>
          </a:xfrm>
          <a:prstGeom prst="rect">
            <a:avLst/>
          </a:prstGeom>
        </p:spPr>
      </p:pic>
      <p:sp>
        <p:nvSpPr>
          <p:cNvPr id="11" name="Text 7"/>
          <p:cNvSpPr/>
          <p:nvPr/>
        </p:nvSpPr>
        <p:spPr>
          <a:xfrm>
            <a:off x="1691640" y="4681728"/>
            <a:ext cx="4663440" cy="822960"/>
          </a:xfrm>
          <a:prstGeom prst="rect">
            <a:avLst/>
          </a:prstGeom>
          <a:noFill/>
          <a:ln/>
        </p:spPr>
        <p:txBody>
          <a:bodyPr wrap="square" lIns="0" tIns="0" rIns="0" bIns="0" rtlCol="0" anchor="ctr"/>
          <a:lstStyle/>
          <a:p>
            <a:pPr indent="0" marL="0">
              <a:buNone/>
            </a:pPr>
            <a:r>
              <a:rPr lang="en-US" sz="1600" b="1" dirty="0">
                <a:solidFill>
                  <a:srgbClr val="028090"/>
                </a:solidFill>
                <a:latin typeface="Arial" pitchFamily="34" charset="0"/>
                <a:ea typeface="Arial" pitchFamily="34" charset="-122"/>
                <a:cs typeface="Arial" pitchFamily="34" charset="-120"/>
              </a:rPr>
              <a:t>Our goal:  </a:t>
            </a:r>
            <a:pPr indent="0" marL="0">
              <a:buNone/>
            </a:pPr>
            <a:r>
              <a:rPr lang="en-US" sz="1600" b="1" dirty="0">
                <a:solidFill>
                  <a:srgbClr val="16263B"/>
                </a:solidFill>
                <a:latin typeface="Arial" pitchFamily="34" charset="0"/>
                <a:ea typeface="Arial" pitchFamily="34" charset="-122"/>
                <a:cs typeface="Arial" pitchFamily="34" charset="-120"/>
              </a:rPr>
              <a:t>an always-on read — with no extra work</a:t>
            </a:r>
            <a:endParaRPr lang="en-US" sz="1600" dirty="0"/>
          </a:p>
        </p:txBody>
      </p:sp>
      <p:sp>
        <p:nvSpPr>
          <p:cNvPr id="12" name="Shape 8"/>
          <p:cNvSpPr/>
          <p:nvPr/>
        </p:nvSpPr>
        <p:spPr>
          <a:xfrm>
            <a:off x="6720840" y="1783080"/>
            <a:ext cx="4800600" cy="4023360"/>
          </a:xfrm>
          <a:prstGeom prst="roundRect">
            <a:avLst>
              <a:gd name="adj" fmla="val 204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Text 9"/>
          <p:cNvSpPr/>
          <p:nvPr/>
        </p:nvSpPr>
        <p:spPr>
          <a:xfrm>
            <a:off x="6720840" y="2148840"/>
            <a:ext cx="480060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DAYS BETWEEN CHECK-INS</a:t>
            </a:r>
            <a:endParaRPr lang="en-US" sz="1200" dirty="0"/>
          </a:p>
        </p:txBody>
      </p:sp>
      <p:sp>
        <p:nvSpPr>
          <p:cNvPr id="14" name="Text 10"/>
          <p:cNvSpPr/>
          <p:nvPr/>
        </p:nvSpPr>
        <p:spPr>
          <a:xfrm>
            <a:off x="6720840" y="2514600"/>
            <a:ext cx="4800600" cy="1188720"/>
          </a:xfrm>
          <a:prstGeom prst="rect">
            <a:avLst/>
          </a:prstGeom>
          <a:noFill/>
          <a:ln/>
        </p:spPr>
        <p:txBody>
          <a:bodyPr wrap="square" lIns="0" tIns="0" rIns="0" bIns="0" rtlCol="0" anchor="ctr"/>
          <a:lstStyle/>
          <a:p>
            <a:pPr algn="ctr" indent="0" marL="0">
              <a:buNone/>
            </a:pPr>
            <a:r>
              <a:rPr lang="en-US" sz="9600" b="1" dirty="0">
                <a:solidFill>
                  <a:srgbClr val="FFFFFF"/>
                </a:solidFill>
                <a:latin typeface="Georgia" pitchFamily="34" charset="0"/>
                <a:ea typeface="Georgia" pitchFamily="34" charset="-122"/>
                <a:cs typeface="Georgia" pitchFamily="34" charset="-120"/>
              </a:rPr>
              <a:t>365</a:t>
            </a:r>
            <a:endParaRPr lang="en-US" sz="9600" dirty="0"/>
          </a:p>
        </p:txBody>
      </p:sp>
      <p:sp>
        <p:nvSpPr>
          <p:cNvPr id="15" name="Shape 11"/>
          <p:cNvSpPr/>
          <p:nvPr/>
        </p:nvSpPr>
        <p:spPr>
          <a:xfrm>
            <a:off x="7406640" y="3977640"/>
            <a:ext cx="3429000" cy="0"/>
          </a:xfrm>
          <a:prstGeom prst="line">
            <a:avLst/>
          </a:prstGeom>
          <a:noFill/>
          <a:ln w="12700">
            <a:solidFill>
              <a:srgbClr val="1B3358"/>
            </a:solidFill>
            <a:prstDash val="solid"/>
          </a:ln>
        </p:spPr>
      </p:sp>
      <p:sp>
        <p:nvSpPr>
          <p:cNvPr id="16" name="Text 12"/>
          <p:cNvSpPr/>
          <p:nvPr/>
        </p:nvSpPr>
        <p:spPr>
          <a:xfrm>
            <a:off x="6720840" y="4206240"/>
            <a:ext cx="4800600" cy="1280160"/>
          </a:xfrm>
          <a:prstGeom prst="rect">
            <a:avLst/>
          </a:prstGeom>
          <a:noFill/>
          <a:ln/>
        </p:spPr>
        <p:txBody>
          <a:bodyPr wrap="square" lIns="0" tIns="0" rIns="0" bIns="0" rtlCol="0" anchor="ctr"/>
          <a:lstStyle/>
          <a:p>
            <a:pPr algn="ctr" indent="0" marL="0">
              <a:buNone/>
            </a:pPr>
            <a:r>
              <a:rPr lang="en-US" sz="1700" i="1" dirty="0">
                <a:solidFill>
                  <a:srgbClr val="DCE8F2"/>
                </a:solidFill>
                <a:latin typeface="Arial" pitchFamily="34" charset="0"/>
                <a:ea typeface="Arial" pitchFamily="34" charset="-122"/>
                <a:cs typeface="Arial" pitchFamily="34" charset="-120"/>
              </a:rPr>
              <a:t>Teams send thousands of</a:t>
            </a:r>
            <a:endParaRPr lang="en-US" sz="1700" dirty="0"/>
          </a:p>
          <a:p>
            <a:pPr algn="ctr" indent="0" marL="0">
              <a:buNone/>
            </a:pPr>
            <a:r>
              <a:rPr lang="en-US" sz="1700" i="1" dirty="0">
                <a:solidFill>
                  <a:srgbClr val="DCE8F2"/>
                </a:solidFill>
                <a:latin typeface="Arial" pitchFamily="34" charset="0"/>
                <a:ea typeface="Arial" pitchFamily="34" charset="-122"/>
                <a:cs typeface="Arial" pitchFamily="34" charset="-120"/>
              </a:rPr>
              <a:t>messages a day — unused</a:t>
            </a:r>
            <a:endParaRPr lang="en-US" sz="1700" dirty="0"/>
          </a:p>
        </p:txBody>
      </p:sp>
      <p:sp>
        <p:nvSpPr>
          <p:cNvPr id="17" name="Shape 13"/>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8" name="Image 2" descr="/home/claude/qr_colab.png">    </p:cNvPr>
          <p:cNvPicPr>
            <a:picLocks noChangeAspect="1"/>
          </p:cNvPicPr>
          <p:nvPr/>
        </p:nvPicPr>
        <p:blipFill>
          <a:blip r:embed="rId3"/>
          <a:stretch>
            <a:fillRect/>
          </a:stretch>
        </p:blipFill>
        <p:spPr>
          <a:xfrm>
            <a:off x="10808208" y="384048"/>
            <a:ext cx="877824" cy="877824"/>
          </a:xfrm>
          <a:prstGeom prst="rect">
            <a:avLst/>
          </a:prstGeom>
        </p:spPr>
      </p:pic>
      <p:sp>
        <p:nvSpPr>
          <p:cNvPr id="19" name="Text 14"/>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0" name="Text 15"/>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OTQ LOOKS AT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“how people talk” to “how the team is doing”</a:t>
            </a:r>
            <a:endParaRPr lang="en-US" sz="2900" dirty="0"/>
          </a:p>
        </p:txBody>
      </p:sp>
      <p:sp>
        <p:nvSpPr>
          <p:cNvPr id="4" name="Shape 2"/>
          <p:cNvSpPr/>
          <p:nvPr/>
        </p:nvSpPr>
        <p:spPr>
          <a:xfrm>
            <a:off x="64008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947672" y="2103120"/>
            <a:ext cx="768096" cy="768096"/>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2147377" y="2302825"/>
            <a:ext cx="368686" cy="368686"/>
          </a:xfrm>
          <a:prstGeom prst="rect">
            <a:avLst/>
          </a:prstGeom>
        </p:spPr>
      </p:pic>
      <p:sp>
        <p:nvSpPr>
          <p:cNvPr id="7" name="Text 4"/>
          <p:cNvSpPr/>
          <p:nvPr/>
        </p:nvSpPr>
        <p:spPr>
          <a:xfrm>
            <a:off x="64008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8090"/>
                </a:solidFill>
                <a:latin typeface="Arial" pitchFamily="34" charset="0"/>
                <a:ea typeface="Arial" pitchFamily="34" charset="-122"/>
                <a:cs typeface="Arial" pitchFamily="34" charset="-120"/>
              </a:rPr>
              <a:t>WE MEASURE</a:t>
            </a:r>
            <a:endParaRPr lang="en-US" sz="1200" dirty="0"/>
          </a:p>
        </p:txBody>
      </p:sp>
      <p:sp>
        <p:nvSpPr>
          <p:cNvPr id="8" name="Text 5"/>
          <p:cNvSpPr/>
          <p:nvPr/>
        </p:nvSpPr>
        <p:spPr>
          <a:xfrm>
            <a:off x="82296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Engagement</a:t>
            </a:r>
            <a:endParaRPr lang="en-US" sz="2400" dirty="0"/>
          </a:p>
        </p:txBody>
      </p:sp>
      <p:sp>
        <p:nvSpPr>
          <p:cNvPr id="9" name="Text 6"/>
          <p:cNvSpPr/>
          <p:nvPr/>
        </p:nvSpPr>
        <p:spPr>
          <a:xfrm>
            <a:off x="86868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much people talk &amp; meet</a:t>
            </a:r>
            <a:endParaRPr lang="en-US" sz="1350" dirty="0"/>
          </a:p>
        </p:txBody>
      </p:sp>
      <p:sp>
        <p:nvSpPr>
          <p:cNvPr id="10" name="Text 7"/>
          <p:cNvSpPr/>
          <p:nvPr/>
        </p:nvSpPr>
        <p:spPr>
          <a:xfrm>
            <a:off x="397764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1" name="Shape 8"/>
          <p:cNvSpPr/>
          <p:nvPr/>
        </p:nvSpPr>
        <p:spPr>
          <a:xfrm>
            <a:off x="438912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5696712" y="2103120"/>
            <a:ext cx="768096" cy="768096"/>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r>
          <p:cNvPicPr>
            <a:picLocks noChangeAspect="1"/>
          </p:cNvPicPr>
          <p:nvPr/>
        </p:nvPicPr>
        <p:blipFill>
          <a:blip r:embed="rId2"/>
          <a:stretch>
            <a:fillRect/>
          </a:stretch>
        </p:blipFill>
        <p:spPr>
          <a:xfrm>
            <a:off x="5896417" y="2302825"/>
            <a:ext cx="368686" cy="368686"/>
          </a:xfrm>
          <a:prstGeom prst="rect">
            <a:avLst/>
          </a:prstGeom>
        </p:spPr>
      </p:pic>
      <p:sp>
        <p:nvSpPr>
          <p:cNvPr id="14" name="Text 10"/>
          <p:cNvSpPr/>
          <p:nvPr/>
        </p:nvSpPr>
        <p:spPr>
          <a:xfrm>
            <a:off x="438912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 PREDICT</a:t>
            </a:r>
            <a:endParaRPr lang="en-US" sz="1200" dirty="0"/>
          </a:p>
        </p:txBody>
      </p:sp>
      <p:sp>
        <p:nvSpPr>
          <p:cNvPr id="15" name="Text 11"/>
          <p:cNvSpPr/>
          <p:nvPr/>
        </p:nvSpPr>
        <p:spPr>
          <a:xfrm>
            <a:off x="457200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Responsiveness</a:t>
            </a:r>
            <a:endParaRPr lang="en-US" sz="2400" dirty="0"/>
          </a:p>
        </p:txBody>
      </p:sp>
      <p:sp>
        <p:nvSpPr>
          <p:cNvPr id="16" name="Text 12"/>
          <p:cNvSpPr/>
          <p:nvPr/>
        </p:nvSpPr>
        <p:spPr>
          <a:xfrm>
            <a:off x="461772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fast they reply</a:t>
            </a:r>
            <a:endParaRPr lang="en-US" sz="1350" dirty="0"/>
          </a:p>
        </p:txBody>
      </p:sp>
      <p:sp>
        <p:nvSpPr>
          <p:cNvPr id="17" name="Text 13"/>
          <p:cNvSpPr/>
          <p:nvPr/>
        </p:nvSpPr>
        <p:spPr>
          <a:xfrm>
            <a:off x="772668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8" name="Shape 14"/>
          <p:cNvSpPr/>
          <p:nvPr/>
        </p:nvSpPr>
        <p:spPr>
          <a:xfrm>
            <a:off x="8138160" y="1828800"/>
            <a:ext cx="3383280" cy="3200400"/>
          </a:xfrm>
          <a:prstGeom prst="roundRect">
            <a:avLst>
              <a:gd name="adj" fmla="val 2571"/>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5"/>
          <p:cNvSpPr/>
          <p:nvPr/>
        </p:nvSpPr>
        <p:spPr>
          <a:xfrm>
            <a:off x="9445752" y="2103120"/>
            <a:ext cx="768096" cy="768096"/>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r>
          <p:cNvPicPr>
            <a:picLocks noChangeAspect="1"/>
          </p:cNvPicPr>
          <p:nvPr/>
        </p:nvPicPr>
        <p:blipFill>
          <a:blip r:embed="rId3"/>
          <a:stretch>
            <a:fillRect/>
          </a:stretch>
        </p:blipFill>
        <p:spPr>
          <a:xfrm>
            <a:off x="9645457" y="2302825"/>
            <a:ext cx="368686" cy="368686"/>
          </a:xfrm>
          <a:prstGeom prst="rect">
            <a:avLst/>
          </a:prstGeom>
        </p:spPr>
      </p:pic>
      <p:sp>
        <p:nvSpPr>
          <p:cNvPr id="21" name="Text 16"/>
          <p:cNvSpPr/>
          <p:nvPr/>
        </p:nvSpPr>
        <p:spPr>
          <a:xfrm>
            <a:off x="813816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WE'RE AFTER</a:t>
            </a:r>
            <a:endParaRPr lang="en-US" sz="1200" dirty="0"/>
          </a:p>
        </p:txBody>
      </p:sp>
      <p:sp>
        <p:nvSpPr>
          <p:cNvPr id="22" name="Text 17"/>
          <p:cNvSpPr/>
          <p:nvPr/>
        </p:nvSpPr>
        <p:spPr>
          <a:xfrm>
            <a:off x="8321040" y="3310128"/>
            <a:ext cx="30175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Trust</a:t>
            </a:r>
            <a:endParaRPr lang="en-US" sz="2400" dirty="0"/>
          </a:p>
        </p:txBody>
      </p:sp>
      <p:sp>
        <p:nvSpPr>
          <p:cNvPr id="23" name="Text 18"/>
          <p:cNvSpPr/>
          <p:nvPr/>
        </p:nvSpPr>
        <p:spPr>
          <a:xfrm>
            <a:off x="8366760" y="3931920"/>
            <a:ext cx="2926080" cy="822960"/>
          </a:xfrm>
          <a:prstGeom prst="rect">
            <a:avLst/>
          </a:prstGeom>
          <a:noFill/>
          <a:ln/>
        </p:spPr>
        <p:txBody>
          <a:bodyPr wrap="square" lIns="0" tIns="0" rIns="0" bIns="0" rtlCol="0" anchor="ctr"/>
          <a:lstStyle/>
          <a:p>
            <a:pPr algn="ctr" indent="0" marL="0">
              <a:buNone/>
            </a:pPr>
            <a:r>
              <a:rPr lang="en-US" sz="1350" dirty="0">
                <a:solidFill>
                  <a:srgbClr val="C7D6E5"/>
                </a:solidFill>
                <a:latin typeface="Arial" pitchFamily="34" charset="0"/>
                <a:ea typeface="Arial" pitchFamily="34" charset="-122"/>
                <a:cs typeface="Arial" pitchFamily="34" charset="-120"/>
              </a:rPr>
              <a:t>the thing underneath — inferred</a:t>
            </a:r>
            <a:endParaRPr lang="en-US" sz="1350" dirty="0"/>
          </a:p>
        </p:txBody>
      </p:sp>
      <p:sp>
        <p:nvSpPr>
          <p:cNvPr id="24" name="Shape 19"/>
          <p:cNvSpPr/>
          <p:nvPr/>
        </p:nvSpPr>
        <p:spPr>
          <a:xfrm>
            <a:off x="640080" y="5257800"/>
            <a:ext cx="10881360" cy="731520"/>
          </a:xfrm>
          <a:prstGeom prst="roundRect">
            <a:avLst>
              <a:gd name="adj" fmla="val 11250"/>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Text 20"/>
          <p:cNvSpPr/>
          <p:nvPr/>
        </p:nvSpPr>
        <p:spPr>
          <a:xfrm>
            <a:off x="914400" y="5257800"/>
            <a:ext cx="10332720" cy="731520"/>
          </a:xfrm>
          <a:prstGeom prst="rect">
            <a:avLst/>
          </a:prstGeom>
          <a:noFill/>
          <a:ln/>
        </p:spPr>
        <p:txBody>
          <a:bodyPr wrap="square" lIns="0" tIns="0" rIns="0" bIns="0" rtlCol="0" anchor="ctr"/>
          <a:lstStyle/>
          <a:p>
            <a:pPr indent="0" marL="0">
              <a:buNone/>
            </a:pPr>
            <a:r>
              <a:rPr lang="en-US" sz="1400" b="1" dirty="0">
                <a:solidFill>
                  <a:srgbClr val="028090"/>
                </a:solidFill>
                <a:latin typeface="Arial" pitchFamily="34" charset="0"/>
                <a:ea typeface="Arial" pitchFamily="34" charset="-122"/>
                <a:cs typeface="Arial" pitchFamily="34" charset="-120"/>
              </a:rPr>
              <a:t>Being honest:  </a:t>
            </a:r>
            <a:pPr indent="0" marL="0">
              <a:buNone/>
            </a:pPr>
            <a:r>
              <a:rPr lang="en-US" sz="1400" dirty="0">
                <a:solidFill>
                  <a:srgbClr val="16263B"/>
                </a:solidFill>
                <a:latin typeface="Arial" pitchFamily="34" charset="0"/>
                <a:ea typeface="Arial" pitchFamily="34" charset="-122"/>
                <a:cs typeface="Arial" pitchFamily="34" charset="-120"/>
              </a:rPr>
              <a:t>we measure talk and predict replies. Trust is what we believe sits underneath — we don't claim to measure it directly.</a:t>
            </a:r>
            <a:endParaRPr lang="en-US" sz="1400" dirty="0"/>
          </a:p>
        </p:txBody>
      </p:sp>
      <p:sp>
        <p:nvSpPr>
          <p:cNvPr id="26" name="Shape 2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7" name="Image 3" descr="/home/claude/qr_colab.png">    </p:cNvPr>
          <p:cNvPicPr>
            <a:picLocks noChangeAspect="1"/>
          </p:cNvPicPr>
          <p:nvPr/>
        </p:nvPicPr>
        <p:blipFill>
          <a:blip r:embed="rId4"/>
          <a:stretch>
            <a:fillRect/>
          </a:stretch>
        </p:blipFill>
        <p:spPr>
          <a:xfrm>
            <a:off x="10808208" y="384048"/>
            <a:ext cx="877824" cy="877824"/>
          </a:xfrm>
          <a:prstGeom prst="rect">
            <a:avLst/>
          </a:prstGeom>
        </p:spPr>
      </p:pic>
      <p:sp>
        <p:nvSpPr>
          <p:cNvPr id="28" name="Text 2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9" name="Text 2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WHERE IT COMES FROM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Three everyday tools, one combined table</a:t>
            </a:r>
            <a:endParaRPr lang="en-US" sz="2900" dirty="0"/>
          </a:p>
        </p:txBody>
      </p:sp>
      <p:sp>
        <p:nvSpPr>
          <p:cNvPr id="4" name="Shape 2"/>
          <p:cNvSpPr/>
          <p:nvPr/>
        </p:nvSpPr>
        <p:spPr>
          <a:xfrm>
            <a:off x="6400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6230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825142" y="2305202"/>
            <a:ext cx="373075" cy="373075"/>
          </a:xfrm>
          <a:prstGeom prst="rect">
            <a:avLst/>
          </a:prstGeom>
        </p:spPr>
      </p:pic>
      <p:sp>
        <p:nvSpPr>
          <p:cNvPr id="7" name="Text 4"/>
          <p:cNvSpPr/>
          <p:nvPr/>
        </p:nvSpPr>
        <p:spPr>
          <a:xfrm>
            <a:off x="6400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Slack</a:t>
            </a:r>
            <a:endParaRPr lang="en-US" sz="1800" dirty="0"/>
          </a:p>
        </p:txBody>
      </p:sp>
      <p:sp>
        <p:nvSpPr>
          <p:cNvPr id="8" name="Text 5"/>
          <p:cNvSpPr/>
          <p:nvPr/>
        </p:nvSpPr>
        <p:spPr>
          <a:xfrm>
            <a:off x="6400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56 chat messages</a:t>
            </a:r>
            <a:endParaRPr lang="en-US" sz="1300" dirty="0"/>
          </a:p>
        </p:txBody>
      </p:sp>
      <p:sp>
        <p:nvSpPr>
          <p:cNvPr id="9" name="Shape 6"/>
          <p:cNvSpPr/>
          <p:nvPr/>
        </p:nvSpPr>
        <p:spPr>
          <a:xfrm>
            <a:off x="36118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45948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4796942" y="2305202"/>
            <a:ext cx="373075" cy="373075"/>
          </a:xfrm>
          <a:prstGeom prst="rect">
            <a:avLst/>
          </a:prstGeom>
        </p:spPr>
      </p:pic>
      <p:sp>
        <p:nvSpPr>
          <p:cNvPr id="12" name="Text 8"/>
          <p:cNvSpPr/>
          <p:nvPr/>
        </p:nvSpPr>
        <p:spPr>
          <a:xfrm>
            <a:off x="36118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Teams</a:t>
            </a:r>
            <a:endParaRPr lang="en-US" sz="1800" dirty="0"/>
          </a:p>
        </p:txBody>
      </p:sp>
      <p:sp>
        <p:nvSpPr>
          <p:cNvPr id="13" name="Text 9"/>
          <p:cNvSpPr/>
          <p:nvPr/>
        </p:nvSpPr>
        <p:spPr>
          <a:xfrm>
            <a:off x="36118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30 meetings</a:t>
            </a:r>
            <a:endParaRPr lang="en-US" sz="1300" dirty="0"/>
          </a:p>
        </p:txBody>
      </p:sp>
      <p:sp>
        <p:nvSpPr>
          <p:cNvPr id="14" name="Shape 10"/>
          <p:cNvSpPr/>
          <p:nvPr/>
        </p:nvSpPr>
        <p:spPr>
          <a:xfrm>
            <a:off x="65836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75666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r>
          <p:cNvPicPr>
            <a:picLocks noChangeAspect="1"/>
          </p:cNvPicPr>
          <p:nvPr/>
        </p:nvPicPr>
        <p:blipFill>
          <a:blip r:embed="rId3"/>
          <a:stretch>
            <a:fillRect/>
          </a:stretch>
        </p:blipFill>
        <p:spPr>
          <a:xfrm>
            <a:off x="7768742" y="2305202"/>
            <a:ext cx="373075" cy="373075"/>
          </a:xfrm>
          <a:prstGeom prst="rect">
            <a:avLst/>
          </a:prstGeom>
        </p:spPr>
      </p:pic>
      <p:sp>
        <p:nvSpPr>
          <p:cNvPr id="17" name="Text 12"/>
          <p:cNvSpPr/>
          <p:nvPr/>
        </p:nvSpPr>
        <p:spPr>
          <a:xfrm>
            <a:off x="65836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Outlook</a:t>
            </a:r>
            <a:endParaRPr lang="en-US" sz="1800" dirty="0"/>
          </a:p>
        </p:txBody>
      </p:sp>
      <p:sp>
        <p:nvSpPr>
          <p:cNvPr id="18" name="Text 13"/>
          <p:cNvSpPr/>
          <p:nvPr/>
        </p:nvSpPr>
        <p:spPr>
          <a:xfrm>
            <a:off x="65836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20 calendar invites</a:t>
            </a:r>
            <a:endParaRPr lang="en-US" sz="1300" dirty="0"/>
          </a:p>
        </p:txBody>
      </p:sp>
      <p:sp>
        <p:nvSpPr>
          <p:cNvPr id="19" name="Text 14"/>
          <p:cNvSpPr/>
          <p:nvPr/>
        </p:nvSpPr>
        <p:spPr>
          <a:xfrm>
            <a:off x="9144000" y="2542032"/>
            <a:ext cx="640080" cy="731520"/>
          </a:xfrm>
          <a:prstGeom prst="rect">
            <a:avLst/>
          </a:prstGeom>
          <a:noFill/>
          <a:ln/>
        </p:spPr>
        <p:txBody>
          <a:bodyPr wrap="square" lIns="0" tIns="0" rIns="0" bIns="0" rtlCol="0" anchor="ctr"/>
          <a:lstStyle/>
          <a:p>
            <a:pPr algn="ctr" indent="0" marL="0">
              <a:buNone/>
            </a:pPr>
            <a:r>
              <a:rPr lang="en-US" sz="4000" b="1" dirty="0">
                <a:solidFill>
                  <a:srgbClr val="028090"/>
                </a:solidFill>
                <a:latin typeface="Arial" pitchFamily="34" charset="0"/>
                <a:ea typeface="Arial" pitchFamily="34" charset="-122"/>
                <a:cs typeface="Arial" pitchFamily="34" charset="-120"/>
              </a:rPr>
              <a:t>→</a:t>
            </a:r>
            <a:endParaRPr lang="en-US" sz="4000" dirty="0"/>
          </a:p>
        </p:txBody>
      </p:sp>
      <p:sp>
        <p:nvSpPr>
          <p:cNvPr id="20" name="Shape 15"/>
          <p:cNvSpPr/>
          <p:nvPr/>
        </p:nvSpPr>
        <p:spPr>
          <a:xfrm>
            <a:off x="9829800" y="1828800"/>
            <a:ext cx="1691640" cy="2148840"/>
          </a:xfrm>
          <a:prstGeom prst="roundRect">
            <a:avLst>
              <a:gd name="adj" fmla="val 48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Shape 16"/>
          <p:cNvSpPr/>
          <p:nvPr/>
        </p:nvSpPr>
        <p:spPr>
          <a:xfrm>
            <a:off x="10309860" y="2103120"/>
            <a:ext cx="731520" cy="73152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2" name="Image 3" descr="preencoded.png">    </p:cNvPr>
          <p:cNvPicPr>
            <a:picLocks noChangeAspect="1"/>
          </p:cNvPicPr>
          <p:nvPr/>
        </p:nvPicPr>
        <p:blipFill>
          <a:blip r:embed="rId4"/>
          <a:stretch>
            <a:fillRect/>
          </a:stretch>
        </p:blipFill>
        <p:spPr>
          <a:xfrm>
            <a:off x="10500055" y="2293315"/>
            <a:ext cx="351130" cy="351130"/>
          </a:xfrm>
          <a:prstGeom prst="rect">
            <a:avLst/>
          </a:prstGeom>
        </p:spPr>
      </p:pic>
      <p:sp>
        <p:nvSpPr>
          <p:cNvPr id="23" name="Text 17"/>
          <p:cNvSpPr/>
          <p:nvPr/>
        </p:nvSpPr>
        <p:spPr>
          <a:xfrm>
            <a:off x="9829800" y="3035808"/>
            <a:ext cx="16916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106 events</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in one table</a:t>
            </a:r>
            <a:endParaRPr lang="en-US" sz="1400" dirty="0"/>
          </a:p>
        </p:txBody>
      </p:sp>
      <p:sp>
        <p:nvSpPr>
          <p:cNvPr id="24" name="Shape 18"/>
          <p:cNvSpPr/>
          <p:nvPr/>
        </p:nvSpPr>
        <p:spPr>
          <a:xfrm>
            <a:off x="640080" y="4251960"/>
            <a:ext cx="10881360" cy="1417320"/>
          </a:xfrm>
          <a:prstGeom prst="roundRect">
            <a:avLst>
              <a:gd name="adj" fmla="val 5806"/>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Shape 19"/>
          <p:cNvSpPr/>
          <p:nvPr/>
        </p:nvSpPr>
        <p:spPr>
          <a:xfrm>
            <a:off x="914400" y="4526280"/>
            <a:ext cx="640080" cy="64008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6" name="Image 4" descr="preencoded.png">    </p:cNvPr>
          <p:cNvPicPr>
            <a:picLocks noChangeAspect="1"/>
          </p:cNvPicPr>
          <p:nvPr/>
        </p:nvPicPr>
        <p:blipFill>
          <a:blip r:embed="rId5"/>
          <a:stretch>
            <a:fillRect/>
          </a:stretch>
        </p:blipFill>
        <p:spPr>
          <a:xfrm>
            <a:off x="1080821" y="4692701"/>
            <a:ext cx="307238" cy="307238"/>
          </a:xfrm>
          <a:prstGeom prst="rect">
            <a:avLst/>
          </a:prstGeom>
        </p:spPr>
      </p:pic>
      <p:sp>
        <p:nvSpPr>
          <p:cNvPr id="27" name="Text 20"/>
          <p:cNvSpPr/>
          <p:nvPr/>
        </p:nvSpPr>
        <p:spPr>
          <a:xfrm>
            <a:off x="1783080" y="4480560"/>
            <a:ext cx="950976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Practice data: the “Apostles” dataset</a:t>
            </a:r>
            <a:endParaRPr lang="en-US" sz="1600" dirty="0"/>
          </a:p>
        </p:txBody>
      </p:sp>
      <p:sp>
        <p:nvSpPr>
          <p:cNvPr id="28" name="Text 21"/>
          <p:cNvSpPr/>
          <p:nvPr/>
        </p:nvSpPr>
        <p:spPr>
          <a:xfrm>
            <a:off x="1783080" y="4864608"/>
            <a:ext cx="9509760" cy="731520"/>
          </a:xfrm>
          <a:prstGeom prst="rect">
            <a:avLst/>
          </a:prstGeom>
          <a:noFill/>
          <a:ln/>
        </p:spPr>
        <p:txBody>
          <a:bodyPr wrap="square" lIns="0" tIns="0" rIns="0" bIns="0" rtlCol="0" anchor="ctr"/>
          <a:lstStyle/>
          <a:p>
            <a:pPr indent="0" marL="0">
              <a:buNone/>
            </a:pPr>
            <a:r>
              <a:rPr lang="en-US" sz="1350" dirty="0">
                <a:solidFill>
                  <a:srgbClr val="5C6B7A"/>
                </a:solidFill>
                <a:latin typeface="Arial" pitchFamily="34" charset="0"/>
                <a:ea typeface="Arial" pitchFamily="34" charset="-122"/>
                <a:cs typeface="Arial" pitchFamily="34" charset="-120"/>
              </a:rPr>
              <a:t>No real company yet — so we built safe stand-in data from Bible figures (the apostles). Same shape as real Slack / Teams / Outlook exports, so the code is ready for the real thing.</a:t>
            </a:r>
            <a:endParaRPr lang="en-US" sz="1350" dirty="0"/>
          </a:p>
        </p:txBody>
      </p:sp>
      <p:sp>
        <p:nvSpPr>
          <p:cNvPr id="29" name="Shape 22"/>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0" name="Image 5" descr="/home/claude/qr_colab.png">    </p:cNvPr>
          <p:cNvPicPr>
            <a:picLocks noChangeAspect="1"/>
          </p:cNvPicPr>
          <p:nvPr/>
        </p:nvPicPr>
        <p:blipFill>
          <a:blip r:embed="rId6"/>
          <a:stretch>
            <a:fillRect/>
          </a:stretch>
        </p:blipFill>
        <p:spPr>
          <a:xfrm>
            <a:off x="10808208" y="384048"/>
            <a:ext cx="877824" cy="877824"/>
          </a:xfrm>
          <a:prstGeom prst="rect">
            <a:avLst/>
          </a:prstGeom>
        </p:spPr>
      </p:pic>
      <p:sp>
        <p:nvSpPr>
          <p:cNvPr id="31" name="Text 23"/>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32" name="Text 24"/>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WHAT'S IN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Each row is one interaction — counts, not words</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7406640" cy="914400"/>
        </p:xfrm>
        <a:graphic>
          <a:graphicData uri="http://schemas.openxmlformats.org/drawingml/2006/table">
            <a:tbl>
              <a:tblPr/>
              <a:tblGrid>
                <a:gridCol w="1051560"/>
                <a:gridCol w="1051560"/>
                <a:gridCol w="1097280"/>
                <a:gridCol w="1691640"/>
                <a:gridCol w="777240"/>
                <a:gridCol w="868680"/>
                <a:gridCol w="868680"/>
              </a:tblGrid>
              <a:tr h="457200">
                <a:tc>
                  <a:txBody>
                    <a:bodyPr/>
                    <a:lstStyle/>
                    <a:p>
                      <a:pPr algn="ctr" indent="0" marL="0">
                        <a:buNone/>
                      </a:pPr>
                      <a:r>
                        <a:rPr lang="en-US" sz="1200" b="1" dirty="0">
                          <a:solidFill>
                            <a:srgbClr val="FFFFFF"/>
                          </a:solidFill>
                        </a:rPr>
                        <a:t>Source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Type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Who</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Channel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Min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People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Score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r>
              <a:tr h="457200">
                <a:tc>
                  <a:txBody>
                    <a:bodyPr/>
                    <a:lstStyle/>
                    <a:p>
                      <a:pPr algn="ctr" indent="0" marL="0">
                        <a:buNone/>
                      </a:pPr>
                      <a:r>
                        <a:rPr lang="en-US" sz="1200" dirty="0">
                          <a:solidFill>
                            <a:srgbClr val="16263B"/>
                          </a:solidFill>
                        </a:rPr>
                        <a:t>Teams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Peter</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council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60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12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30.9</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Paul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epistles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11.0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r h="457200">
                <a:tc>
                  <a:txBody>
                    <a:bodyPr/>
                    <a:lstStyle/>
                    <a:p>
                      <a:pPr algn="ctr" indent="0" marL="0">
                        <a:buNone/>
                      </a:pPr>
                      <a:r>
                        <a:rPr lang="en-US" sz="1200" dirty="0">
                          <a:solidFill>
                            <a:srgbClr val="16263B"/>
                          </a:solidFill>
                        </a:rPr>
                        <a:t>Outlook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James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assembly</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90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8</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John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acts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4</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12.5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bl>
          </a:graphicData>
        </a:graphic>
      </p:graphicFrame>
      <p:sp>
        <p:nvSpPr>
          <p:cNvPr id="5" name="Text 2"/>
          <p:cNvSpPr/>
          <p:nvPr/>
        </p:nvSpPr>
        <p:spPr>
          <a:xfrm>
            <a:off x="640080" y="4434840"/>
            <a:ext cx="7406640" cy="457200"/>
          </a:xfrm>
          <a:prstGeom prst="rect">
            <a:avLst/>
          </a:prstGeom>
          <a:noFill/>
          <a:ln/>
        </p:spPr>
        <p:txBody>
          <a:bodyPr wrap="square" lIns="0" tIns="0" rIns="0" bIns="0" rtlCol="0" anchor="ctr"/>
          <a:lstStyle/>
          <a:p>
            <a:pPr indent="0" marL="0">
              <a:buNone/>
            </a:pPr>
            <a:r>
              <a:rPr lang="en-US" sz="1150" i="1" dirty="0">
                <a:solidFill>
                  <a:srgbClr val="5C6B7A"/>
                </a:solidFill>
                <a:latin typeface="Arial" pitchFamily="34" charset="0"/>
                <a:ea typeface="Arial" pitchFamily="34" charset="-122"/>
                <a:cs typeface="Arial" pitchFamily="34" charset="-120"/>
              </a:rPr>
              <a:t>Sample rows from the combined table. Names/channels are labels in the data — never message content.</a:t>
            </a:r>
            <a:endParaRPr lang="en-US" sz="1150" dirty="0"/>
          </a:p>
        </p:txBody>
      </p:sp>
      <p:sp>
        <p:nvSpPr>
          <p:cNvPr id="6" name="Shape 3"/>
          <p:cNvSpPr/>
          <p:nvPr/>
        </p:nvSpPr>
        <p:spPr>
          <a:xfrm>
            <a:off x="8229600" y="1965960"/>
            <a:ext cx="3291840" cy="2331720"/>
          </a:xfrm>
          <a:prstGeom prst="roundRect">
            <a:avLst>
              <a:gd name="adj" fmla="val 352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8458200" y="219456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r>
          <p:cNvPicPr>
            <a:picLocks noChangeAspect="1"/>
          </p:cNvPicPr>
          <p:nvPr/>
        </p:nvPicPr>
        <p:blipFill>
          <a:blip r:embed="rId1"/>
          <a:stretch>
            <a:fillRect/>
          </a:stretch>
        </p:blipFill>
        <p:spPr>
          <a:xfrm>
            <a:off x="8588959" y="2325319"/>
            <a:ext cx="241402" cy="241402"/>
          </a:xfrm>
          <a:prstGeom prst="rect">
            <a:avLst/>
          </a:prstGeom>
        </p:spPr>
      </p:pic>
      <p:sp>
        <p:nvSpPr>
          <p:cNvPr id="9" name="Text 5"/>
          <p:cNvSpPr/>
          <p:nvPr/>
        </p:nvSpPr>
        <p:spPr>
          <a:xfrm>
            <a:off x="9098280" y="2249424"/>
            <a:ext cx="2286000" cy="320040"/>
          </a:xfrm>
          <a:prstGeom prst="rect">
            <a:avLst/>
          </a:prstGeom>
          <a:noFill/>
          <a:ln/>
        </p:spPr>
        <p:txBody>
          <a:bodyPr wrap="square" lIns="0" tIns="0" rIns="0" bIns="0" rtlCol="0" anchor="ctr"/>
          <a:lstStyle/>
          <a:p>
            <a:pPr indent="0" marL="0">
              <a:buNone/>
            </a:pPr>
            <a:r>
              <a:rPr lang="en-US" sz="1400" b="1" dirty="0">
                <a:solidFill>
                  <a:srgbClr val="16263B"/>
                </a:solidFill>
                <a:latin typeface="Arial" pitchFamily="34" charset="0"/>
                <a:ea typeface="Arial" pitchFamily="34" charset="-122"/>
                <a:cs typeface="Arial" pitchFamily="34" charset="-120"/>
              </a:rPr>
              <a:t>What we keep</a:t>
            </a:r>
            <a:endParaRPr lang="en-US" sz="1400" dirty="0"/>
          </a:p>
        </p:txBody>
      </p:sp>
      <p:sp>
        <p:nvSpPr>
          <p:cNvPr id="10" name="Text 6"/>
          <p:cNvSpPr/>
          <p:nvPr/>
        </p:nvSpPr>
        <p:spPr>
          <a:xfrm>
            <a:off x="8503920" y="2788920"/>
            <a:ext cx="283464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Who &amp; where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long</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many people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A reply-speed clue</a:t>
            </a:r>
            <a:endParaRPr lang="en-US" sz="1300" dirty="0"/>
          </a:p>
        </p:txBody>
      </p:sp>
      <p:sp>
        <p:nvSpPr>
          <p:cNvPr id="11" name="Shape 7"/>
          <p:cNvSpPr/>
          <p:nvPr/>
        </p:nvSpPr>
        <p:spPr>
          <a:xfrm>
            <a:off x="8229600"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Text 8"/>
          <p:cNvSpPr/>
          <p:nvPr/>
        </p:nvSpPr>
        <p:spPr>
          <a:xfrm>
            <a:off x="8229600"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106</a:t>
            </a:r>
            <a:endParaRPr lang="en-US" sz="2600" dirty="0"/>
          </a:p>
        </p:txBody>
      </p:sp>
      <p:sp>
        <p:nvSpPr>
          <p:cNvPr id="13" name="Text 9"/>
          <p:cNvSpPr/>
          <p:nvPr/>
        </p:nvSpPr>
        <p:spPr>
          <a:xfrm>
            <a:off x="8229600"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events</a:t>
            </a:r>
            <a:endParaRPr lang="en-US" sz="1050" dirty="0"/>
          </a:p>
        </p:txBody>
      </p:sp>
      <p:sp>
        <p:nvSpPr>
          <p:cNvPr id="14" name="Shape 10"/>
          <p:cNvSpPr/>
          <p:nvPr/>
        </p:nvSpPr>
        <p:spPr>
          <a:xfrm>
            <a:off x="9358884"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Text 11"/>
          <p:cNvSpPr/>
          <p:nvPr/>
        </p:nvSpPr>
        <p:spPr>
          <a:xfrm>
            <a:off x="9358884"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6" name="Text 12"/>
          <p:cNvSpPr/>
          <p:nvPr/>
        </p:nvSpPr>
        <p:spPr>
          <a:xfrm>
            <a:off x="9358884"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sources</a:t>
            </a:r>
            <a:endParaRPr lang="en-US" sz="1050" dirty="0"/>
          </a:p>
        </p:txBody>
      </p:sp>
      <p:sp>
        <p:nvSpPr>
          <p:cNvPr id="17" name="Shape 13"/>
          <p:cNvSpPr/>
          <p:nvPr/>
        </p:nvSpPr>
        <p:spPr>
          <a:xfrm>
            <a:off x="10488168"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8" name="Text 14"/>
          <p:cNvSpPr/>
          <p:nvPr/>
        </p:nvSpPr>
        <p:spPr>
          <a:xfrm>
            <a:off x="10488168"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8</a:t>
            </a:r>
            <a:endParaRPr lang="en-US" sz="2600" dirty="0"/>
          </a:p>
        </p:txBody>
      </p:sp>
      <p:sp>
        <p:nvSpPr>
          <p:cNvPr id="19" name="Text 15"/>
          <p:cNvSpPr/>
          <p:nvPr/>
        </p:nvSpPr>
        <p:spPr>
          <a:xfrm>
            <a:off x="10488168"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fields each</a:t>
            </a:r>
            <a:endParaRPr lang="en-US" sz="1050" dirty="0"/>
          </a:p>
        </p:txBody>
      </p:sp>
      <p:sp>
        <p:nvSpPr>
          <p:cNvPr id="20" name="Shape 1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1" name="Image 1" descr="/home/claude/qr_colab.png">    </p:cNvPr>
          <p:cNvPicPr>
            <a:picLocks noChangeAspect="1"/>
          </p:cNvPicPr>
          <p:nvPr/>
        </p:nvPicPr>
        <p:blipFill>
          <a:blip r:embed="rId2"/>
          <a:stretch>
            <a:fillRect/>
          </a:stretch>
        </p:blipFill>
        <p:spPr>
          <a:xfrm>
            <a:off x="10808208" y="384048"/>
            <a:ext cx="877824" cy="877824"/>
          </a:xfrm>
          <a:prstGeom prst="rect">
            <a:avLst/>
          </a:prstGeom>
        </p:spPr>
      </p:pic>
      <p:sp>
        <p:nvSpPr>
          <p:cNvPr id="22" name="Text 1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3"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HOW WE SCORE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Give every interaction a score</a:t>
            </a:r>
            <a:endParaRPr lang="en-US" sz="2900" dirty="0"/>
          </a:p>
        </p:txBody>
      </p:sp>
      <p:sp>
        <p:nvSpPr>
          <p:cNvPr id="4" name="Text 2"/>
          <p:cNvSpPr/>
          <p:nvPr/>
        </p:nvSpPr>
        <p:spPr>
          <a:xfrm>
            <a:off x="640080" y="1645920"/>
            <a:ext cx="10881360" cy="457200"/>
          </a:xfrm>
          <a:prstGeom prst="rect">
            <a:avLst/>
          </a:prstGeom>
          <a:noFill/>
          <a:ln/>
        </p:spPr>
        <p:txBody>
          <a:bodyPr wrap="square" lIns="0" tIns="0" rIns="0" bIns="0" rtlCol="0" anchor="ctr"/>
          <a:lstStyle/>
          <a:p>
            <a:pPr indent="0" marL="0">
              <a:buNone/>
            </a:pPr>
            <a:r>
              <a:rPr lang="en-US" sz="1500" dirty="0">
                <a:solidFill>
                  <a:srgbClr val="5C6B7A"/>
                </a:solidFill>
                <a:latin typeface="Arial" pitchFamily="34" charset="0"/>
                <a:ea typeface="Arial" pitchFamily="34" charset="-122"/>
                <a:cs typeface="Arial" pitchFamily="34" charset="-120"/>
              </a:rPr>
              <a:t>Bigger score = more engagement. Meetings count more than emails; longer and more people count more.</a:t>
            </a:r>
            <a:endParaRPr lang="en-US" sz="1500" dirty="0"/>
          </a:p>
        </p:txBody>
      </p:sp>
      <p:graphicFrame>
        <p:nvGraphicFramePr>
          <p:cNvPr id="5" name="Chart 0" descr=""/>
          <p:cNvGraphicFramePr/>
          <p:nvPr/>
        </p:nvGraphicFramePr>
        <p:xfrm>
          <a:off x="502920" y="224028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2240280"/>
            <a:ext cx="4663440" cy="1600200"/>
          </a:xfrm>
          <a:prstGeom prst="roundRect">
            <a:avLst>
              <a:gd name="adj" fmla="val 514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7086600" y="251460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r>
          <p:cNvPicPr>
            <a:picLocks noChangeAspect="1"/>
          </p:cNvPicPr>
          <p:nvPr/>
        </p:nvPicPr>
        <p:blipFill>
          <a:blip r:embed="rId2"/>
          <a:stretch>
            <a:fillRect/>
          </a:stretch>
        </p:blipFill>
        <p:spPr>
          <a:xfrm>
            <a:off x="7217359" y="2645359"/>
            <a:ext cx="241402" cy="241402"/>
          </a:xfrm>
          <a:prstGeom prst="rect">
            <a:avLst/>
          </a:prstGeom>
        </p:spPr>
      </p:pic>
      <p:sp>
        <p:nvSpPr>
          <p:cNvPr id="9" name="Text 5"/>
          <p:cNvSpPr/>
          <p:nvPr/>
        </p:nvSpPr>
        <p:spPr>
          <a:xfrm>
            <a:off x="7772400" y="2560320"/>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Score one event</a:t>
            </a:r>
            <a:endParaRPr lang="en-US" sz="1500" dirty="0"/>
          </a:p>
        </p:txBody>
      </p:sp>
      <p:sp>
        <p:nvSpPr>
          <p:cNvPr id="10" name="Text 6"/>
          <p:cNvSpPr/>
          <p:nvPr/>
        </p:nvSpPr>
        <p:spPr>
          <a:xfrm>
            <a:off x="7772400" y="292608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Start: type of interaction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long it ran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many people</a:t>
            </a:r>
            <a:endParaRPr lang="en-US" sz="1300" dirty="0"/>
          </a:p>
        </p:txBody>
      </p:sp>
      <p:sp>
        <p:nvSpPr>
          <p:cNvPr id="11" name="Shape 7"/>
          <p:cNvSpPr/>
          <p:nvPr/>
        </p:nvSpPr>
        <p:spPr>
          <a:xfrm>
            <a:off x="6858000" y="4069080"/>
            <a:ext cx="4663440" cy="1737360"/>
          </a:xfrm>
          <a:prstGeom prst="roundRect">
            <a:avLst>
              <a:gd name="adj" fmla="val 4737"/>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8"/>
          <p:cNvSpPr/>
          <p:nvPr/>
        </p:nvSpPr>
        <p:spPr>
          <a:xfrm>
            <a:off x="7086600" y="4315968"/>
            <a:ext cx="502920" cy="50292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r>
          <p:cNvPicPr>
            <a:picLocks noChangeAspect="1"/>
          </p:cNvPicPr>
          <p:nvPr/>
        </p:nvPicPr>
        <p:blipFill>
          <a:blip r:embed="rId3"/>
          <a:stretch>
            <a:fillRect/>
          </a:stretch>
        </p:blipFill>
        <p:spPr>
          <a:xfrm>
            <a:off x="7217359" y="4446727"/>
            <a:ext cx="241402" cy="241402"/>
          </a:xfrm>
          <a:prstGeom prst="rect">
            <a:avLst/>
          </a:prstGeom>
        </p:spPr>
      </p:pic>
      <p:sp>
        <p:nvSpPr>
          <p:cNvPr id="14" name="Text 9"/>
          <p:cNvSpPr/>
          <p:nvPr/>
        </p:nvSpPr>
        <p:spPr>
          <a:xfrm>
            <a:off x="7772400" y="4361688"/>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Add up each day</a:t>
            </a:r>
            <a:endParaRPr lang="en-US" sz="1500" dirty="0"/>
          </a:p>
        </p:txBody>
      </p:sp>
      <p:sp>
        <p:nvSpPr>
          <p:cNvPr id="15" name="Text 10"/>
          <p:cNvSpPr/>
          <p:nvPr/>
        </p:nvSpPr>
        <p:spPr>
          <a:xfrm>
            <a:off x="7772400" y="470916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Total score &amp; # of events</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Avg people &amp; length</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How much was written</a:t>
            </a:r>
            <a:endParaRPr lang="en-US" sz="1300" dirty="0"/>
          </a:p>
        </p:txBody>
      </p:sp>
      <p:sp>
        <p:nvSpPr>
          <p:cNvPr id="16" name="Shape 1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7" name="Image 2" descr="/home/claude/qr_colab.png">    </p:cNvPr>
          <p:cNvPicPr>
            <a:picLocks noChangeAspect="1"/>
          </p:cNvPicPr>
          <p:nvPr/>
        </p:nvPicPr>
        <p:blipFill>
          <a:blip r:embed="rId4"/>
          <a:stretch>
            <a:fillRect/>
          </a:stretch>
        </p:blipFill>
        <p:spPr>
          <a:xfrm>
            <a:off x="10808208" y="384048"/>
            <a:ext cx="877824" cy="877824"/>
          </a:xfrm>
          <a:prstGeom prst="rect">
            <a:avLst/>
          </a:prstGeom>
        </p:spPr>
      </p:pic>
      <p:sp>
        <p:nvSpPr>
          <p:cNvPr id="18" name="Text 1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19" name="Text 1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UNDER THE HOOD · THE CODE</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rule to score, in real code</a:t>
            </a:r>
            <a:endParaRPr lang="en-US" sz="2900" dirty="0"/>
          </a:p>
        </p:txBody>
      </p:sp>
      <p:sp>
        <p:nvSpPr>
          <p:cNvPr id="4" name="Shape 2"/>
          <p:cNvSpPr/>
          <p:nvPr/>
        </p:nvSpPr>
        <p:spPr>
          <a:xfrm>
            <a:off x="640080" y="1783080"/>
            <a:ext cx="5486400" cy="2697480"/>
          </a:xfrm>
          <a:prstGeom prst="roundRect">
            <a:avLst>
              <a:gd name="adj" fmla="val 2373"/>
            </a:avLst>
          </a:prstGeom>
          <a:solidFill>
            <a:srgbClr val="11243F"/>
          </a:solidFill>
          <a:ln w="12700">
            <a:solidFill>
              <a:srgbClr val="1B3358"/>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41248" y="1965960"/>
            <a:ext cx="100584" cy="100584"/>
          </a:xfrm>
          <a:prstGeom prst="ellipse">
            <a:avLst/>
          </a:prstGeom>
          <a:solidFill>
            <a:srgbClr val="F96167"/>
          </a:solidFill>
          <a:ln/>
        </p:spPr>
      </p:sp>
      <p:sp>
        <p:nvSpPr>
          <p:cNvPr id="6" name="Shape 4"/>
          <p:cNvSpPr/>
          <p:nvPr/>
        </p:nvSpPr>
        <p:spPr>
          <a:xfrm>
            <a:off x="1024128" y="1965960"/>
            <a:ext cx="100584" cy="100584"/>
          </a:xfrm>
          <a:prstGeom prst="ellipse">
            <a:avLst/>
          </a:prstGeom>
          <a:solidFill>
            <a:srgbClr val="F9E795"/>
          </a:solidFill>
          <a:ln/>
        </p:spPr>
      </p:sp>
      <p:sp>
        <p:nvSpPr>
          <p:cNvPr id="7" name="Shape 5"/>
          <p:cNvSpPr/>
          <p:nvPr/>
        </p:nvSpPr>
        <p:spPr>
          <a:xfrm>
            <a:off x="1207008" y="1965960"/>
            <a:ext cx="100584" cy="100584"/>
          </a:xfrm>
          <a:prstGeom prst="ellipse">
            <a:avLst/>
          </a:prstGeom>
          <a:solidFill>
            <a:srgbClr val="00A896"/>
          </a:solidFill>
          <a:ln/>
        </p:spPr>
      </p:sp>
      <p:sp>
        <p:nvSpPr>
          <p:cNvPr id="8" name="Text 6"/>
          <p:cNvSpPr/>
          <p:nvPr/>
        </p:nvSpPr>
        <p:spPr>
          <a:xfrm>
            <a:off x="1508760" y="1892808"/>
            <a:ext cx="4480560" cy="237744"/>
          </a:xfrm>
          <a:prstGeom prst="rect">
            <a:avLst/>
          </a:prstGeom>
          <a:noFill/>
          <a:ln/>
        </p:spPr>
        <p:txBody>
          <a:bodyPr wrap="square" lIns="0" tIns="0" rIns="0" bIns="0" rtlCol="0" anchor="ctr"/>
          <a:lstStyle/>
          <a:p>
            <a:pPr indent="0" marL="0">
              <a:buNone/>
            </a:pPr>
            <a:r>
              <a:rPr lang="en-US" sz="1000" dirty="0">
                <a:solidFill>
                  <a:srgbClr val="9DB2C7"/>
                </a:solidFill>
                <a:latin typeface="Courier New" pitchFamily="34" charset="0"/>
                <a:ea typeface="Courier New" pitchFamily="34" charset="-122"/>
                <a:cs typeface="Courier New" pitchFamily="34" charset="-120"/>
              </a:rPr>
              <a:t>otq_scoring.py</a:t>
            </a:r>
            <a:endParaRPr lang="en-US" sz="1000" dirty="0"/>
          </a:p>
        </p:txBody>
      </p:sp>
      <p:sp>
        <p:nvSpPr>
          <p:cNvPr id="9" name="Text 7"/>
          <p:cNvSpPr/>
          <p:nvPr/>
        </p:nvSpPr>
        <p:spPr>
          <a:xfrm>
            <a:off x="896112" y="2286000"/>
            <a:ext cx="4983480" cy="2057400"/>
          </a:xfrm>
          <a:prstGeom prst="rect">
            <a:avLst/>
          </a:prstGeom>
          <a:noFill/>
          <a:ln/>
        </p:spPr>
        <p:txBody>
          <a:bodyPr wrap="square" lIns="0" tIns="0" rIns="0" bIns="0" rtlCol="0" anchor="t"/>
          <a:lstStyle/>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def otq_event_units(event_type, duration, people):</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t = event_type.lower()</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if   "meeting" in t: base = 24.5  </a:t>
            </a:r>
            <a:pPr indent="0" marL="0">
              <a:lnSpc>
                <a:spcPct val="106000"/>
              </a:lnSpc>
              <a:buNone/>
            </a:pPr>
            <a:r>
              <a:rPr lang="en-US" sz="1050" dirty="0">
                <a:solidFill>
                  <a:srgbClr val="63E0C2"/>
                </a:solidFill>
                <a:latin typeface="Courier New" pitchFamily="34" charset="0"/>
                <a:ea typeface="Courier New" pitchFamily="34" charset="-122"/>
                <a:cs typeface="Courier New" pitchFamily="34" charset="-120"/>
              </a:rPr>
              <a:t># weighs most</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elif "chat"    in t: base = 9.5</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elif "call"    in t: base = 8.5</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elif "email"   in t: base = 6.0</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else:                base = 5.0</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dur   = min(duration, 120) / 60.0   </a:t>
            </a:r>
            <a:pPr indent="0" marL="0">
              <a:lnSpc>
                <a:spcPct val="106000"/>
              </a:lnSpc>
              <a:buNone/>
            </a:pPr>
            <a:r>
              <a:rPr lang="en-US" sz="1050" dirty="0">
                <a:solidFill>
                  <a:srgbClr val="63E0C2"/>
                </a:solidFill>
                <a:latin typeface="Courier New" pitchFamily="34" charset="0"/>
                <a:ea typeface="Courier New" pitchFamily="34" charset="-122"/>
                <a:cs typeface="Courier New" pitchFamily="34" charset="-120"/>
              </a:rPr>
              <a:t># +0 to 2</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reach = log(max(people,1), 2) * 1.5</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return base + dur + reach</a:t>
            </a:r>
            <a:endParaRPr lang="en-US" sz="1050" dirty="0"/>
          </a:p>
        </p:txBody>
      </p:sp>
      <p:sp>
        <p:nvSpPr>
          <p:cNvPr id="10" name="Shape 8"/>
          <p:cNvSpPr/>
          <p:nvPr/>
        </p:nvSpPr>
        <p:spPr>
          <a:xfrm>
            <a:off x="6263640" y="1783080"/>
            <a:ext cx="5257800" cy="2697480"/>
          </a:xfrm>
          <a:prstGeom prst="roundRect">
            <a:avLst>
              <a:gd name="adj" fmla="val 2373"/>
            </a:avLst>
          </a:prstGeom>
          <a:solidFill>
            <a:srgbClr val="11243F"/>
          </a:solidFill>
          <a:ln w="12700">
            <a:solidFill>
              <a:srgbClr val="1B3358"/>
            </a:solidFill>
            <a:prstDash val="solid"/>
          </a:ln>
          <a:effectLst>
            <a:outerShdw sx="100000" sy="100000" kx="0" ky="0" algn="bl" rotWithShape="0" blurRad="114300" dist="38100" dir="5400000">
              <a:srgbClr val="0A1A2E">
                <a:alpha val="16000"/>
              </a:srgbClr>
            </a:outerShdw>
          </a:effectLst>
        </p:spPr>
      </p:sp>
      <p:sp>
        <p:nvSpPr>
          <p:cNvPr id="11" name="Shape 9"/>
          <p:cNvSpPr/>
          <p:nvPr/>
        </p:nvSpPr>
        <p:spPr>
          <a:xfrm>
            <a:off x="6464808" y="1965960"/>
            <a:ext cx="100584" cy="100584"/>
          </a:xfrm>
          <a:prstGeom prst="ellipse">
            <a:avLst/>
          </a:prstGeom>
          <a:solidFill>
            <a:srgbClr val="F96167"/>
          </a:solidFill>
          <a:ln/>
        </p:spPr>
      </p:sp>
      <p:sp>
        <p:nvSpPr>
          <p:cNvPr id="12" name="Shape 10"/>
          <p:cNvSpPr/>
          <p:nvPr/>
        </p:nvSpPr>
        <p:spPr>
          <a:xfrm>
            <a:off x="6647688" y="1965960"/>
            <a:ext cx="100584" cy="100584"/>
          </a:xfrm>
          <a:prstGeom prst="ellipse">
            <a:avLst/>
          </a:prstGeom>
          <a:solidFill>
            <a:srgbClr val="F9E795"/>
          </a:solidFill>
          <a:ln/>
        </p:spPr>
      </p:sp>
      <p:sp>
        <p:nvSpPr>
          <p:cNvPr id="13" name="Shape 11"/>
          <p:cNvSpPr/>
          <p:nvPr/>
        </p:nvSpPr>
        <p:spPr>
          <a:xfrm>
            <a:off x="6830568" y="1965960"/>
            <a:ext cx="100584" cy="100584"/>
          </a:xfrm>
          <a:prstGeom prst="ellipse">
            <a:avLst/>
          </a:prstGeom>
          <a:solidFill>
            <a:srgbClr val="00A896"/>
          </a:solidFill>
          <a:ln/>
        </p:spPr>
      </p:sp>
      <p:sp>
        <p:nvSpPr>
          <p:cNvPr id="14" name="Text 12"/>
          <p:cNvSpPr/>
          <p:nvPr/>
        </p:nvSpPr>
        <p:spPr>
          <a:xfrm>
            <a:off x="7132320" y="1892808"/>
            <a:ext cx="4251960" cy="237744"/>
          </a:xfrm>
          <a:prstGeom prst="rect">
            <a:avLst/>
          </a:prstGeom>
          <a:noFill/>
          <a:ln/>
        </p:spPr>
        <p:txBody>
          <a:bodyPr wrap="square" lIns="0" tIns="0" rIns="0" bIns="0" rtlCol="0" anchor="ctr"/>
          <a:lstStyle/>
          <a:p>
            <a:pPr indent="0" marL="0">
              <a:buNone/>
            </a:pPr>
            <a:r>
              <a:rPr lang="en-US" sz="1000" dirty="0">
                <a:solidFill>
                  <a:srgbClr val="9DB2C7"/>
                </a:solidFill>
                <a:latin typeface="Courier New" pitchFamily="34" charset="0"/>
                <a:ea typeface="Courier New" pitchFamily="34" charset="-122"/>
                <a:cs typeface="Courier New" pitchFamily="34" charset="-120"/>
              </a:rPr>
              <a:t>fit_model.py</a:t>
            </a:r>
            <a:endParaRPr lang="en-US" sz="1000" dirty="0"/>
          </a:p>
        </p:txBody>
      </p:sp>
      <p:sp>
        <p:nvSpPr>
          <p:cNvPr id="15" name="Text 13"/>
          <p:cNvSpPr/>
          <p:nvPr/>
        </p:nvSpPr>
        <p:spPr>
          <a:xfrm>
            <a:off x="6519672" y="2286000"/>
            <a:ext cx="4754880" cy="2057400"/>
          </a:xfrm>
          <a:prstGeom prst="rect">
            <a:avLst/>
          </a:prstGeom>
          <a:noFill/>
          <a:ln/>
        </p:spPr>
        <p:txBody>
          <a:bodyPr wrap="square" lIns="0" tIns="0" rIns="0" bIns="0" rtlCol="0" anchor="t"/>
          <a:lstStyle/>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features = ["log_total_eu",</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"log_total_events", "avg_participants",</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"avg_duration", "log_total_text"]</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3E0C2"/>
                </a:solidFill>
                <a:latin typeface="Courier New" pitchFamily="34" charset="0"/>
                <a:ea typeface="Courier New" pitchFamily="34" charset="-122"/>
                <a:cs typeface="Courier New" pitchFamily="34" charset="-120"/>
              </a:rPr>
              <a:t># alpha tuned by GridSearchCV (5-fold)</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model = Ridge(alpha=best_alpha)</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model.fit(X_train, y_train)</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DCE6EE"/>
                </a:solidFill>
                <a:latin typeface="Courier New" pitchFamily="34" charset="0"/>
                <a:ea typeface="Courier New" pitchFamily="34" charset="-122"/>
                <a:cs typeface="Courier New" pitchFamily="34" charset="-120"/>
              </a:rPr>
              <a:t>r2 = r2_score(y_test, model.predict(X_test))</a:t>
            </a:r>
            <a:endParaRPr lang="en-US" sz="1050" dirty="0"/>
          </a:p>
          <a:p>
            <a:pPr indent="0" marL="0">
              <a:lnSpc>
                <a:spcPct val="106000"/>
              </a:lnSpc>
              <a:buNone/>
            </a:pPr>
            <a:r>
              <a:rPr lang="en-US" sz="1050" dirty="0">
                <a:solidFill>
                  <a:srgbClr val="63E0C2"/>
                </a:solidFill>
                <a:latin typeface="Courier New" pitchFamily="34" charset="0"/>
                <a:ea typeface="Courier New" pitchFamily="34" charset="-122"/>
                <a:cs typeface="Courier New" pitchFamily="34" charset="-120"/>
              </a:rPr>
              <a:t># negative coef -&gt; more talk, faster reply</a:t>
            </a:r>
            <a:endParaRPr lang="en-US" sz="1050" dirty="0"/>
          </a:p>
        </p:txBody>
      </p:sp>
      <p:sp>
        <p:nvSpPr>
          <p:cNvPr id="16" name="Shape 14"/>
          <p:cNvSpPr/>
          <p:nvPr/>
        </p:nvSpPr>
        <p:spPr>
          <a:xfrm>
            <a:off x="640080" y="4663440"/>
            <a:ext cx="5486400" cy="1325880"/>
          </a:xfrm>
          <a:prstGeom prst="roundRect">
            <a:avLst>
              <a:gd name="adj" fmla="val 6207"/>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7" name="Shape 15"/>
          <p:cNvSpPr/>
          <p:nvPr/>
        </p:nvSpPr>
        <p:spPr>
          <a:xfrm>
            <a:off x="868680" y="4901184"/>
            <a:ext cx="457200" cy="45720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8" name="Image 0" descr="preencoded.png">    </p:cNvPr>
          <p:cNvPicPr>
            <a:picLocks noChangeAspect="1"/>
          </p:cNvPicPr>
          <p:nvPr/>
        </p:nvPicPr>
        <p:blipFill>
          <a:blip r:embed="rId1"/>
          <a:stretch>
            <a:fillRect/>
          </a:stretch>
        </p:blipFill>
        <p:spPr>
          <a:xfrm>
            <a:off x="987552" y="5020056"/>
            <a:ext cx="219456" cy="219456"/>
          </a:xfrm>
          <a:prstGeom prst="rect">
            <a:avLst/>
          </a:prstGeom>
        </p:spPr>
      </p:pic>
      <p:sp>
        <p:nvSpPr>
          <p:cNvPr id="19" name="Text 16"/>
          <p:cNvSpPr/>
          <p:nvPr/>
        </p:nvSpPr>
        <p:spPr>
          <a:xfrm>
            <a:off x="1463040" y="4791456"/>
            <a:ext cx="4480560" cy="274320"/>
          </a:xfrm>
          <a:prstGeom prst="rect">
            <a:avLst/>
          </a:prstGeom>
          <a:noFill/>
          <a:ln/>
        </p:spPr>
        <p:txBody>
          <a:bodyPr wrap="square" lIns="0" tIns="0" rIns="0" bIns="0" rtlCol="0" anchor="ctr"/>
          <a:lstStyle/>
          <a:p>
            <a:pPr indent="0" marL="0">
              <a:buNone/>
            </a:pPr>
            <a:r>
              <a:rPr lang="en-US" sz="1300" b="1" dirty="0">
                <a:solidFill>
                  <a:srgbClr val="028090"/>
                </a:solidFill>
                <a:latin typeface="Arial" pitchFamily="34" charset="0"/>
                <a:ea typeface="Arial" pitchFamily="34" charset="-122"/>
                <a:cs typeface="Arial" pitchFamily="34" charset="-120"/>
              </a:rPr>
              <a:t>In plain English</a:t>
            </a:r>
            <a:endParaRPr lang="en-US" sz="1300" dirty="0"/>
          </a:p>
        </p:txBody>
      </p:sp>
      <p:sp>
        <p:nvSpPr>
          <p:cNvPr id="20" name="Text 17"/>
          <p:cNvSpPr/>
          <p:nvPr/>
        </p:nvSpPr>
        <p:spPr>
          <a:xfrm>
            <a:off x="1463040" y="5074920"/>
            <a:ext cx="4526280" cy="868680"/>
          </a:xfrm>
          <a:prstGeom prst="rect">
            <a:avLst/>
          </a:prstGeom>
          <a:noFill/>
          <a:ln/>
        </p:spPr>
        <p:txBody>
          <a:bodyPr wrap="square" lIns="0" tIns="0" rIns="0" bIns="0" rtlCol="0" anchor="ctr"/>
          <a:lstStyle/>
          <a:p>
            <a:pPr indent="0" marL="0">
              <a:buNone/>
            </a:pPr>
            <a:r>
              <a:rPr lang="en-US" sz="1150" dirty="0">
                <a:solidFill>
                  <a:srgbClr val="16263B"/>
                </a:solidFill>
                <a:latin typeface="Arial" pitchFamily="34" charset="0"/>
                <a:ea typeface="Arial" pitchFamily="34" charset="-122"/>
                <a:cs typeface="Arial" pitchFamily="34" charset="-120"/>
              </a:rPr>
              <a:t>Each interaction earns points: a meeting starts at 24.5, an email at 6. Add a little for how long it ran and how many people joined. Bigger number = more engagement.</a:t>
            </a:r>
            <a:endParaRPr lang="en-US" sz="1150" dirty="0"/>
          </a:p>
        </p:txBody>
      </p:sp>
      <p:sp>
        <p:nvSpPr>
          <p:cNvPr id="21" name="Shape 18"/>
          <p:cNvSpPr/>
          <p:nvPr/>
        </p:nvSpPr>
        <p:spPr>
          <a:xfrm>
            <a:off x="6263640" y="4663440"/>
            <a:ext cx="5257800" cy="1325880"/>
          </a:xfrm>
          <a:prstGeom prst="roundRect">
            <a:avLst>
              <a:gd name="adj" fmla="val 6207"/>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2" name="Shape 19"/>
          <p:cNvSpPr/>
          <p:nvPr/>
        </p:nvSpPr>
        <p:spPr>
          <a:xfrm>
            <a:off x="6492240" y="4901184"/>
            <a:ext cx="457200" cy="45720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23" name="Image 1" descr="preencoded.png">    </p:cNvPr>
          <p:cNvPicPr>
            <a:picLocks noChangeAspect="1"/>
          </p:cNvPicPr>
          <p:nvPr/>
        </p:nvPicPr>
        <p:blipFill>
          <a:blip r:embed="rId2"/>
          <a:stretch>
            <a:fillRect/>
          </a:stretch>
        </p:blipFill>
        <p:spPr>
          <a:xfrm>
            <a:off x="6611112" y="5020056"/>
            <a:ext cx="219456" cy="219456"/>
          </a:xfrm>
          <a:prstGeom prst="rect">
            <a:avLst/>
          </a:prstGeom>
        </p:spPr>
      </p:pic>
      <p:sp>
        <p:nvSpPr>
          <p:cNvPr id="24" name="Text 20"/>
          <p:cNvSpPr/>
          <p:nvPr/>
        </p:nvSpPr>
        <p:spPr>
          <a:xfrm>
            <a:off x="7086600" y="4791456"/>
            <a:ext cx="4206240" cy="274320"/>
          </a:xfrm>
          <a:prstGeom prst="rect">
            <a:avLst/>
          </a:prstGeom>
          <a:noFill/>
          <a:ln/>
        </p:spPr>
        <p:txBody>
          <a:bodyPr wrap="square" lIns="0" tIns="0" rIns="0" bIns="0" rtlCol="0" anchor="ctr"/>
          <a:lstStyle/>
          <a:p>
            <a:pPr indent="0" marL="0">
              <a:buNone/>
            </a:pPr>
            <a:r>
              <a:rPr lang="en-US" sz="1300" b="1" dirty="0">
                <a:solidFill>
                  <a:srgbClr val="00A896"/>
                </a:solidFill>
                <a:latin typeface="Arial" pitchFamily="34" charset="0"/>
                <a:ea typeface="Arial" pitchFamily="34" charset="-122"/>
                <a:cs typeface="Arial" pitchFamily="34" charset="-120"/>
              </a:rPr>
              <a:t>In plain English</a:t>
            </a:r>
            <a:endParaRPr lang="en-US" sz="1300" dirty="0"/>
          </a:p>
        </p:txBody>
      </p:sp>
      <p:sp>
        <p:nvSpPr>
          <p:cNvPr id="25" name="Text 21"/>
          <p:cNvSpPr/>
          <p:nvPr/>
        </p:nvSpPr>
        <p:spPr>
          <a:xfrm>
            <a:off x="7086600" y="5074920"/>
            <a:ext cx="4297680" cy="868680"/>
          </a:xfrm>
          <a:prstGeom prst="rect">
            <a:avLst/>
          </a:prstGeom>
          <a:noFill/>
          <a:ln/>
        </p:spPr>
        <p:txBody>
          <a:bodyPr wrap="square" lIns="0" tIns="0" rIns="0" bIns="0" rtlCol="0" anchor="ctr"/>
          <a:lstStyle/>
          <a:p>
            <a:pPr indent="0" marL="0">
              <a:buNone/>
            </a:pPr>
            <a:r>
              <a:rPr lang="en-US" sz="1150" dirty="0">
                <a:solidFill>
                  <a:srgbClr val="16263B"/>
                </a:solidFill>
                <a:latin typeface="Arial" pitchFamily="34" charset="0"/>
                <a:ea typeface="Arial" pitchFamily="34" charset="-122"/>
                <a:cs typeface="Arial" pitchFamily="34" charset="-120"/>
              </a:rPr>
              <a:t>We give the model five daily numbers and let it learn the link to reply speed, then test it on days it never saw. A minus sign means: more engagement → faster replies.</a:t>
            </a:r>
            <a:endParaRPr lang="en-US" sz="1150" dirty="0"/>
          </a:p>
        </p:txBody>
      </p:sp>
      <p:sp>
        <p:nvSpPr>
          <p:cNvPr id="26" name="Shape 22"/>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7" name="Image 2" descr="/home/claude/qr_colab.png">    </p:cNvPr>
          <p:cNvPicPr>
            <a:picLocks noChangeAspect="1"/>
          </p:cNvPicPr>
          <p:nvPr/>
        </p:nvPicPr>
        <p:blipFill>
          <a:blip r:embed="rId3"/>
          <a:stretch>
            <a:fillRect/>
          </a:stretch>
        </p:blipFill>
        <p:spPr>
          <a:xfrm>
            <a:off x="10808208" y="384048"/>
            <a:ext cx="877824" cy="877824"/>
          </a:xfrm>
          <a:prstGeom prst="rect">
            <a:avLst/>
          </a:prstGeom>
        </p:spPr>
      </p:pic>
      <p:sp>
        <p:nvSpPr>
          <p:cNvPr id="28" name="Text 23"/>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9" name="Text 24"/>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A FIRST LOOK</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What the real numbers look like</a:t>
            </a:r>
            <a:endParaRPr lang="en-US" sz="2900" dirty="0"/>
          </a:p>
        </p:txBody>
      </p:sp>
      <p:sp>
        <p:nvSpPr>
          <p:cNvPr id="4" name="Shape 2"/>
          <p:cNvSpPr/>
          <p:nvPr/>
        </p:nvSpPr>
        <p:spPr>
          <a:xfrm>
            <a:off x="1828800" y="1783080"/>
            <a:ext cx="8503920" cy="4343400"/>
          </a:xfrm>
          <a:prstGeom prst="roundRect">
            <a:avLst>
              <a:gd name="adj" fmla="val 189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eda.png">    </p:cNvPr>
          <p:cNvPicPr>
            <a:picLocks noChangeAspect="1"/>
          </p:cNvPicPr>
          <p:nvPr/>
        </p:nvPicPr>
        <p:blipFill>
          <a:blip r:embed="rId1"/>
          <a:srcRect l="0" r="0" t="0" b="0"/>
          <a:stretch/>
        </p:blipFill>
        <p:spPr>
          <a:xfrm>
            <a:off x="1975104" y="1929384"/>
            <a:ext cx="8211312" cy="4050792"/>
          </a:xfrm>
          <a:prstGeom prst="rect">
            <a:avLst/>
          </a:prstGeom>
        </p:spPr>
      </p:pic>
      <p:sp>
        <p:nvSpPr>
          <p:cNvPr id="6" name="Text 3"/>
          <p:cNvSpPr/>
          <p:nvPr/>
        </p:nvSpPr>
        <p:spPr>
          <a:xfrm>
            <a:off x="1828800" y="6144768"/>
            <a:ext cx="850392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Straight from the notebook: how scores, durations, and team size are distributed — and engagement vs. response time.</a:t>
            </a:r>
            <a:endParaRPr lang="en-US" sz="1150" dirty="0"/>
          </a:p>
        </p:txBody>
      </p:sp>
      <p:sp>
        <p:nvSpPr>
          <p:cNvPr id="7" name="Shape 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qr_colab.png">    </p:cNvPr>
          <p:cNvPicPr>
            <a:picLocks noChangeAspect="1"/>
          </p:cNvPicPr>
          <p:nvPr/>
        </p:nvPicPr>
        <p:blipFill>
          <a:blip r:embed="rId2"/>
          <a:stretch>
            <a:fillRect/>
          </a:stretch>
        </p:blipFill>
        <p:spPr>
          <a:xfrm>
            <a:off x="10808208" y="384048"/>
            <a:ext cx="877824" cy="877824"/>
          </a:xfrm>
          <a:prstGeom prst="rect">
            <a:avLst/>
          </a:prstGeom>
        </p:spPr>
      </p:pic>
      <p:sp>
        <p:nvSpPr>
          <p:cNvPr id="9" name="Text 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10" name="Text 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steady model that connects the dots</a:t>
            </a:r>
            <a:endParaRPr lang="en-US" sz="2900" dirty="0"/>
          </a:p>
        </p:txBody>
      </p:sp>
      <p:sp>
        <p:nvSpPr>
          <p:cNvPr id="4" name="Shape 2"/>
          <p:cNvSpPr/>
          <p:nvPr/>
        </p:nvSpPr>
        <p:spPr>
          <a:xfrm>
            <a:off x="640080" y="1828800"/>
            <a:ext cx="525780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11326" y="2245766"/>
            <a:ext cx="263347" cy="263347"/>
          </a:xfrm>
          <a:prstGeom prst="rect">
            <a:avLst/>
          </a:prstGeom>
        </p:spPr>
      </p:pic>
      <p:sp>
        <p:nvSpPr>
          <p:cNvPr id="7" name="Text 4"/>
          <p:cNvSpPr/>
          <p:nvPr/>
        </p:nvSpPr>
        <p:spPr>
          <a:xfrm>
            <a:off x="164592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What it does</a:t>
            </a:r>
            <a:endParaRPr lang="en-US" sz="1700" dirty="0"/>
          </a:p>
        </p:txBody>
      </p:sp>
      <p:sp>
        <p:nvSpPr>
          <p:cNvPr id="8" name="Text 5"/>
          <p:cNvSpPr/>
          <p:nvPr/>
        </p:nvSpPr>
        <p:spPr>
          <a:xfrm>
            <a:off x="960120" y="2971800"/>
            <a:ext cx="4663440" cy="274320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Learns: engagement → reply speed</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Our clues overlap — needs to stay steady</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Ridge regression keeps it stable &amp; readable</a:t>
            </a:r>
            <a:endParaRPr lang="en-US" sz="1500" dirty="0"/>
          </a:p>
        </p:txBody>
      </p:sp>
      <p:sp>
        <p:nvSpPr>
          <p:cNvPr id="9" name="Shape 6"/>
          <p:cNvSpPr/>
          <p:nvPr/>
        </p:nvSpPr>
        <p:spPr>
          <a:xfrm>
            <a:off x="6263640" y="1828800"/>
            <a:ext cx="5257800" cy="3977640"/>
          </a:xfrm>
          <a:prstGeom prst="roundRect">
            <a:avLst>
              <a:gd name="adj" fmla="val 2069"/>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92240" y="2103120"/>
            <a:ext cx="548640" cy="54864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6634886" y="2245766"/>
            <a:ext cx="263347" cy="263347"/>
          </a:xfrm>
          <a:prstGeom prst="rect">
            <a:avLst/>
          </a:prstGeom>
        </p:spPr>
      </p:pic>
      <p:sp>
        <p:nvSpPr>
          <p:cNvPr id="12" name="Text 8"/>
          <p:cNvSpPr/>
          <p:nvPr/>
        </p:nvSpPr>
        <p:spPr>
          <a:xfrm>
            <a:off x="726948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How we checked it</a:t>
            </a:r>
            <a:endParaRPr lang="en-US" sz="1700" dirty="0"/>
          </a:p>
        </p:txBody>
      </p:sp>
      <p:sp>
        <p:nvSpPr>
          <p:cNvPr id="13" name="Text 9"/>
          <p:cNvSpPr/>
          <p:nvPr/>
        </p:nvSpPr>
        <p:spPr>
          <a:xfrm>
            <a:off x="6583680" y="2971800"/>
            <a:ext cx="4663440" cy="2743200"/>
          </a:xfrm>
          <a:prstGeom prst="rect">
            <a:avLst/>
          </a:prstGeom>
          <a:noFill/>
          <a:ln/>
        </p:spPr>
        <p:txBody>
          <a:bodyPr wrap="square" lIns="0" tIns="0" rIns="0" bIns="0" rtlCol="0" anchor="t"/>
          <a:lstStyle/>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Compared against other models</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Tuned the settings carefully</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Tested on days it never saw</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Ranked which clues matter most</a:t>
            </a:r>
            <a:endParaRPr lang="en-US" sz="1500" dirty="0"/>
          </a:p>
        </p:txBody>
      </p:sp>
      <p:sp>
        <p:nvSpPr>
          <p:cNvPr id="14" name="Shape 10"/>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5" name="Image 2" descr="/home/claude/qr_colab.png">    </p:cNvPr>
          <p:cNvPicPr>
            <a:picLocks noChangeAspect="1"/>
          </p:cNvPicPr>
          <p:nvPr/>
        </p:nvPicPr>
        <p:blipFill>
          <a:blip r:embed="rId3"/>
          <a:stretch>
            <a:fillRect/>
          </a:stretch>
        </p:blipFill>
        <p:spPr>
          <a:xfrm>
            <a:off x="10808208" y="384048"/>
            <a:ext cx="877824" cy="877824"/>
          </a:xfrm>
          <a:prstGeom prst="rect">
            <a:avLst/>
          </a:prstGeom>
        </p:spPr>
      </p:pic>
      <p:sp>
        <p:nvSpPr>
          <p:cNvPr id="16" name="Text 11"/>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17"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 · CHECKS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Why a steady model — and how we know</a:t>
            </a:r>
            <a:endParaRPr lang="en-US" sz="2900" dirty="0"/>
          </a:p>
        </p:txBody>
      </p:sp>
      <p:sp>
        <p:nvSpPr>
          <p:cNvPr id="4" name="Shape 2"/>
          <p:cNvSpPr/>
          <p:nvPr/>
        </p:nvSpPr>
        <p:spPr>
          <a:xfrm>
            <a:off x="640080" y="1965960"/>
            <a:ext cx="5029200" cy="3703320"/>
          </a:xfrm>
          <a:prstGeom prst="roundRect">
            <a:avLst>
              <a:gd name="adj" fmla="val 2222"/>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heatmap.png">    </p:cNvPr>
          <p:cNvPicPr>
            <a:picLocks noChangeAspect="1"/>
          </p:cNvPicPr>
          <p:nvPr/>
        </p:nvPicPr>
        <p:blipFill>
          <a:blip r:embed="rId1"/>
          <a:srcRect l="0" r="0" t="0" b="0"/>
          <a:stretch/>
        </p:blipFill>
        <p:spPr>
          <a:xfrm>
            <a:off x="786384" y="2112264"/>
            <a:ext cx="4736592" cy="3410712"/>
          </a:xfrm>
          <a:prstGeom prst="rect">
            <a:avLst/>
          </a:prstGeom>
        </p:spPr>
      </p:pic>
      <p:sp>
        <p:nvSpPr>
          <p:cNvPr id="6" name="Text 3"/>
          <p:cNvSpPr/>
          <p:nvPr/>
        </p:nvSpPr>
        <p:spPr>
          <a:xfrm>
            <a:off x="640080" y="5687568"/>
            <a:ext cx="502920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Clues overlap (e.g. events 0.98) — so we need a steady model</a:t>
            </a:r>
            <a:endParaRPr lang="en-US" sz="1150" dirty="0"/>
          </a:p>
        </p:txBody>
      </p:sp>
      <p:sp>
        <p:nvSpPr>
          <p:cNvPr id="7" name="Shape 4"/>
          <p:cNvSpPr/>
          <p:nvPr/>
        </p:nvSpPr>
        <p:spPr>
          <a:xfrm>
            <a:off x="5897880" y="1965960"/>
            <a:ext cx="5623560" cy="3703320"/>
          </a:xfrm>
          <a:prstGeom prst="roundRect">
            <a:avLst>
              <a:gd name="adj" fmla="val 2222"/>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nb_modelcmp.png">    </p:cNvPr>
          <p:cNvPicPr>
            <a:picLocks noChangeAspect="1"/>
          </p:cNvPicPr>
          <p:nvPr/>
        </p:nvPicPr>
        <p:blipFill>
          <a:blip r:embed="rId2"/>
          <a:srcRect l="0" r="0" t="0" b="0"/>
          <a:stretch/>
        </p:blipFill>
        <p:spPr>
          <a:xfrm>
            <a:off x="6044184" y="2112264"/>
            <a:ext cx="5330952" cy="3410712"/>
          </a:xfrm>
          <a:prstGeom prst="rect">
            <a:avLst/>
          </a:prstGeom>
        </p:spPr>
      </p:pic>
      <p:sp>
        <p:nvSpPr>
          <p:cNvPr id="9" name="Text 5"/>
          <p:cNvSpPr/>
          <p:nvPr/>
        </p:nvSpPr>
        <p:spPr>
          <a:xfrm>
            <a:off x="5897880" y="5687568"/>
            <a:ext cx="562356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Ridge had the lowest error of five model families</a:t>
            </a:r>
            <a:endParaRPr lang="en-US" sz="1150" dirty="0"/>
          </a:p>
        </p:txBody>
      </p:sp>
      <p:sp>
        <p:nvSpPr>
          <p:cNvPr id="10" name="Shape 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1" name="Image 2" descr="/home/claude/qr_colab.png">    </p:cNvPr>
          <p:cNvPicPr>
            <a:picLocks noChangeAspect="1"/>
          </p:cNvPicPr>
          <p:nvPr/>
        </p:nvPicPr>
        <p:blipFill>
          <a:blip r:embed="rId3"/>
          <a:stretch>
            <a:fillRect/>
          </a:stretch>
        </p:blipFill>
        <p:spPr>
          <a:xfrm>
            <a:off x="10808208" y="384048"/>
            <a:ext cx="877824" cy="877824"/>
          </a:xfrm>
          <a:prstGeom prst="rect">
            <a:avLst/>
          </a:prstGeom>
        </p:spPr>
      </p:pic>
      <p:sp>
        <p:nvSpPr>
          <p:cNvPr id="12" name="Text 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13" name="Text 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RESULTS · REAL MODEL OUTPUT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More engagement → faster replies</a:t>
            </a:r>
            <a:endParaRPr lang="en-US" sz="2900" dirty="0"/>
          </a:p>
        </p:txBody>
      </p:sp>
      <p:sp>
        <p:nvSpPr>
          <p:cNvPr id="4" name="Shape 2"/>
          <p:cNvSpPr/>
          <p:nvPr/>
        </p:nvSpPr>
        <p:spPr>
          <a:xfrm>
            <a:off x="502920" y="1783080"/>
            <a:ext cx="6903720" cy="4206240"/>
          </a:xfrm>
          <a:prstGeom prst="roundRect">
            <a:avLst>
              <a:gd name="adj" fmla="val 195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diag.png">    </p:cNvPr>
          <p:cNvPicPr>
            <a:picLocks noChangeAspect="1"/>
          </p:cNvPicPr>
          <p:nvPr/>
        </p:nvPicPr>
        <p:blipFill>
          <a:blip r:embed="rId1"/>
          <a:srcRect l="0" r="0" t="0" b="0"/>
          <a:stretch/>
        </p:blipFill>
        <p:spPr>
          <a:xfrm>
            <a:off x="649224" y="1929384"/>
            <a:ext cx="6611112" cy="3913632"/>
          </a:xfrm>
          <a:prstGeom prst="rect">
            <a:avLst/>
          </a:prstGeom>
        </p:spPr>
      </p:pic>
      <p:sp>
        <p:nvSpPr>
          <p:cNvPr id="6" name="Text 3"/>
          <p:cNvSpPr/>
          <p:nvPr/>
        </p:nvSpPr>
        <p:spPr>
          <a:xfrm>
            <a:off x="502920" y="5989320"/>
            <a:ext cx="6903720" cy="256032"/>
          </a:xfrm>
          <a:prstGeom prst="rect">
            <a:avLst/>
          </a:prstGeom>
          <a:noFill/>
          <a:ln/>
        </p:spPr>
        <p:txBody>
          <a:bodyPr wrap="square" lIns="0" tIns="0" rIns="0" bIns="0" rtlCol="0" anchor="ctr"/>
          <a:lstStyle/>
          <a:p>
            <a:pPr algn="ctr" indent="0" marL="0">
              <a:buNone/>
            </a:pPr>
            <a:r>
              <a:rPr lang="en-US" sz="1050" i="1" dirty="0">
                <a:solidFill>
                  <a:srgbClr val="5C6B7A"/>
                </a:solidFill>
                <a:latin typeface="Arial" pitchFamily="34" charset="0"/>
                <a:ea typeface="Arial" pitchFamily="34" charset="-122"/>
                <a:cs typeface="Arial" pitchFamily="34" charset="-120"/>
              </a:rPr>
              <a:t>Model diagnostics from the notebook</a:t>
            </a:r>
            <a:endParaRPr lang="en-US" sz="1050" dirty="0"/>
          </a:p>
        </p:txBody>
      </p:sp>
      <p:sp>
        <p:nvSpPr>
          <p:cNvPr id="7" name="Shape 4"/>
          <p:cNvSpPr/>
          <p:nvPr/>
        </p:nvSpPr>
        <p:spPr>
          <a:xfrm>
            <a:off x="7589520" y="1783080"/>
            <a:ext cx="3931920" cy="1508760"/>
          </a:xfrm>
          <a:prstGeom prst="roundRect">
            <a:avLst>
              <a:gd name="adj" fmla="val 545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8" name="Text 5"/>
          <p:cNvSpPr/>
          <p:nvPr/>
        </p:nvSpPr>
        <p:spPr>
          <a:xfrm>
            <a:off x="7818120" y="1965960"/>
            <a:ext cx="3474720" cy="274320"/>
          </a:xfrm>
          <a:prstGeom prst="rect">
            <a:avLst/>
          </a:prstGeom>
          <a:noFill/>
          <a:ln/>
        </p:spPr>
        <p:txBody>
          <a:bodyPr wrap="square" lIns="0" tIns="0" rIns="0" bIns="0" rtlCol="0" anchor="ctr"/>
          <a:lstStyle/>
          <a:p>
            <a:pPr indent="0" marL="0">
              <a:buNone/>
            </a:pPr>
            <a:r>
              <a:rPr lang="en-US" sz="1100" b="1" spc="200" kern="0" dirty="0">
                <a:solidFill>
                  <a:srgbClr val="00A896"/>
                </a:solidFill>
                <a:latin typeface="Arial" pitchFamily="34" charset="0"/>
                <a:ea typeface="Arial" pitchFamily="34" charset="-122"/>
                <a:cs typeface="Arial" pitchFamily="34" charset="-120"/>
              </a:rPr>
              <a:t>THE HEADLINE</a:t>
            </a:r>
            <a:endParaRPr lang="en-US" sz="1100" dirty="0"/>
          </a:p>
        </p:txBody>
      </p:sp>
      <p:sp>
        <p:nvSpPr>
          <p:cNvPr id="9" name="Text 6"/>
          <p:cNvSpPr/>
          <p:nvPr/>
        </p:nvSpPr>
        <p:spPr>
          <a:xfrm>
            <a:off x="7818120" y="2286000"/>
            <a:ext cx="3520440" cy="9144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More engaged → </a:t>
            </a:r>
            <a:pPr indent="0" marL="0">
              <a:buNone/>
            </a:pPr>
            <a:r>
              <a:rPr lang="en-US" sz="1350" b="1" dirty="0">
                <a:solidFill>
                  <a:srgbClr val="02C39A"/>
                </a:solidFill>
                <a:latin typeface="Arial" pitchFamily="34" charset="0"/>
                <a:ea typeface="Arial" pitchFamily="34" charset="-122"/>
                <a:cs typeface="Arial" pitchFamily="34" charset="-120"/>
              </a:rPr>
              <a:t>faster replies</a:t>
            </a:r>
            <a:pPr indent="0" marL="0">
              <a:buNone/>
            </a:pPr>
            <a:r>
              <a:rPr lang="en-US" sz="1350" b="1" dirty="0">
                <a:solidFill>
                  <a:srgbClr val="FFFFFF"/>
                </a:solidFill>
                <a:latin typeface="Arial" pitchFamily="34" charset="0"/>
                <a:ea typeface="Arial" pitchFamily="34" charset="-122"/>
                <a:cs typeface="Arial" pitchFamily="34" charset="-120"/>
              </a:rPr>
              <a:t> — the negative coefficients confirm it.</a:t>
            </a:r>
            <a:endParaRPr lang="en-US" sz="1350" dirty="0"/>
          </a:p>
        </p:txBody>
      </p:sp>
      <p:sp>
        <p:nvSpPr>
          <p:cNvPr id="10" name="Shape 7"/>
          <p:cNvSpPr/>
          <p:nvPr/>
        </p:nvSpPr>
        <p:spPr>
          <a:xfrm>
            <a:off x="7589520" y="3429000"/>
            <a:ext cx="3931920" cy="2240280"/>
          </a:xfrm>
          <a:prstGeom prst="roundRect">
            <a:avLst>
              <a:gd name="adj" fmla="val 367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1" name="Image 1" descr="/home/claude/nb_coef.png">    </p:cNvPr>
          <p:cNvPicPr>
            <a:picLocks noChangeAspect="1"/>
          </p:cNvPicPr>
          <p:nvPr/>
        </p:nvPicPr>
        <p:blipFill>
          <a:blip r:embed="rId2"/>
          <a:srcRect l="0" r="0" t="0" b="0"/>
          <a:stretch/>
        </p:blipFill>
        <p:spPr>
          <a:xfrm>
            <a:off x="7735824" y="3575304"/>
            <a:ext cx="3639312" cy="1947672"/>
          </a:xfrm>
          <a:prstGeom prst="rect">
            <a:avLst/>
          </a:prstGeom>
        </p:spPr>
      </p:pic>
      <p:sp>
        <p:nvSpPr>
          <p:cNvPr id="12" name="Text 8"/>
          <p:cNvSpPr/>
          <p:nvPr/>
        </p:nvSpPr>
        <p:spPr>
          <a:xfrm>
            <a:off x="7589520" y="5715000"/>
            <a:ext cx="3931920" cy="457200"/>
          </a:xfrm>
          <a:prstGeom prst="rect">
            <a:avLst/>
          </a:prstGeom>
          <a:noFill/>
          <a:ln/>
        </p:spPr>
        <p:txBody>
          <a:bodyPr wrap="square" lIns="0" tIns="0" rIns="0" bIns="0" rtlCol="0" anchor="ctr"/>
          <a:lstStyle/>
          <a:p>
            <a:pPr algn="ctr" indent="0" marL="0">
              <a:buNone/>
            </a:pPr>
            <a:r>
              <a:rPr lang="en-US" sz="1000" i="1" dirty="0">
                <a:solidFill>
                  <a:srgbClr val="5C6B7A"/>
                </a:solidFill>
                <a:latin typeface="Arial" pitchFamily="34" charset="0"/>
                <a:ea typeface="Arial" pitchFamily="34" charset="-122"/>
                <a:cs typeface="Arial" pitchFamily="34" charset="-120"/>
              </a:rPr>
              <a:t>Real model output on the practice (Apostles) dataset — magnitudes will shift with real exports.</a:t>
            </a:r>
            <a:endParaRPr lang="en-US" sz="1000" dirty="0"/>
          </a:p>
        </p:txBody>
      </p:sp>
      <p:sp>
        <p:nvSpPr>
          <p:cNvPr id="13" name="Shape 9"/>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4" name="Image 2" descr="/home/claude/qr_colab.png">    </p:cNvPr>
          <p:cNvPicPr>
            <a:picLocks noChangeAspect="1"/>
          </p:cNvPicPr>
          <p:nvPr/>
        </p:nvPicPr>
        <p:blipFill>
          <a:blip r:embed="rId3"/>
          <a:stretch>
            <a:fillRect/>
          </a:stretch>
        </p:blipFill>
        <p:spPr>
          <a:xfrm>
            <a:off x="10808208" y="384048"/>
            <a:ext cx="877824" cy="877824"/>
          </a:xfrm>
          <a:prstGeom prst="rect">
            <a:avLst/>
          </a:prstGeom>
        </p:spPr>
      </p:pic>
      <p:sp>
        <p:nvSpPr>
          <p:cNvPr id="15" name="Text 10"/>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16" name="Text 11"/>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WE BUILT · LIVE RESULT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Drop in a file → real results</a:t>
            </a:r>
            <a:endParaRPr lang="en-US" sz="2900" dirty="0"/>
          </a:p>
        </p:txBody>
      </p:sp>
      <p:sp>
        <p:nvSpPr>
          <p:cNvPr id="4" name="Shape 2"/>
          <p:cNvSpPr/>
          <p:nvPr/>
        </p:nvSpPr>
        <p:spPr>
          <a:xfrm>
            <a:off x="457200" y="1737360"/>
            <a:ext cx="11247120" cy="4434840"/>
          </a:xfrm>
          <a:prstGeom prst="roundRect">
            <a:avLst>
              <a:gd name="adj" fmla="val 1856"/>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457200" y="1737360"/>
            <a:ext cx="11247120" cy="457200"/>
          </a:xfrm>
          <a:prstGeom prst="roundRect">
            <a:avLst>
              <a:gd name="adj" fmla="val 12000"/>
            </a:avLst>
          </a:prstGeom>
          <a:solidFill>
            <a:srgbClr val="11243F"/>
          </a:solidFill>
          <a:ln/>
        </p:spPr>
      </p:sp>
      <p:sp>
        <p:nvSpPr>
          <p:cNvPr id="6" name="Shape 4"/>
          <p:cNvSpPr/>
          <p:nvPr/>
        </p:nvSpPr>
        <p:spPr>
          <a:xfrm>
            <a:off x="658368" y="1901952"/>
            <a:ext cx="128016" cy="128016"/>
          </a:xfrm>
          <a:prstGeom prst="ellipse">
            <a:avLst/>
          </a:prstGeom>
          <a:solidFill>
            <a:srgbClr val="F96167"/>
          </a:solidFill>
          <a:ln/>
        </p:spPr>
      </p:sp>
      <p:sp>
        <p:nvSpPr>
          <p:cNvPr id="7" name="Shape 5"/>
          <p:cNvSpPr/>
          <p:nvPr/>
        </p:nvSpPr>
        <p:spPr>
          <a:xfrm>
            <a:off x="859536" y="1901952"/>
            <a:ext cx="128016" cy="128016"/>
          </a:xfrm>
          <a:prstGeom prst="ellipse">
            <a:avLst/>
          </a:prstGeom>
          <a:solidFill>
            <a:srgbClr val="F9E795"/>
          </a:solidFill>
          <a:ln/>
        </p:spPr>
      </p:sp>
      <p:sp>
        <p:nvSpPr>
          <p:cNvPr id="8" name="Shape 6"/>
          <p:cNvSpPr/>
          <p:nvPr/>
        </p:nvSpPr>
        <p:spPr>
          <a:xfrm>
            <a:off x="1060704" y="1901952"/>
            <a:ext cx="128016" cy="128016"/>
          </a:xfrm>
          <a:prstGeom prst="ellipse">
            <a:avLst/>
          </a:prstGeom>
          <a:solidFill>
            <a:srgbClr val="00A896"/>
          </a:solidFill>
          <a:ln/>
        </p:spPr>
      </p:sp>
      <p:sp>
        <p:nvSpPr>
          <p:cNvPr id="9" name="Text 7"/>
          <p:cNvSpPr/>
          <p:nvPr/>
        </p:nvSpPr>
        <p:spPr>
          <a:xfrm>
            <a:off x="1371600" y="1828800"/>
            <a:ext cx="4572000" cy="274320"/>
          </a:xfrm>
          <a:prstGeom prst="rect">
            <a:avLst/>
          </a:prstGeom>
          <a:noFill/>
          <a:ln/>
        </p:spPr>
        <p:txBody>
          <a:bodyPr wrap="square" lIns="0" tIns="0" rIns="0" bIns="0" rtlCol="0" anchor="ctr"/>
          <a:lstStyle/>
          <a:p>
            <a:pPr indent="0" marL="0">
              <a:buNone/>
            </a:pPr>
            <a:r>
              <a:rPr lang="en-US" sz="1100" dirty="0">
                <a:solidFill>
                  <a:srgbClr val="C7D6E5"/>
                </a:solidFill>
                <a:latin typeface="Arial" pitchFamily="34" charset="0"/>
                <a:ea typeface="Arial" pitchFamily="34" charset="-122"/>
                <a:cs typeface="Arial" pitchFamily="34" charset="-120"/>
              </a:rPr>
              <a:t>organizationaltrustquotient.com</a:t>
            </a:r>
            <a:endParaRPr lang="en-US" sz="1100" dirty="0"/>
          </a:p>
        </p:txBody>
      </p:sp>
      <p:sp>
        <p:nvSpPr>
          <p:cNvPr id="10" name="Shape 8"/>
          <p:cNvSpPr/>
          <p:nvPr/>
        </p:nvSpPr>
        <p:spPr>
          <a:xfrm>
            <a:off x="8458200" y="1828800"/>
            <a:ext cx="3063240" cy="274320"/>
          </a:xfrm>
          <a:prstGeom prst="roundRect">
            <a:avLst>
              <a:gd name="adj" fmla="val 33333"/>
            </a:avLst>
          </a:prstGeom>
          <a:solidFill>
            <a:srgbClr val="1B3358"/>
          </a:solidFill>
          <a:ln/>
        </p:spPr>
      </p:sp>
      <p:sp>
        <p:nvSpPr>
          <p:cNvPr id="11" name="Text 9"/>
          <p:cNvSpPr/>
          <p:nvPr/>
        </p:nvSpPr>
        <p:spPr>
          <a:xfrm>
            <a:off x="8458200" y="1819656"/>
            <a:ext cx="3063240" cy="283464"/>
          </a:xfrm>
          <a:prstGeom prst="rect">
            <a:avLst/>
          </a:prstGeom>
          <a:noFill/>
          <a:ln/>
        </p:spPr>
        <p:txBody>
          <a:bodyPr wrap="square" lIns="0" tIns="0" rIns="0" bIns="0" rtlCol="0" anchor="ctr"/>
          <a:lstStyle/>
          <a:p>
            <a:pPr algn="ctr" indent="0" marL="0">
              <a:buNone/>
            </a:pPr>
            <a:r>
              <a:rPr lang="en-US" sz="950" dirty="0">
                <a:solidFill>
                  <a:srgbClr val="9EE6D5"/>
                </a:solidFill>
                <a:latin typeface="Arial" pitchFamily="34" charset="0"/>
                <a:ea typeface="Arial" pitchFamily="34" charset="-122"/>
                <a:cs typeface="Arial" pitchFamily="34" charset="-120"/>
              </a:rPr>
              <a:t>✓ outlook_apostles_All.csv</a:t>
            </a:r>
            <a:endParaRPr lang="en-US" sz="950" dirty="0"/>
          </a:p>
        </p:txBody>
      </p:sp>
      <p:sp>
        <p:nvSpPr>
          <p:cNvPr id="12" name="Shape 10"/>
          <p:cNvSpPr/>
          <p:nvPr/>
        </p:nvSpPr>
        <p:spPr>
          <a:xfrm>
            <a:off x="713232" y="2331720"/>
            <a:ext cx="2606040" cy="868680"/>
          </a:xfrm>
          <a:prstGeom prst="roundRect">
            <a:avLst>
              <a:gd name="adj" fmla="val 8421"/>
            </a:avLst>
          </a:prstGeom>
          <a:solidFill>
            <a:srgbClr val="11243F"/>
          </a:solidFill>
          <a:ln/>
        </p:spPr>
      </p:sp>
      <p:sp>
        <p:nvSpPr>
          <p:cNvPr id="13" name="Text 11"/>
          <p:cNvSpPr/>
          <p:nvPr/>
        </p:nvSpPr>
        <p:spPr>
          <a:xfrm>
            <a:off x="713232" y="2377440"/>
            <a:ext cx="2606040"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Georgia" pitchFamily="34" charset="0"/>
                <a:ea typeface="Georgia" pitchFamily="34" charset="-122"/>
                <a:cs typeface="Georgia" pitchFamily="34" charset="-120"/>
              </a:rPr>
              <a:t>0.14</a:t>
            </a:r>
            <a:endParaRPr lang="en-US" sz="2100" dirty="0"/>
          </a:p>
        </p:txBody>
      </p:sp>
      <p:sp>
        <p:nvSpPr>
          <p:cNvPr id="14" name="Text 12"/>
          <p:cNvSpPr/>
          <p:nvPr/>
        </p:nvSpPr>
        <p:spPr>
          <a:xfrm>
            <a:off x="713232" y="2852928"/>
            <a:ext cx="2606040" cy="274320"/>
          </a:xfrm>
          <a:prstGeom prst="rect">
            <a:avLst/>
          </a:prstGeom>
          <a:noFill/>
          <a:ln/>
        </p:spPr>
        <p:txBody>
          <a:bodyPr wrap="square" lIns="0" tIns="0" rIns="0" bIns="0" rtlCol="0" anchor="ctr"/>
          <a:lstStyle/>
          <a:p>
            <a:pPr algn="ctr" indent="0" marL="0">
              <a:buNone/>
            </a:pPr>
            <a:r>
              <a:rPr lang="en-US" sz="1050" dirty="0">
                <a:solidFill>
                  <a:srgbClr val="00A896"/>
                </a:solidFill>
                <a:latin typeface="Arial" pitchFamily="34" charset="0"/>
                <a:ea typeface="Arial" pitchFamily="34" charset="-122"/>
                <a:cs typeface="Arial" pitchFamily="34" charset="-120"/>
              </a:rPr>
              <a:t>Test R²</a:t>
            </a:r>
            <a:endParaRPr lang="en-US" sz="1050" dirty="0"/>
          </a:p>
        </p:txBody>
      </p:sp>
      <p:sp>
        <p:nvSpPr>
          <p:cNvPr id="15" name="Shape 13"/>
          <p:cNvSpPr/>
          <p:nvPr/>
        </p:nvSpPr>
        <p:spPr>
          <a:xfrm>
            <a:off x="3465576" y="2331720"/>
            <a:ext cx="2606040" cy="868680"/>
          </a:xfrm>
          <a:prstGeom prst="roundRect">
            <a:avLst>
              <a:gd name="adj" fmla="val 8421"/>
            </a:avLst>
          </a:prstGeom>
          <a:solidFill>
            <a:srgbClr val="11243F"/>
          </a:solidFill>
          <a:ln/>
        </p:spPr>
      </p:sp>
      <p:sp>
        <p:nvSpPr>
          <p:cNvPr id="16" name="Text 14"/>
          <p:cNvSpPr/>
          <p:nvPr/>
        </p:nvSpPr>
        <p:spPr>
          <a:xfrm>
            <a:off x="3465576" y="2377440"/>
            <a:ext cx="2606040"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Georgia" pitchFamily="34" charset="0"/>
                <a:ea typeface="Georgia" pitchFamily="34" charset="-122"/>
                <a:cs typeface="Georgia" pitchFamily="34" charset="-120"/>
              </a:rPr>
              <a:t>127 min</a:t>
            </a:r>
            <a:endParaRPr lang="en-US" sz="2100" dirty="0"/>
          </a:p>
        </p:txBody>
      </p:sp>
      <p:sp>
        <p:nvSpPr>
          <p:cNvPr id="17" name="Text 15"/>
          <p:cNvSpPr/>
          <p:nvPr/>
        </p:nvSpPr>
        <p:spPr>
          <a:xfrm>
            <a:off x="3465576" y="2852928"/>
            <a:ext cx="2606040" cy="274320"/>
          </a:xfrm>
          <a:prstGeom prst="rect">
            <a:avLst/>
          </a:prstGeom>
          <a:noFill/>
          <a:ln/>
        </p:spPr>
        <p:txBody>
          <a:bodyPr wrap="square" lIns="0" tIns="0" rIns="0" bIns="0" rtlCol="0" anchor="ctr"/>
          <a:lstStyle/>
          <a:p>
            <a:pPr algn="ctr" indent="0" marL="0">
              <a:buNone/>
            </a:pPr>
            <a:r>
              <a:rPr lang="en-US" sz="1050" dirty="0">
                <a:solidFill>
                  <a:srgbClr val="00A896"/>
                </a:solidFill>
                <a:latin typeface="Arial" pitchFamily="34" charset="0"/>
                <a:ea typeface="Arial" pitchFamily="34" charset="-122"/>
                <a:cs typeface="Arial" pitchFamily="34" charset="-120"/>
              </a:rPr>
              <a:t>avg error (MAE)</a:t>
            </a:r>
            <a:endParaRPr lang="en-US" sz="1050" dirty="0"/>
          </a:p>
        </p:txBody>
      </p:sp>
      <p:sp>
        <p:nvSpPr>
          <p:cNvPr id="18" name="Shape 16"/>
          <p:cNvSpPr/>
          <p:nvPr/>
        </p:nvSpPr>
        <p:spPr>
          <a:xfrm>
            <a:off x="6217920" y="2331720"/>
            <a:ext cx="2606040" cy="868680"/>
          </a:xfrm>
          <a:prstGeom prst="roundRect">
            <a:avLst>
              <a:gd name="adj" fmla="val 8421"/>
            </a:avLst>
          </a:prstGeom>
          <a:solidFill>
            <a:srgbClr val="11243F"/>
          </a:solidFill>
          <a:ln/>
        </p:spPr>
      </p:sp>
      <p:sp>
        <p:nvSpPr>
          <p:cNvPr id="19" name="Text 17"/>
          <p:cNvSpPr/>
          <p:nvPr/>
        </p:nvSpPr>
        <p:spPr>
          <a:xfrm>
            <a:off x="6217920" y="2377440"/>
            <a:ext cx="2606040"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Georgia" pitchFamily="34" charset="0"/>
                <a:ea typeface="Georgia" pitchFamily="34" charset="-122"/>
                <a:cs typeface="Georgia" pitchFamily="34" charset="-120"/>
              </a:rPr>
              <a:t>350</a:t>
            </a:r>
            <a:endParaRPr lang="en-US" sz="2100" dirty="0"/>
          </a:p>
        </p:txBody>
      </p:sp>
      <p:sp>
        <p:nvSpPr>
          <p:cNvPr id="20" name="Text 18"/>
          <p:cNvSpPr/>
          <p:nvPr/>
        </p:nvSpPr>
        <p:spPr>
          <a:xfrm>
            <a:off x="6217920" y="2852928"/>
            <a:ext cx="2606040" cy="274320"/>
          </a:xfrm>
          <a:prstGeom prst="rect">
            <a:avLst/>
          </a:prstGeom>
          <a:noFill/>
          <a:ln/>
        </p:spPr>
        <p:txBody>
          <a:bodyPr wrap="square" lIns="0" tIns="0" rIns="0" bIns="0" rtlCol="0" anchor="ctr"/>
          <a:lstStyle/>
          <a:p>
            <a:pPr algn="ctr" indent="0" marL="0">
              <a:buNone/>
            </a:pPr>
            <a:r>
              <a:rPr lang="en-US" sz="1050" dirty="0">
                <a:solidFill>
                  <a:srgbClr val="00A896"/>
                </a:solidFill>
                <a:latin typeface="Arial" pitchFamily="34" charset="0"/>
                <a:ea typeface="Arial" pitchFamily="34" charset="-122"/>
                <a:cs typeface="Arial" pitchFamily="34" charset="-120"/>
              </a:rPr>
              <a:t>events read</a:t>
            </a:r>
            <a:endParaRPr lang="en-US" sz="1050" dirty="0"/>
          </a:p>
        </p:txBody>
      </p:sp>
      <p:sp>
        <p:nvSpPr>
          <p:cNvPr id="21" name="Shape 19"/>
          <p:cNvSpPr/>
          <p:nvPr/>
        </p:nvSpPr>
        <p:spPr>
          <a:xfrm>
            <a:off x="8970264" y="2331720"/>
            <a:ext cx="2606040" cy="868680"/>
          </a:xfrm>
          <a:prstGeom prst="roundRect">
            <a:avLst>
              <a:gd name="adj" fmla="val 8421"/>
            </a:avLst>
          </a:prstGeom>
          <a:solidFill>
            <a:srgbClr val="11243F"/>
          </a:solidFill>
          <a:ln/>
        </p:spPr>
      </p:sp>
      <p:sp>
        <p:nvSpPr>
          <p:cNvPr id="22" name="Text 20"/>
          <p:cNvSpPr/>
          <p:nvPr/>
        </p:nvSpPr>
        <p:spPr>
          <a:xfrm>
            <a:off x="8970264" y="2377440"/>
            <a:ext cx="2606040"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Georgia" pitchFamily="34" charset="0"/>
                <a:ea typeface="Georgia" pitchFamily="34" charset="-122"/>
                <a:cs typeface="Georgia" pitchFamily="34" charset="-120"/>
              </a:rPr>
              <a:t>103</a:t>
            </a:r>
            <a:endParaRPr lang="en-US" sz="2100" dirty="0"/>
          </a:p>
        </p:txBody>
      </p:sp>
      <p:sp>
        <p:nvSpPr>
          <p:cNvPr id="23" name="Text 21"/>
          <p:cNvSpPr/>
          <p:nvPr/>
        </p:nvSpPr>
        <p:spPr>
          <a:xfrm>
            <a:off x="8970264" y="2852928"/>
            <a:ext cx="2606040" cy="274320"/>
          </a:xfrm>
          <a:prstGeom prst="rect">
            <a:avLst/>
          </a:prstGeom>
          <a:noFill/>
          <a:ln/>
        </p:spPr>
        <p:txBody>
          <a:bodyPr wrap="square" lIns="0" tIns="0" rIns="0" bIns="0" rtlCol="0" anchor="ctr"/>
          <a:lstStyle/>
          <a:p>
            <a:pPr algn="ctr" indent="0" marL="0">
              <a:buNone/>
            </a:pPr>
            <a:r>
              <a:rPr lang="en-US" sz="1050" dirty="0">
                <a:solidFill>
                  <a:srgbClr val="00A896"/>
                </a:solidFill>
                <a:latin typeface="Arial" pitchFamily="34" charset="0"/>
                <a:ea typeface="Arial" pitchFamily="34" charset="-122"/>
                <a:cs typeface="Arial" pitchFamily="34" charset="-120"/>
              </a:rPr>
              <a:t>days modeled</a:t>
            </a:r>
            <a:endParaRPr lang="en-US" sz="1050" dirty="0"/>
          </a:p>
        </p:txBody>
      </p:sp>
      <p:sp>
        <p:nvSpPr>
          <p:cNvPr id="24" name="Shape 22"/>
          <p:cNvSpPr/>
          <p:nvPr/>
        </p:nvSpPr>
        <p:spPr>
          <a:xfrm>
            <a:off x="658368" y="3310128"/>
            <a:ext cx="3511296" cy="2286000"/>
          </a:xfrm>
          <a:prstGeom prst="roundRect">
            <a:avLst>
              <a:gd name="adj" fmla="val 2400"/>
            </a:avLst>
          </a:prstGeom>
          <a:solidFill>
            <a:srgbClr val="F4F9FB"/>
          </a:solidFill>
          <a:ln/>
        </p:spPr>
      </p:sp>
      <p:pic>
        <p:nvPicPr>
          <p:cNvPr id="25" name="Image 0" descr="/home/claude/dash_eu.png">    </p:cNvPr>
          <p:cNvPicPr>
            <a:picLocks noChangeAspect="1"/>
          </p:cNvPicPr>
          <p:nvPr/>
        </p:nvPicPr>
        <p:blipFill>
          <a:blip r:embed="rId1"/>
          <a:srcRect l="0" r="0" t="0" b="0"/>
          <a:stretch/>
        </p:blipFill>
        <p:spPr>
          <a:xfrm>
            <a:off x="749808" y="3383280"/>
            <a:ext cx="3328416" cy="2139696"/>
          </a:xfrm>
          <a:prstGeom prst="rect">
            <a:avLst/>
          </a:prstGeom>
        </p:spPr>
      </p:pic>
      <p:sp>
        <p:nvSpPr>
          <p:cNvPr id="26" name="Shape 23"/>
          <p:cNvSpPr/>
          <p:nvPr/>
        </p:nvSpPr>
        <p:spPr>
          <a:xfrm>
            <a:off x="4288536" y="3310128"/>
            <a:ext cx="3511296" cy="2286000"/>
          </a:xfrm>
          <a:prstGeom prst="roundRect">
            <a:avLst>
              <a:gd name="adj" fmla="val 2400"/>
            </a:avLst>
          </a:prstGeom>
          <a:solidFill>
            <a:srgbClr val="F4F9FB"/>
          </a:solidFill>
          <a:ln/>
        </p:spPr>
      </p:sp>
      <p:pic>
        <p:nvPicPr>
          <p:cNvPr id="27" name="Image 1" descr="/home/claude/dash_coef.png">    </p:cNvPr>
          <p:cNvPicPr>
            <a:picLocks noChangeAspect="1"/>
          </p:cNvPicPr>
          <p:nvPr/>
        </p:nvPicPr>
        <p:blipFill>
          <a:blip r:embed="rId2"/>
          <a:srcRect l="0" r="0" t="0" b="0"/>
          <a:stretch/>
        </p:blipFill>
        <p:spPr>
          <a:xfrm>
            <a:off x="4379976" y="3383280"/>
            <a:ext cx="3328416" cy="2139696"/>
          </a:xfrm>
          <a:prstGeom prst="rect">
            <a:avLst/>
          </a:prstGeom>
        </p:spPr>
      </p:pic>
      <p:sp>
        <p:nvSpPr>
          <p:cNvPr id="28" name="Shape 24"/>
          <p:cNvSpPr/>
          <p:nvPr/>
        </p:nvSpPr>
        <p:spPr>
          <a:xfrm>
            <a:off x="7918704" y="3310128"/>
            <a:ext cx="3511296" cy="2286000"/>
          </a:xfrm>
          <a:prstGeom prst="roundRect">
            <a:avLst>
              <a:gd name="adj" fmla="val 2400"/>
            </a:avLst>
          </a:prstGeom>
          <a:solidFill>
            <a:srgbClr val="F4F9FB"/>
          </a:solidFill>
          <a:ln/>
        </p:spPr>
      </p:sp>
      <p:pic>
        <p:nvPicPr>
          <p:cNvPr id="29" name="Image 2" descr="/home/claude/dash_avp.png">    </p:cNvPr>
          <p:cNvPicPr>
            <a:picLocks noChangeAspect="1"/>
          </p:cNvPicPr>
          <p:nvPr/>
        </p:nvPicPr>
        <p:blipFill>
          <a:blip r:embed="rId3"/>
          <a:srcRect l="0" r="0" t="0" b="0"/>
          <a:stretch/>
        </p:blipFill>
        <p:spPr>
          <a:xfrm>
            <a:off x="8010144" y="3383280"/>
            <a:ext cx="3328416" cy="2139696"/>
          </a:xfrm>
          <a:prstGeom prst="rect">
            <a:avLst/>
          </a:prstGeom>
        </p:spPr>
      </p:pic>
      <p:sp>
        <p:nvSpPr>
          <p:cNvPr id="30" name="Text 25"/>
          <p:cNvSpPr/>
          <p:nvPr/>
        </p:nvSpPr>
        <p:spPr>
          <a:xfrm>
            <a:off x="731520" y="5669280"/>
            <a:ext cx="10698480" cy="365760"/>
          </a:xfrm>
          <a:prstGeom prst="rect">
            <a:avLst/>
          </a:prstGeom>
          <a:noFill/>
          <a:ln/>
        </p:spPr>
        <p:txBody>
          <a:bodyPr wrap="square" lIns="0" tIns="0" rIns="0" bIns="0" rtlCol="0" anchor="ctr"/>
          <a:lstStyle/>
          <a:p>
            <a:pPr algn="ctr" indent="0" marL="0">
              <a:buNone/>
            </a:pPr>
            <a:r>
              <a:rPr lang="en-US" sz="1000" i="1" dirty="0">
                <a:solidFill>
                  <a:srgbClr val="5C6B7A"/>
                </a:solidFill>
                <a:latin typeface="Arial" pitchFamily="34" charset="0"/>
                <a:ea typeface="Arial" pitchFamily="34" charset="-122"/>
                <a:cs typeface="Arial" pitchFamily="34" charset="-120"/>
              </a:rPr>
              <a:t>Live run on a real Outlook export — the tool reads the file, scores engagement, and returns these metrics and charts. Directionally right (more engagement → shorter replies); accuracy climbs with multi-source data.</a:t>
            </a:r>
            <a:endParaRPr lang="en-US" sz="1000" dirty="0"/>
          </a:p>
        </p:txBody>
      </p:sp>
      <p:sp>
        <p:nvSpPr>
          <p:cNvPr id="31" name="Shape 2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2" name="Image 3" descr="/home/claude/qr_colab.png">    </p:cNvPr>
          <p:cNvPicPr>
            <a:picLocks noChangeAspect="1"/>
          </p:cNvPicPr>
          <p:nvPr/>
        </p:nvPicPr>
        <p:blipFill>
          <a:blip r:embed="rId4"/>
          <a:stretch>
            <a:fillRect/>
          </a:stretch>
        </p:blipFill>
        <p:spPr>
          <a:xfrm>
            <a:off x="10808208" y="384048"/>
            <a:ext cx="877824" cy="877824"/>
          </a:xfrm>
          <a:prstGeom prst="rect">
            <a:avLst/>
          </a:prstGeom>
        </p:spPr>
      </p:pic>
      <p:sp>
        <p:nvSpPr>
          <p:cNvPr id="33" name="Text 2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34" name="Text 2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TAKE-HOME POINTS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FFFFFF"/>
                </a:solidFill>
                <a:latin typeface="Georgia" pitchFamily="34" charset="0"/>
                <a:ea typeface="Georgia" pitchFamily="34" charset="-122"/>
                <a:cs typeface="Georgia" pitchFamily="34" charset="-120"/>
              </a:rPr>
              <a:t>What to remember</a:t>
            </a:r>
            <a:endParaRPr lang="en-US" sz="2900" dirty="0"/>
          </a:p>
        </p:txBody>
      </p:sp>
      <p:sp>
        <p:nvSpPr>
          <p:cNvPr id="4" name="Shape 2"/>
          <p:cNvSpPr/>
          <p:nvPr/>
        </p:nvSpPr>
        <p:spPr>
          <a:xfrm>
            <a:off x="64008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1488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80821" y="2315261"/>
            <a:ext cx="307238" cy="307238"/>
          </a:xfrm>
          <a:prstGeom prst="rect">
            <a:avLst/>
          </a:prstGeom>
        </p:spPr>
      </p:pic>
      <p:sp>
        <p:nvSpPr>
          <p:cNvPr id="7" name="Text 4"/>
          <p:cNvSpPr/>
          <p:nvPr/>
        </p:nvSpPr>
        <p:spPr>
          <a:xfrm>
            <a:off x="173736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Always-on beats once a year</a:t>
            </a:r>
            <a:endParaRPr lang="en-US" sz="1700" dirty="0"/>
          </a:p>
        </p:txBody>
      </p:sp>
      <p:sp>
        <p:nvSpPr>
          <p:cNvPr id="8" name="Text 5"/>
          <p:cNvSpPr/>
          <p:nvPr/>
        </p:nvSpPr>
        <p:spPr>
          <a:xfrm>
            <a:off x="173736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a live read, not an annual survey</a:t>
            </a:r>
            <a:endParaRPr lang="en-US" sz="1300" dirty="0"/>
          </a:p>
        </p:txBody>
      </p:sp>
      <p:sp>
        <p:nvSpPr>
          <p:cNvPr id="9" name="Shape 6"/>
          <p:cNvSpPr/>
          <p:nvPr/>
        </p:nvSpPr>
        <p:spPr>
          <a:xfrm>
            <a:off x="617220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46520" y="21488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6612941" y="2315261"/>
            <a:ext cx="307238" cy="307238"/>
          </a:xfrm>
          <a:prstGeom prst="rect">
            <a:avLst/>
          </a:prstGeom>
        </p:spPr>
      </p:pic>
      <p:sp>
        <p:nvSpPr>
          <p:cNvPr id="12" name="Text 8"/>
          <p:cNvSpPr/>
          <p:nvPr/>
        </p:nvSpPr>
        <p:spPr>
          <a:xfrm>
            <a:off x="726948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Talk predicts replies</a:t>
            </a:r>
            <a:endParaRPr lang="en-US" sz="1700" dirty="0"/>
          </a:p>
        </p:txBody>
      </p:sp>
      <p:sp>
        <p:nvSpPr>
          <p:cNvPr id="13" name="Text 9"/>
          <p:cNvSpPr/>
          <p:nvPr/>
        </p:nvSpPr>
        <p:spPr>
          <a:xfrm>
            <a:off x="726948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more engaged teams answer faster</a:t>
            </a:r>
            <a:endParaRPr lang="en-US" sz="1300" dirty="0"/>
          </a:p>
        </p:txBody>
      </p:sp>
      <p:sp>
        <p:nvSpPr>
          <p:cNvPr id="14" name="Shape 10"/>
          <p:cNvSpPr/>
          <p:nvPr/>
        </p:nvSpPr>
        <p:spPr>
          <a:xfrm>
            <a:off x="64008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42062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r>
          <p:cNvPicPr>
            <a:picLocks noChangeAspect="1"/>
          </p:cNvPicPr>
          <p:nvPr/>
        </p:nvPicPr>
        <p:blipFill>
          <a:blip r:embed="rId3"/>
          <a:stretch>
            <a:fillRect/>
          </a:stretch>
        </p:blipFill>
        <p:spPr>
          <a:xfrm>
            <a:off x="1080821" y="4372661"/>
            <a:ext cx="307238" cy="307238"/>
          </a:xfrm>
          <a:prstGeom prst="rect">
            <a:avLst/>
          </a:prstGeom>
        </p:spPr>
      </p:pic>
      <p:sp>
        <p:nvSpPr>
          <p:cNvPr id="17" name="Text 12"/>
          <p:cNvSpPr/>
          <p:nvPr/>
        </p:nvSpPr>
        <p:spPr>
          <a:xfrm>
            <a:off x="173736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We're honest about it</a:t>
            </a:r>
            <a:endParaRPr lang="en-US" sz="1700" dirty="0"/>
          </a:p>
        </p:txBody>
      </p:sp>
      <p:sp>
        <p:nvSpPr>
          <p:cNvPr id="18" name="Text 13"/>
          <p:cNvSpPr/>
          <p:nvPr/>
        </p:nvSpPr>
        <p:spPr>
          <a:xfrm>
            <a:off x="173736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we measure talk, not trust itself — yet</a:t>
            </a:r>
            <a:endParaRPr lang="en-US" sz="1300" dirty="0"/>
          </a:p>
        </p:txBody>
      </p:sp>
      <p:sp>
        <p:nvSpPr>
          <p:cNvPr id="19" name="Shape 14"/>
          <p:cNvSpPr/>
          <p:nvPr/>
        </p:nvSpPr>
        <p:spPr>
          <a:xfrm>
            <a:off x="617220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5"/>
          <p:cNvSpPr/>
          <p:nvPr/>
        </p:nvSpPr>
        <p:spPr>
          <a:xfrm>
            <a:off x="6446520" y="42062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21" name="Image 3" descr="preencoded.png">    </p:cNvPr>
          <p:cNvPicPr>
            <a:picLocks noChangeAspect="1"/>
          </p:cNvPicPr>
          <p:nvPr/>
        </p:nvPicPr>
        <p:blipFill>
          <a:blip r:embed="rId4"/>
          <a:stretch>
            <a:fillRect/>
          </a:stretch>
        </p:blipFill>
        <p:spPr>
          <a:xfrm>
            <a:off x="6612941" y="4372661"/>
            <a:ext cx="307238" cy="307238"/>
          </a:xfrm>
          <a:prstGeom prst="rect">
            <a:avLst/>
          </a:prstGeom>
        </p:spPr>
      </p:pic>
      <p:sp>
        <p:nvSpPr>
          <p:cNvPr id="22" name="Text 16"/>
          <p:cNvSpPr/>
          <p:nvPr/>
        </p:nvSpPr>
        <p:spPr>
          <a:xfrm>
            <a:off x="726948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Private by design</a:t>
            </a:r>
            <a:endParaRPr lang="en-US" sz="1700" dirty="0"/>
          </a:p>
        </p:txBody>
      </p:sp>
      <p:sp>
        <p:nvSpPr>
          <p:cNvPr id="23" name="Text 17"/>
          <p:cNvSpPr/>
          <p:nvPr/>
        </p:nvSpPr>
        <p:spPr>
          <a:xfrm>
            <a:off x="726948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counts &amp; timing only, no message content</a:t>
            </a:r>
            <a:endParaRPr lang="en-US" sz="1300" dirty="0"/>
          </a:p>
        </p:txBody>
      </p:sp>
      <p:sp>
        <p:nvSpPr>
          <p:cNvPr id="24" name="Shape 18"/>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5" name="Image 4" descr="/home/claude/qr_colab.png">    </p:cNvPr>
          <p:cNvPicPr>
            <a:picLocks noChangeAspect="1"/>
          </p:cNvPicPr>
          <p:nvPr/>
        </p:nvPicPr>
        <p:blipFill>
          <a:blip r:embed="rId5"/>
          <a:stretch>
            <a:fillRect/>
          </a:stretch>
        </p:blipFill>
        <p:spPr>
          <a:xfrm>
            <a:off x="10808208" y="384048"/>
            <a:ext cx="877824" cy="877824"/>
          </a:xfrm>
          <a:prstGeom prst="rect">
            <a:avLst/>
          </a:prstGeom>
        </p:spPr>
      </p:pic>
      <p:sp>
        <p:nvSpPr>
          <p:cNvPr id="26" name="Text 19"/>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7" name="Text 20"/>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Next steps &amp; questions</a:t>
            </a:r>
            <a:endParaRPr lang="en-US" sz="2900" dirty="0"/>
          </a:p>
        </p:txBody>
      </p:sp>
      <p:pic>
        <p:nvPicPr>
          <p:cNvPr id="4" name="Image 0" descr="preencoded.png">    </p:cNvPr>
          <p:cNvPicPr>
            <a:picLocks noChangeAspect="1"/>
          </p:cNvPicPr>
          <p:nvPr/>
        </p:nvPicPr>
        <p:blipFill>
          <a:blip r:embed="rId1"/>
          <a:stretch>
            <a:fillRect/>
          </a:stretch>
        </p:blipFill>
        <p:spPr>
          <a:xfrm>
            <a:off x="10469880" y="228600"/>
            <a:ext cx="1554480" cy="1554480"/>
          </a:xfrm>
          <a:prstGeom prst="rect">
            <a:avLst/>
          </a:prstGeom>
        </p:spPr>
      </p:pic>
      <p:sp>
        <p:nvSpPr>
          <p:cNvPr id="5" name="Shape 2"/>
          <p:cNvSpPr/>
          <p:nvPr/>
        </p:nvSpPr>
        <p:spPr>
          <a:xfrm>
            <a:off x="640080" y="1828800"/>
            <a:ext cx="576072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1" descr="preencoded.png">    </p:cNvPr>
          <p:cNvPicPr>
            <a:picLocks noChangeAspect="1"/>
          </p:cNvPicPr>
          <p:nvPr/>
        </p:nvPicPr>
        <p:blipFill>
          <a:blip r:embed="rId2"/>
          <a:stretch>
            <a:fillRect/>
          </a:stretch>
        </p:blipFill>
        <p:spPr>
          <a:xfrm>
            <a:off x="1011326" y="2245766"/>
            <a:ext cx="263347" cy="263347"/>
          </a:xfrm>
          <a:prstGeom prst="rect">
            <a:avLst/>
          </a:prstGeom>
        </p:spPr>
      </p:pic>
      <p:sp>
        <p:nvSpPr>
          <p:cNvPr id="8" name="Text 4"/>
          <p:cNvSpPr/>
          <p:nvPr/>
        </p:nvSpPr>
        <p:spPr>
          <a:xfrm>
            <a:off x="1645920" y="2212848"/>
            <a:ext cx="438912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Where we go from here</a:t>
            </a:r>
            <a:endParaRPr lang="en-US" sz="1700" dirty="0"/>
          </a:p>
        </p:txBody>
      </p:sp>
      <p:sp>
        <p:nvSpPr>
          <p:cNvPr id="9" name="Text 5"/>
          <p:cNvSpPr/>
          <p:nvPr/>
        </p:nvSpPr>
        <p:spPr>
          <a:xfrm>
            <a:off x="960120" y="2971800"/>
            <a:ext cx="5212080" cy="2743200"/>
          </a:xfrm>
          <a:prstGeom prst="rect">
            <a:avLst/>
          </a:prstGeom>
          <a:noFill/>
          <a:ln/>
        </p:spPr>
        <p:txBody>
          <a:bodyPr wrap="square" lIns="0" tIns="0" rIns="0" bIns="0" rtlCol="0" anchor="t"/>
          <a:lstStyle/>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Check our score against a trusted trust survey</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Use a real company's data</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Give each team &amp; person their own score</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Track real outcomes (deadlines, tickets)</a:t>
            </a:r>
            <a:endParaRPr lang="en-US" sz="1550" dirty="0"/>
          </a:p>
        </p:txBody>
      </p:sp>
      <p:sp>
        <p:nvSpPr>
          <p:cNvPr id="10" name="Text 6"/>
          <p:cNvSpPr/>
          <p:nvPr/>
        </p:nvSpPr>
        <p:spPr>
          <a:xfrm>
            <a:off x="6675120" y="2377440"/>
            <a:ext cx="4846320" cy="640080"/>
          </a:xfrm>
          <a:prstGeom prst="rect">
            <a:avLst/>
          </a:prstGeom>
          <a:noFill/>
          <a:ln/>
        </p:spPr>
        <p:txBody>
          <a:bodyPr wrap="square" lIns="0" tIns="0" rIns="0" bIns="0" rtlCol="0" anchor="ctr"/>
          <a:lstStyle/>
          <a:p>
            <a:pPr algn="ctr" indent="0" marL="0">
              <a:buNone/>
            </a:pPr>
            <a:r>
              <a:rPr lang="en-US" sz="3600" b="1" dirty="0">
                <a:solidFill>
                  <a:srgbClr val="16263B"/>
                </a:solidFill>
                <a:latin typeface="Georgia" pitchFamily="34" charset="0"/>
                <a:ea typeface="Georgia" pitchFamily="34" charset="-122"/>
                <a:cs typeface="Georgia" pitchFamily="34" charset="-120"/>
              </a:rPr>
              <a:t>Questions?</a:t>
            </a:r>
            <a:endParaRPr lang="en-US" sz="3600" dirty="0"/>
          </a:p>
        </p:txBody>
      </p:sp>
      <p:sp>
        <p:nvSpPr>
          <p:cNvPr id="11" name="Text 7"/>
          <p:cNvSpPr/>
          <p:nvPr/>
        </p:nvSpPr>
        <p:spPr>
          <a:xfrm>
            <a:off x="6675120" y="3291840"/>
            <a:ext cx="4846320" cy="1005840"/>
          </a:xfrm>
          <a:prstGeom prst="rect">
            <a:avLst/>
          </a:prstGeom>
          <a:noFill/>
          <a:ln/>
        </p:spPr>
        <p:txBody>
          <a:bodyPr wrap="square" lIns="0" tIns="0" rIns="0" bIns="0" rtlCol="0" anchor="ctr"/>
          <a:lstStyle/>
          <a:p>
            <a:pPr algn="ctr" indent="0" marL="0">
              <a:buNone/>
            </a:pPr>
            <a:r>
              <a:rPr lang="en-US" sz="1400" b="1" dirty="0">
                <a:solidFill>
                  <a:srgbClr val="16263B"/>
                </a:solidFill>
                <a:latin typeface="Arial" pitchFamily="34" charset="0"/>
                <a:ea typeface="Arial" pitchFamily="34" charset="-122"/>
                <a:cs typeface="Arial" pitchFamily="34" charset="-120"/>
              </a:rPr>
              <a:t>Vernon T. Cox  ·  Srilatha Alla</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Instructor: Robert Citek — CNM Ingenuity</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SME: Prof. R. DelCampo — UNM Anderson</a:t>
            </a:r>
            <a:endParaRPr lang="en-US" sz="1400" dirty="0"/>
          </a:p>
        </p:txBody>
      </p:sp>
      <p:sp>
        <p:nvSpPr>
          <p:cNvPr id="12" name="Shape 8"/>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3" name="Image 2" descr="/home/claude/qr_colab.png">    </p:cNvPr>
          <p:cNvPicPr>
            <a:picLocks noChangeAspect="1"/>
          </p:cNvPicPr>
          <p:nvPr/>
        </p:nvPicPr>
        <p:blipFill>
          <a:blip r:embed="rId3"/>
          <a:stretch>
            <a:fillRect/>
          </a:stretch>
        </p:blipFill>
        <p:spPr>
          <a:xfrm>
            <a:off x="10264140" y="5006340"/>
            <a:ext cx="1280160" cy="1280160"/>
          </a:xfrm>
          <a:prstGeom prst="rect">
            <a:avLst/>
          </a:prstGeom>
        </p:spPr>
      </p:pic>
      <p:sp>
        <p:nvSpPr>
          <p:cNvPr id="14" name="Text 9"/>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28090"/>
                </a:solidFill>
                <a:latin typeface="Arial" pitchFamily="34" charset="0"/>
                <a:ea typeface="Arial" pitchFamily="34" charset="-122"/>
                <a:cs typeface="Arial" pitchFamily="34" charset="-120"/>
              </a:rPr>
              <a:t>Scan to open in Colab</a:t>
            </a:r>
            <a:endParaRPr lang="en-US" sz="1050" dirty="0"/>
          </a:p>
        </p:txBody>
      </p:sp>
      <p:sp>
        <p:nvSpPr>
          <p:cNvPr id="15" name="Text 10"/>
          <p:cNvSpPr/>
          <p:nvPr/>
        </p:nvSpPr>
        <p:spPr>
          <a:xfrm>
            <a:off x="640080" y="6400800"/>
            <a:ext cx="548640" cy="274320"/>
          </a:xfrm>
          <a:prstGeom prst="rect">
            <a:avLst/>
          </a:prstGeom>
          <a:noFill/>
          <a:ln/>
        </p:spPr>
        <p:txBody>
          <a:bodyPr wrap="square" lIns="0" tIns="0" rIns="0" bIns="0" rtlCol="0" anchor="ctr"/>
          <a:lstStyle/>
          <a:p>
            <a:pPr algn="l" indent="0" marL="0">
              <a:buNone/>
            </a:pPr>
            <a:r>
              <a:rPr lang="en-US" sz="1000" dirty="0">
                <a:solidFill>
                  <a:srgbClr val="5C6B7A"/>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Trust Quotient (OTQ)</dc:title>
  <dc:subject>PptxGenJS Presentation</dc:subject>
  <dc:creator>Vernon T. Cox</dc:creator>
  <cp:lastModifiedBy>Vernon T. Cox</cp:lastModifiedBy>
  <cp:revision>1</cp:revision>
  <dcterms:created xsi:type="dcterms:W3CDTF">2026-06-23T12:09:26Z</dcterms:created>
  <dcterms:modified xsi:type="dcterms:W3CDTF">2026-06-23T12:09:26Z</dcterms:modified>
</cp:coreProperties>
</file>