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25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4"/>
    <p:sldId id="273" r:id="rId24"/>
    <p:sldId id="271" r:id="rId22"/>
    <p:sldId id="272" r:id="rId23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3.xml"/><Relationship Id="rId25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6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63B"/>
                </a:solidFill>
                <a:latin typeface="Arial"/>
              </a:rPr>
              <a:t>Starting score by interaction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C9C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Meeting</c:v>
                  </c:pt>
                  <c:pt idx="1">
                    <c:v>Chat</c:v>
                  </c:pt>
                  <c:pt idx="2">
                    <c:v>Call</c:v>
                  </c:pt>
                  <c:pt idx="3">
                    <c:v>Email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24.5</c:v>
                </c:pt>
                <c:pt idx="1">
                  <c:v>9.5</c:v>
                </c:pt>
                <c:pt idx="2">
                  <c:v>8.5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16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Arial"/>
                  </a:rPr>
                  <a:t>Interaction type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6350" cap="flat">
              <a:solidFill>
                <a:srgbClr val="D6E2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Arial"/>
                  </a:rPr>
                  <a:t>Engagement points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AF2F6"/>
        </a:solidFill>
        <a:ln>
          <a:noFill/>
        </a:ln>
        <a:effectLst/>
      </c:spPr>
    </c:plotArea>
    <c:plotVisOnly val="1"/>
    <c:dispBlanksAs val="span"/>
  </c:chart>
  <c:spPr>
    <a:solidFill>
      <a:srgbClr val="EAF2F6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Vernon &amp; Srilatha</a:t>
            </a:r>
            <a:endParaRPr lang="en-US" dirty="0"/>
          </a:p>
          <a:p>
            <a:r>
              <a:t>1. Welcome — I'm Vernon Cox, with my co-researcher Srilatha Alla.</a:t>
            </a:r>
          </a:p>
          <a:p>
            <a:r>
              <a:t>2. We built the Organizational Trust Quotient, or OTQ.</a:t>
            </a:r>
          </a:p>
          <a:p>
            <a:r>
              <a:t>3. The idea: how a team talks day to day — how often they message, how fast they reply — signals how the team is doing.</a:t>
            </a:r>
          </a:p>
          <a:p>
            <a:r>
              <a:t>4. We don't survey anyone and we never read messages; we use patterns that are already there.</a:t>
            </a:r>
          </a:p>
          <a:p>
            <a:r>
              <a:t>5. Today I'll cover the problem, what we measure, the data, and the working tool we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Vernon</a:t>
            </a:r>
            <a:endParaRPr lang="en-US" dirty="0"/>
          </a:p>
          <a:p>
            <a:r>
              <a:t>1. Here's the quick roadmap for the next ten minutes.</a:t>
            </a:r>
          </a:p>
          <a:p>
            <a:r>
              <a:t>2. First, the problem — why this is harder than it sounds.</a:t>
            </a:r>
          </a:p>
          <a:p>
            <a:r>
              <a:t>3. Then what OTQ looks at, and the data behind it.</a:t>
            </a:r>
          </a:p>
          <a:p>
            <a:r>
              <a:t>4. Then the results and the website we built.</a:t>
            </a:r>
          </a:p>
          <a:p>
            <a:r>
              <a:t>5. Finally, the takeaways and where we'd go next.</a:t>
            </a:r>
          </a:p>
          <a:p>
            <a:r>
              <a:t>6. I'll keep it plain — no data degree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Vernon</a:t>
            </a:r>
            <a:endParaRPr lang="en-US" dirty="0"/>
          </a:p>
          <a:p>
            <a:r>
              <a:t>1. How do companies check on this today? Mostly surveys — annual, quarterly, pulse.</a:t>
            </a:r>
          </a:p>
          <a:p>
            <a:r>
              <a:t>2. Surveys only happen now and then, so problems get spotted months late.</a:t>
            </a:r>
          </a:p>
          <a:p>
            <a:r>
              <a:t>3. People tend to answer how they think they're supposed to.</a:t>
            </a:r>
          </a:p>
          <a:p>
            <a:r>
              <a:t>4. And they pull everyone away from real work to fill them out.</a:t>
            </a:r>
          </a:p>
          <a:p>
            <a:r>
              <a:t>5. Meanwhile, teams send thousands of messages a day — a signal that goes unused.</a:t>
            </a:r>
          </a:p>
          <a:p>
            <a:r>
              <a:t>6. Our goal: an always-on read, with no extra work for anyone.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Vernon</a:t>
            </a:r>
            <a:endParaRPr lang="en-US" dirty="0"/>
          </a:p>
          <a:p>
            <a:r>
              <a:t>1. Here's the heart of it — and I'll be straight about each step.</a:t>
            </a:r>
          </a:p>
          <a:p>
            <a:r>
              <a:t>2. We measure engagement — how much a team talks and meets.</a:t>
            </a:r>
          </a:p>
          <a:p>
            <a:r>
              <a:t>3. From that, we predict responsiveness — how fast they reply.</a:t>
            </a:r>
          </a:p>
          <a:p>
            <a:r>
              <a:t>4. What we're really curious about underneath is trust.</a:t>
            </a:r>
          </a:p>
          <a:p>
            <a:r>
              <a:t>5. The honest part: we measure talk and predict replies; trust is what we believe sits underneath.</a:t>
            </a:r>
          </a:p>
          <a:p>
            <a:r>
              <a:t>6. We do NOT claim to measure trust directly — and we keep that front and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Vernon</a:t>
            </a:r>
            <a:endParaRPr lang="en-US" dirty="0"/>
          </a:p>
          <a:p>
            <a:r>
              <a:t>1. The data comes from three tools every office already uses.</a:t>
            </a:r>
          </a:p>
          <a:p>
            <a:r>
              <a:t>2. Slack for chats, Teams for meetings, Outlook for calendar invites.</a:t>
            </a:r>
          </a:p>
          <a:p>
            <a:r>
              <a:t>3. We combine them into one table — here, about 1,250 events.</a:t>
            </a:r>
          </a:p>
          <a:p>
            <a:r>
              <a:t>4. No real company yet, so we built safe stand-in data using apostle names.</a:t>
            </a:r>
          </a:p>
          <a:p>
            <a:r>
              <a:t>5. It has the same shape as real exports — so the code is ready for the real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Srilatha</a:t>
            </a:r>
            <a:endParaRPr lang="en-US" dirty="0"/>
          </a:p>
          <a:p>
            <a:r>
              <a:t>1. Each row is one interaction — counts and timing, never the words.</a:t>
            </a:r>
          </a:p>
          <a:p>
            <a:r>
              <a:t>2. We keep who and where, how long, how many people, and a reply-speed clue.</a:t>
            </a:r>
          </a:p>
          <a:p>
            <a:r>
              <a:t>3. That's it — no message content, ever.</a:t>
            </a:r>
          </a:p>
          <a:p>
            <a:r>
              <a:t>4. About 1,250 events, three sources, roughly eight simple facts each.</a:t>
            </a:r>
          </a:p>
          <a:p>
            <a:r>
              <a:t>5. Privacy is built in from the start, not bolted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Srilatha</a:t>
            </a:r>
            <a:endParaRPr lang="en-US" dirty="0"/>
          </a:p>
          <a:p>
            <a:r>
              <a:t>1. We turn each interaction into a score — think of it as engagement points.</a:t>
            </a:r>
          </a:p>
          <a:p>
            <a:r>
              <a:t>2. A meeting counts more than a quick email, because it takes more from people.</a:t>
            </a:r>
          </a:p>
          <a:p>
            <a:r>
              <a:t>3. Longer counts more than shorter; more people counts more than fewer.</a:t>
            </a:r>
          </a:p>
          <a:p>
            <a:r>
              <a:t>4. Each day, we add it all up — total score, number of events, average length and size.</a:t>
            </a:r>
          </a:p>
          <a:p>
            <a:r>
              <a:t>5. Busy days score high, quiet days score low — and anyone can follow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Srilatha</a:t>
            </a:r>
            <a:endParaRPr lang="en-US" dirty="0"/>
          </a:p>
          <a:p>
            <a:r>
              <a:t>1. For the technical folks: the actual code — but you don't need to read it.</a:t>
            </a:r>
          </a:p>
          <a:p>
            <a:r>
              <a:t>2. The top function is the rule I just described: type, plus duration, plus how many people.</a:t>
            </a:r>
          </a:p>
          <a:p>
            <a:r>
              <a:t>3. The bottom is where we feed those daily numbers into the model.</a:t>
            </a:r>
          </a:p>
          <a:p>
            <a:r>
              <a:t>4. The point: the plain-English idea and the code line up — nothing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Srilatha</a:t>
            </a:r>
            <a:endParaRPr lang="en-US" dirty="0"/>
          </a:p>
          <a:p>
            <a:r>
              <a:t>1. Before modeling, we always look at the data.</a:t>
            </a:r>
          </a:p>
          <a:p>
            <a:r>
              <a:t>2. Simplest view: how many people are in each interaction.</a:t>
            </a:r>
          </a:p>
          <a:p>
            <a:r>
              <a:t>3. The big spike on the left — most interactions are just two people.</a:t>
            </a:r>
          </a:p>
          <a:p>
            <a:r>
              <a:t>4. The tail to the right — the bigger group meetings.</a:t>
            </a:r>
          </a:p>
          <a:p>
            <a:r>
              <a:t>5. Nothing surprising, which is exactly what you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Srilatha</a:t>
            </a:r>
            <a:endParaRPr lang="en-US" dirty="0"/>
          </a:p>
          <a:p>
            <a:r>
              <a:t>1. The model learns the link between engagement and reply speed.</a:t>
            </a:r>
          </a:p>
          <a:p>
            <a:r>
              <a:t>2. Our clues overlap — busy days are busy all around — so it has to stay steady.</a:t>
            </a:r>
          </a:p>
          <a:p>
            <a:r>
              <a:t>3. We used ridge regression: stable and easy to read.</a:t>
            </a:r>
          </a:p>
          <a:p>
            <a:r>
              <a:t>4. We checked it — compared other models, tuned carefully, tested on days it never saw.</a:t>
            </a:r>
          </a:p>
          <a:p>
            <a:r>
              <a:t>5. We also ranked which clues matter most — we didn't just trust the first thing that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SPEAKER: Vernon</a:t>
            </a:r>
          </a:p>
          <a:p>
            <a:r>
              <a:t>1. We also checked whether the patterns line up with known team-development models.</a:t>
            </a:r>
          </a:p>
          <a:p>
            <a:r>
              <a:t>2. This breaks down and ranks every stage on two well-known frameworks.</a:t>
            </a:r>
          </a:p>
          <a:p>
            <a:r>
              <a:t>3. Caveat: it's an engagement-based indicator meant to spark discussion.</a:t>
            </a:r>
          </a:p>
          <a:p>
            <a:r>
              <a:t>4. It is NOT a validated diagnosis of team development or culture.</a:t>
            </a:r>
          </a:p>
          <a:p>
            <a:r>
              <a:t>5. We show the full ranking so it's transparent, not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SPEAKER: Vernon</a:t>
            </a:r>
          </a:p>
          <a:p>
            <a:r>
              <a:t>1. Let's start with why this matters in dollars.</a:t>
            </a:r>
          </a:p>
          <a:p>
            <a:r>
              <a:t>2. Unfocused — everyone's busy, but pulling in different directions.</a:t>
            </a:r>
          </a:p>
          <a:p>
            <a:r>
              <a:t>3. Disjointed — work happens in silos; things get duplicated or dropped between people.</a:t>
            </a:r>
          </a:p>
          <a:p>
            <a:r>
              <a:t>4. Unheard — concerns surface too late, after they've become real problems.</a:t>
            </a:r>
          </a:p>
          <a:p>
            <a:r>
              <a:t>5. None of these show on a balance sheet, but all of them burn hours, slow projects, and push good people out.</a:t>
            </a:r>
          </a:p>
          <a:p>
            <a:r>
              <a:t>6. That's real money — leaders just rarely see it until it's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Srilatha</a:t>
            </a:r>
            <a:endParaRPr lang="en-US" dirty="0"/>
          </a:p>
          <a:p>
            <a:r>
              <a:t>1. This isn't just a notebook — it's a real website that runs the whole thing.</a:t>
            </a:r>
          </a:p>
          <a:p>
            <a:r>
              <a:t>2. We connect to your data source first.</a:t>
            </a:r>
          </a:p>
          <a:p>
            <a:r>
              <a:t>3. Then OTQ delivers your team's predictions, day by day.</a:t>
            </a:r>
          </a:p>
          <a:p>
            <a:r>
              <a:t>4. You don't touch code — it runs everything and shows results and charts.</a:t>
            </a:r>
          </a:p>
          <a:p>
            <a:r>
              <a:t>5. The whole pipeline, wrapped in something anyone can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Vernon</a:t>
            </a:r>
            <a:endParaRPr lang="en-US" dirty="0"/>
          </a:p>
          <a:p>
            <a:r>
              <a:t>1. Four things to remember.</a:t>
            </a:r>
          </a:p>
          <a:p>
            <a:r>
              <a:t>2. Always-on beats once a year — a live read beats an annual survey.</a:t>
            </a:r>
          </a:p>
          <a:p>
            <a:r>
              <a:t>3. Talk predicts replies — more engaged teams answer faster.</a:t>
            </a:r>
          </a:p>
          <a:p>
            <a:r>
              <a:t>4. We're honest about the limits — we measure talk, not trust itself, yet.</a:t>
            </a:r>
          </a:p>
          <a:p>
            <a:r>
              <a:t>5. Private by design — counts and timing only, never message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SPEAKER: Vernon &amp; Srilatha</a:t>
            </a:r>
            <a:endParaRPr lang="en-US" dirty="0"/>
          </a:p>
          <a:p>
            <a:r>
              <a:t>1. Where we'd take this next.</a:t>
            </a:r>
          </a:p>
          <a:p>
            <a:r>
              <a:t>2. Check our score against a trusted, established trust survey.</a:t>
            </a:r>
          </a:p>
          <a:p>
            <a:r>
              <a:t>3. Run it on a real company's data.</a:t>
            </a:r>
          </a:p>
          <a:p>
            <a:r>
              <a:t>4. Give each team and each person their own score.</a:t>
            </a:r>
          </a:p>
          <a:p>
            <a:r>
              <a:t>5. Tie it to real outcomes — deadlines hit, tickets closed.</a:t>
            </a:r>
          </a:p>
          <a:p>
            <a:r>
              <a:t>6. That's how we move from a promising signal to a proven tool.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SPEAKER: Vernon</a:t>
            </a:r>
          </a:p>
          <a:p>
            <a:r>
              <a:t>1. Here's the same idea as a picture.</a:t>
            </a:r>
          </a:p>
          <a:p>
            <a:r>
              <a:t>2. We map the engagement patterns onto two team-stage frameworks — Tuckman and Logan.</a:t>
            </a:r>
          </a:p>
          <a:p>
            <a:r>
              <a:t>3. The bars show where the team leans on each one.</a:t>
            </a:r>
          </a:p>
          <a:p>
            <a:r>
              <a:t>4. Same honesty: an indicative signal to discuss, not a clinical or validated assessment.</a:t>
            </a:r>
          </a:p>
          <a:p>
            <a:r>
              <a:t>5. It's a conversation starter — here's what the patterns suggest; does it ring true?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SPEAKER: Vernon</a:t>
            </a:r>
          </a:p>
          <a:p>
            <a:r>
              <a:t>1. Here's the read in one view.</a:t>
            </a:r>
          </a:p>
          <a:p>
            <a:r>
              <a:t>2. The top stage on each track, with a confidence score.</a:t>
            </a:r>
          </a:p>
          <a:p>
            <a:r>
              <a:t>3. Plus the evidence: about 1,250 events, 184 people, over roughly six months.</a:t>
            </a:r>
          </a:p>
          <a:p>
            <a:r>
              <a:t>4. So you get the headline and the proof together.</a:t>
            </a:r>
          </a:p>
          <a:p>
            <a:r>
              <a:t>5. Again: an engagement-based indicator, not a clinical assessment — good for discussion, not a verdict to act on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breakdown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stage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stage2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320040"/>
            <a:ext cx="4206240" cy="4206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te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-228600"/>
            <a:ext cx="4023360" cy="402336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TRUST QUOTIENT®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" y="20574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team health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everyday messages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3931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people talk at work → a signal of how the team is doing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41248" y="4800600"/>
            <a:ext cx="3840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937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Vernon T. Cox  ·  Srilatha Alla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DB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CNM Ingenuity — Data Science Bootcamp Capstone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DB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Robert Citek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DB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SME: Prof. R. DelCampo — UNM Anderson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104120" y="484632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0" name="Image 1" descr="/home/claude/qr_co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0" y="5006340"/>
            <a:ext cx="1280160" cy="12801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0" y="4553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request a briefing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— 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10 minutes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83080" y="1906524"/>
            <a:ext cx="530352" cy="530352"/>
          </a:xfrm>
          <a:prstGeom prst="ellipse">
            <a:avLst/>
          </a:prstGeom>
          <a:solidFill>
            <a:srgbClr val="11243F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972" y="2044416"/>
            <a:ext cx="254569" cy="2545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06040" y="1783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set out to solve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0080" y="26974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807208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783080" y="2820924"/>
            <a:ext cx="530352" cy="530352"/>
          </a:xfrm>
          <a:prstGeom prst="ellipse">
            <a:avLst/>
          </a:prstGeom>
          <a:solidFill>
            <a:srgbClr val="11243F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972" y="2958816"/>
            <a:ext cx="254569" cy="2545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6974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OTQ looks at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40080" y="36118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3721608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1440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1783080" y="3735324"/>
            <a:ext cx="530352" cy="530352"/>
          </a:xfrm>
          <a:prstGeom prst="ellipse">
            <a:avLst/>
          </a:prstGeom>
          <a:solidFill>
            <a:srgbClr val="11243F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972" y="3873216"/>
            <a:ext cx="254569" cy="2545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06040" y="36118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— and how we score it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4400" y="4636008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914400" y="4636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1783080" y="4649724"/>
            <a:ext cx="530352" cy="530352"/>
          </a:xfrm>
          <a:prstGeom prst="ellipse">
            <a:avLst/>
          </a:prstGeom>
          <a:solidFill>
            <a:srgbClr val="11243F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972" y="4787616"/>
            <a:ext cx="254569" cy="25456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606040" y="45262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the dashboard we built</a:t>
            </a:r>
            <a:endParaRPr lang="en-US" sz="1900" dirty="0"/>
          </a:p>
        </p:txBody>
      </p:sp>
      <p:sp>
        <p:nvSpPr>
          <p:cNvPr id="28" name="Shape 22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14400" y="5550408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914400" y="5550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1783080" y="5564124"/>
            <a:ext cx="530352" cy="530352"/>
          </a:xfrm>
          <a:prstGeom prst="ellipse">
            <a:avLst/>
          </a:prstGeom>
          <a:solidFill>
            <a:srgbClr val="11243F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972" y="5702016"/>
            <a:ext cx="254569" cy="25456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606040" y="54406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Take-homes &amp; what's next</a:t>
            </a:r>
            <a:endParaRPr lang="en-US" sz="1900" dirty="0"/>
          </a:p>
        </p:txBody>
      </p:sp>
      <p:sp>
        <p:nvSpPr>
          <p:cNvPr id="34" name="Shape 27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35" name="Image 5" descr="/home/claude/qr_co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Unfocused, disjointed, unheard teams cost time and money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7672" y="2103120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377" y="230282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PULLED APART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Unfocused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scatters, priorities blur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7764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96712" y="2103120"/>
            <a:ext cx="768096" cy="768096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417" y="2302825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WALLED OFF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Disjointed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617720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duplicated, handoffs dropped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72668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8138160" y="18288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45752" y="2103120"/>
            <a:ext cx="768096" cy="7680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457" y="230282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OUT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2104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Unheard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8366760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 surface too late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0080" y="5257800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4F9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cost:  </a:t>
            </a:r>
            <a:pPr indent="0" marL="0">
              <a:buNone/>
            </a:pPr>
            <a:r>
              <a:rPr lang="en-US" sz="14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every company this quietly drains hours, slows delivery, and pushes good people out — real money leaders rarely see.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7" name="Image 3" descr="/home/claude/qr_co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hard to see — until it's gone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2048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214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usual way: periodic surveys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Annual, quarterly, pulse, 360° — methods &amp; timing vary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answer how they “should”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time away from work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457200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47194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46817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Our goal:  </a:t>
            </a:r>
            <a:pPr indent="0" marL="0">
              <a:buNone/>
            </a:pPr>
            <a:r>
              <a:rPr lang="en-US" sz="16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always-on read — with no extra work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720840" y="1783080"/>
            <a:ext cx="4800600" cy="4023360"/>
          </a:xfrm>
          <a:prstGeom prst="roundRect">
            <a:avLst>
              <a:gd name="adj" fmla="val 2045"/>
            </a:avLst>
          </a:prstGeom>
          <a:solidFill>
            <a:srgbClr val="11243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720840" y="21488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BETWEEN CHECK-INS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20840" y="25146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30–365</a:t>
            </a:r>
            <a:endParaRPr lang="en-US" sz="7200" dirty="0"/>
          </a:p>
        </p:txBody>
      </p:sp>
      <p:sp>
        <p:nvSpPr>
          <p:cNvPr id="15" name="Shape 11"/>
          <p:cNvSpPr/>
          <p:nvPr/>
        </p:nvSpPr>
        <p:spPr>
          <a:xfrm>
            <a:off x="7406640" y="3977640"/>
            <a:ext cx="3429000" cy="0"/>
          </a:xfrm>
          <a:prstGeom prst="line">
            <a:avLst/>
          </a:prstGeom>
          <a:noFill/>
          <a:ln w="12700">
            <a:solidFill>
              <a:srgbClr val="1B335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20840" y="42062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send thousands of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DC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a day — unused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8" name="Image 2" descr="/home/claude/qr_co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OTQ LOOKS 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“how people talk” to “how the team is doing”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7672" y="2103120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377" y="230282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people talk &amp; meet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7764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96712" y="2103120"/>
            <a:ext cx="768096" cy="768096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417" y="2302825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PREDICT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Responsiveness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617720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fast they reply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726680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8138160" y="182880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11243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45752" y="2103120"/>
            <a:ext cx="768096" cy="768096"/>
          </a:xfrm>
          <a:prstGeom prst="ellipse">
            <a:avLst/>
          </a:prstGeom>
          <a:solidFill>
            <a:srgbClr val="11243F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457" y="230282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AFTER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2104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8366760" y="3931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 underneath — inferred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0080" y="5257800"/>
            <a:ext cx="10881360" cy="731520"/>
          </a:xfrm>
          <a:prstGeom prst="roundRect">
            <a:avLst>
              <a:gd name="adj" fmla="val 11250"/>
            </a:avLst>
          </a:prstGeom>
          <a:solidFill>
            <a:srgbClr val="F4F9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Being honest:  </a:t>
            </a:r>
            <a:pPr indent="0" marL="0">
              <a:buNone/>
            </a:pPr>
            <a:r>
              <a:rPr lang="en-US" sz="14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talk and predict replies. Trust is what we believe sits underneath — we don't claim to measure it directly.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7" name="Image 3" descr="/home/claude/qr_co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· WHERE IT COMES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everyday tools, one combined table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7432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142" y="23052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chat messages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11880" y="1828800"/>
            <a:ext cx="27432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486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42" y="23052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1188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meetings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0" y="1828800"/>
            <a:ext cx="27432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6666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742" y="230520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83680" y="34198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calendar invites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144000" y="254203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20" name="Shape 15"/>
          <p:cNvSpPr/>
          <p:nvPr/>
        </p:nvSpPr>
        <p:spPr>
          <a:xfrm>
            <a:off x="9829800" y="1828800"/>
            <a:ext cx="1691640" cy="2148840"/>
          </a:xfrm>
          <a:prstGeom prst="roundRect">
            <a:avLst>
              <a:gd name="adj" fmla="val 4865"/>
            </a:avLst>
          </a:prstGeom>
          <a:solidFill>
            <a:srgbClr val="11243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309860" y="2103120"/>
            <a:ext cx="731520" cy="7315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229331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29800" y="303580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1,250 events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table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0080" y="425196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F4F9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526280"/>
            <a:ext cx="640080" cy="64008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1" y="46927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3080" y="44805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data: the “Apostles” dataset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783080" y="486460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company yet — so we built safe stand-in data from Bible figures (the apostles). Same shape as real Slack / Teams / Outlook exports, so the code is ready for the real thing.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30" name="Image 5" descr="/home/claude/qr_co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· WHAT'S IN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 is one interaction — counts, not words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74066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97280"/>
                <a:gridCol w="1691640"/>
                <a:gridCol w="77724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Who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People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4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Teams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meeting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Peter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council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30.9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Slack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chat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Paul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epistles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11.0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Outlook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meeting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James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assembly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30.5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Slack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chat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John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acts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63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12.5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34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rows from the combined table. Names/channels are labels in the data — never message content.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229600" y="1965960"/>
            <a:ext cx="32918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5820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8959" y="232531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98280" y="2249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keep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503920" y="278892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&amp; where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people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reply-speed clue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0" y="4526280"/>
            <a:ext cx="1033272" cy="1143000"/>
          </a:xfrm>
          <a:prstGeom prst="roundRect">
            <a:avLst>
              <a:gd name="adj" fmla="val 7965"/>
            </a:avLst>
          </a:prstGeom>
          <a:solidFill>
            <a:srgbClr val="11243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0" y="4617720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1,250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229600" y="5193792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358884" y="4526280"/>
            <a:ext cx="1033272" cy="1143000"/>
          </a:xfrm>
          <a:prstGeom prst="roundRect">
            <a:avLst>
              <a:gd name="adj" fmla="val 7965"/>
            </a:avLst>
          </a:prstGeom>
          <a:solidFill>
            <a:srgbClr val="11243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358884" y="4617720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9358884" y="5193792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0488168" y="4526280"/>
            <a:ext cx="1033272" cy="1143000"/>
          </a:xfrm>
          <a:prstGeom prst="roundRect">
            <a:avLst>
              <a:gd name="adj" fmla="val 7965"/>
            </a:avLst>
          </a:prstGeom>
          <a:solidFill>
            <a:srgbClr val="11243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10488168" y="4617720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10488168" y="5193792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each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1" name="Image 1" descr="/home/claude/qr_co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· HOW WE SCORE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every interaction a score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score = more engagement. Meetings count more than emails; longer and more people count more.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24028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2240280"/>
            <a:ext cx="4663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86600" y="251460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359" y="264535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one event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0" y="29260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type of interaction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how long it ran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how many people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58000" y="4069080"/>
            <a:ext cx="4663440" cy="1737360"/>
          </a:xfrm>
          <a:prstGeom prst="roundRect">
            <a:avLst>
              <a:gd name="adj" fmla="val 4737"/>
            </a:avLst>
          </a:prstGeom>
          <a:solidFill>
            <a:srgbClr val="F4F9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086600" y="4315968"/>
            <a:ext cx="502920" cy="5029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359" y="4446727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0" y="4361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each day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772400" y="47091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score &amp; # of events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people &amp; length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was written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7" name="Image 2" descr="/home/claude/qr_co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 · 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rule to score, in real code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0" cy="3931920"/>
          </a:xfrm>
          <a:prstGeom prst="roundRect">
            <a:avLst>
              <a:gd name="adj" fmla="val 1628"/>
            </a:avLst>
          </a:prstGeom>
          <a:solidFill>
            <a:srgbClr val="11243F"/>
          </a:solidFill>
          <a:ln w="12700">
            <a:solidFill>
              <a:srgbClr val="1B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57400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057400"/>
            <a:ext cx="100584" cy="10058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205740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9842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otq_scoring.py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237744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otq_event_units(event_type, duration, people):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 = event_type.lower()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  "meeting" in t: base = 24.5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3E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weighs most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elif "chat"    in t: base = 9.5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elif "call"    in t: base = 8.5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elif "email"   in t: base = 6.0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else:                base = 5.0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dur   = min(duration, 120) / 60.0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3E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+0 to 2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reach = log(max(people,1), 2) * 1.5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base + dur + reach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257800" cy="3931920"/>
          </a:xfrm>
          <a:prstGeom prst="roundRect">
            <a:avLst>
              <a:gd name="adj" fmla="val 1628"/>
            </a:avLst>
          </a:prstGeom>
          <a:solidFill>
            <a:srgbClr val="11243F"/>
          </a:solidFill>
          <a:ln w="12700">
            <a:solidFill>
              <a:srgbClr val="1B335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4808" y="2057400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47688" y="2057400"/>
            <a:ext cx="100584" cy="10058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Shape 11"/>
          <p:cNvSpPr/>
          <p:nvPr/>
        </p:nvSpPr>
        <p:spPr>
          <a:xfrm>
            <a:off x="6830568" y="205740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98424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fit_model.py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2377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["log_total_eu",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"log_total_events", "avg_participants",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"avg_duration", "log_total_text"]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3E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alpha tuned by GridSearchCV (5-fold)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Ridge(alpha=best_alpha)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C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= r2_score(y_test, model.predict(X_test))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3E0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negative coef -&gt; more talk, faster reply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7" name="Image 0" descr="/home/claude/qr_cola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· A FIRST 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real numbers look like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828800" y="1783080"/>
            <a:ext cx="850392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5" name="Image 0" descr="/home/claude/nb_eda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75104" y="1929384"/>
            <a:ext cx="8211312" cy="4050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61447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look at the data: most interactions are quick one-to-one exchanges, with larger group meetings making up the tail.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8" name="Image 1" descr="/home/claude/qr_co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steady model that connects the dots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Learns: engagement → reply speed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clues overlap — needs to stay steady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keeps it stable &amp; readable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4F9FB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checked it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✓"/>
            </a:pPr>
            <a:r>
              <a:rPr lang="en-US" sz="15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against other models</a:t>
            </a:r>
            <a:endParaRPr lang="en-US" sz="1500" dirty="0"/>
          </a:p>
          <a:p>
            <a:pPr marL="177800" indent="-177800">
              <a:spcAft>
                <a:spcPts val="1300"/>
              </a:spcAft>
              <a:buSzPct val="100000"/>
              <a:buChar char="✓"/>
            </a:pPr>
            <a:r>
              <a:rPr lang="en-US" sz="15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the settings carefully</a:t>
            </a:r>
            <a:endParaRPr lang="en-US" sz="1500" dirty="0"/>
          </a:p>
          <a:p>
            <a:pPr marL="177800" indent="-177800">
              <a:spcAft>
                <a:spcPts val="1300"/>
              </a:spcAft>
              <a:buSzPct val="100000"/>
              <a:buChar char="✓"/>
            </a:pPr>
            <a:r>
              <a:rPr lang="en-US" sz="15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on days it never saw</a:t>
            </a:r>
            <a:endParaRPr lang="en-US" sz="1500" dirty="0"/>
          </a:p>
          <a:p>
            <a:pPr marL="177800" indent="-177800">
              <a:spcAft>
                <a:spcPts val="1300"/>
              </a:spcAft>
              <a:buSzPct val="100000"/>
              <a:buChar char="✓"/>
            </a:pPr>
            <a:r>
              <a:rPr lang="en-US" sz="150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which clues matter most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5" name="Image 2" descr="/home/claude/qr_co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website that runs the whole thing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11243F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9339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9339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199339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organizationaltrustquotient.com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F4F9FB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20440" y="269748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199" y="2828239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14400" y="40400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9FB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40400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connect to your data source first — then OTQ delivers your team’s day-by-day predictions.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03720" y="1828800"/>
            <a:ext cx="4617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14032" y="1993392"/>
            <a:ext cx="530352" cy="53035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924" y="2131284"/>
            <a:ext cx="254569" cy="25456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63840" y="1828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files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903720" y="2834640"/>
            <a:ext cx="4617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114032" y="2999232"/>
            <a:ext cx="530352" cy="53035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924" y="3137124"/>
            <a:ext cx="254569" cy="25456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86384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everything for you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903720" y="3840480"/>
            <a:ext cx="4617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114032" y="4005072"/>
            <a:ext cx="530352" cy="53035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924" y="4142964"/>
            <a:ext cx="254569" cy="25456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63840" y="3840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results &amp; charts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6903720" y="4846320"/>
            <a:ext cx="46177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114032" y="5010912"/>
            <a:ext cx="530352" cy="53035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924" y="5148804"/>
            <a:ext cx="254569" cy="254569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863840" y="4846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Day-by-day predictions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39" name="Image 5" descr="/home/claude/qr_co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DIAGNOSIS · FULL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stage, scored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828800" y="1783080"/>
            <a:ext cx="850392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5" name="Image 0" descr="/home/claude/nb_eda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75104" y="1929384"/>
            <a:ext cx="8211312" cy="4050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61447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Tuckman and Logan scores, ranked. An engagement-based indicator for discussion — not a validated team-development or culture diagnosis.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8" name="Image 1" descr="/home/claude/qr_co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RESPONSIVENESS · STAGE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team sits — by stage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55400" y="2210000"/>
            <a:ext cx="9881200" cy="3583923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5" name="Image 0" descr="/home/claude/nb_eda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2350000"/>
            <a:ext cx="9601200" cy="3303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5400" y="5760000"/>
            <a:ext cx="96012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OTQ maps the same engagement patterns onto two team-stage frameworks (Tuckman &amp; Logan). An indicative signal to discuss — not a validated team-development or culture diagnosis.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8" name="Image 1" descr="/home/claude/qr_co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stage read, in one 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55400" y="2360000"/>
            <a:ext cx="9881200" cy="31580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5" name="Image 0" descr="/home/claude/nb_eda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2500000"/>
            <a:ext cx="9601200" cy="287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5400" y="5560000"/>
            <a:ext cx="96012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Diagnosed stage on each track with a confidence score, plus the underlying metrics (1,250 events · 184 actors · Jun–Nov 2025). An engagement-based indicator, not a clinical assessment.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8" name="Image 1" descr="/home/claude/qr_co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remember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B3358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671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beats once a year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8346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read, not an annual survey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B3358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4884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941" y="23152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671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predicts replies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69480" y="28346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engaged teams answer faster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B3358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3726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245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honest about it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37360" y="48920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talk, not trust itself — yet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1B3358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0624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43726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245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269480" y="48920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&amp; timing only, no message content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10698480" y="274320"/>
            <a:ext cx="10972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25" name="Image 4" descr="/home/claude/qr_col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8208" y="384048"/>
            <a:ext cx="877824" cy="8778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424160" y="1399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· Request a briefing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questions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2286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57607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22457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2212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go from here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60120" y="29718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our score against a trusted trust survey</a:t>
            </a:r>
            <a:endParaRPr lang="en-US" sz="15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real company's data</a:t>
            </a:r>
            <a:endParaRPr lang="en-US" sz="15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team &amp; person their own score</a:t>
            </a:r>
            <a:endParaRPr lang="en-US" sz="15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real outcomes (deadlines, tickets)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675120" y="2377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675120" y="3291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Vernon T. Cox  ·  Srilatha Alla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Robert Citek — CNM Ingenuity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SME: Prof. R. DelCampo — UNM Anderson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104120" y="4846320"/>
            <a:ext cx="1600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2E">
                <a:alpha val="16000"/>
              </a:srgbClr>
            </a:outerShdw>
          </a:effectLst>
        </p:spPr>
      </p:sp>
      <p:pic>
        <p:nvPicPr>
          <p:cNvPr id="13" name="Image 2" descr="/home/claude/qr_co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140" y="5006340"/>
            <a:ext cx="1280160" cy="1280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92640" y="4553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request a briefing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400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Organizational Trust Quotient (OTQ)</dc:title>
  <dc:subject>PptxGenJS Presentation</dc:subject>
  <dc:creator>Vernon T. Cox</dc:creator>
  <cp:lastModifiedBy>Vernon T. Cox</cp:lastModifiedBy>
  <cp:revision>1</cp:revision>
  <dcterms:created xsi:type="dcterms:W3CDTF">2026-06-23T11:48:21Z</dcterms:created>
  <dcterms:modified xsi:type="dcterms:W3CDTF">2026-06-23T11:48:21Z</dcterms:modified>
</cp:coreProperties>
</file>