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Base EU</c:v>
                </c:pt>
              </c:strCache>
            </c:strRef>
          </c:tx>
          <c:spPr>
            <a:solidFill>
              <a:srgbClr val="028090"/>
            </a:solidFill>
            <a:effectLst/>
          </c:spPr>
          <c:invertIfNegative val="0"/>
          <c:dLbls>
            <c:numFmt formatCode="0.0" sourceLinked="0"/>
            <c:txPr>
              <a:bodyPr/>
              <a:lstStyle/>
              <a:p>
                <a:pPr>
                  <a:defRPr b="1" i="0" strike="noStrike" sz="1100" u="none">
                    <a:solidFill>
                      <a:srgbClr val="16263B"/>
                    </a:solidFill>
                    <a:latin typeface="Arial"/>
                  </a:defRPr>
                </a:pPr>
              </a:p>
            </c:txPr>
            <c:showLegendKey val="0"/>
            <c:showVal val="1"/>
            <c:showCatName val="0"/>
            <c:showSerName val="0"/>
            <c:showPercent val="0"/>
            <c:showBubbleSize val="0"/>
            <c:showLeaderLines val="0"/>
          </c:dLbls>
          <c:dPt>
            <c:idx val="0"/>
            <c:invertIfNegative val="0"/>
            <c:bubble3D val="0"/>
            <c:spPr>
              <a:solidFill>
                <a:srgbClr val="028090"/>
              </a:solidFill>
              <a:effectLst/>
            </c:spPr>
          </c:dPt>
          <c:dPt>
            <c:idx val="1"/>
            <c:invertIfNegative val="0"/>
            <c:bubble3D val="0"/>
            <c:spPr>
              <a:solidFill>
                <a:srgbClr val="00A896"/>
              </a:solidFill>
              <a:effectLst/>
            </c:spPr>
          </c:dPt>
          <c:dPt>
            <c:idx val="2"/>
            <c:invertIfNegative val="0"/>
            <c:bubble3D val="0"/>
            <c:spPr>
              <a:solidFill>
                <a:srgbClr val="00A896"/>
              </a:solidFill>
              <a:effectLst/>
            </c:spPr>
          </c:dPt>
          <c:dPt>
            <c:idx val="3"/>
            <c:invertIfNegative val="0"/>
            <c:bubble3D val="0"/>
            <c:spPr>
              <a:solidFill>
                <a:srgbClr val="02C39A"/>
              </a:solidFill>
              <a:effectLst/>
            </c:spPr>
          </c:dPt>
          <c:dPt>
            <c:idx val="4"/>
            <c:invertIfNegative val="0"/>
            <c:bubble3D val="0"/>
            <c:spPr>
              <a:solidFill>
                <a:srgbClr val="9DC9CE"/>
              </a:solidFill>
              <a:effectLst/>
            </c:spPr>
          </c:dPt>
          <c:cat>
            <c:multiLvlStrRef>
              <c:f>Sheet1!$A$2:$A$6</c:f>
              <c:multiLvlStrCache>
                <c:ptCount val="5"/>
                <c:lvl>
                  <c:pt idx="0">
                    <c:v>Meeting</c:v>
                  </c:pt>
                  <c:pt idx="1">
                    <c:v>Chat</c:v>
                  </c:pt>
                  <c:pt idx="2">
                    <c:v>Call</c:v>
                  </c:pt>
                  <c:pt idx="3">
                    <c:v>Email</c:v>
                  </c:pt>
                  <c:pt idx="4">
                    <c:v>Other</c:v>
                  </c:pt>
                </c:lvl>
              </c:multiLvlStrCache>
            </c:multiLvlStrRef>
          </c:cat>
          <c:val>
            <c:numRef>
              <c:f>Sheet1!$B$2:$B$6</c:f>
              <c:numCache>
                <c:formatCode>General</c:formatCode>
                <c:ptCount val="5"/>
                <c:pt idx="0">
                  <c:v>24.5</c:v>
                </c:pt>
                <c:pt idx="1">
                  <c:v>9.5</c:v>
                </c:pt>
                <c:pt idx="2">
                  <c:v>8.5</c:v>
                </c:pt>
                <c:pt idx="3">
                  <c:v>6</c:v>
                </c:pt>
                <c:pt idx="4">
                  <c:v>5</c:v>
                </c:pt>
              </c:numCache>
            </c:numRef>
          </c:val>
        </c:ser>
        <c:dLbls>
          <c:numFmt formatCode="0.0" sourceLinked="0"/>
          <c:txPr>
            <a:bodyPr/>
            <a:lstStyle/>
            <a:p>
              <a:pPr>
                <a:defRPr b="1" i="0" strike="noStrike" sz="1100" u="none">
                  <a:solidFill>
                    <a:srgbClr val="1626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6B7A"/>
                </a:solidFill>
                <a:latin typeface="Arial"/>
              </a:defRPr>
            </a:pPr>
            <a:endParaRPr lang="en-US"/>
          </a:p>
        </c:txPr>
        <c:crossAx val="2094734552"/>
        <c:crosses val="autoZero"/>
        <c:auto val="1"/>
        <c:lblAlgn val="ctr"/>
        <c:noMultiLvlLbl val="1"/>
      </c:catAx>
      <c:valAx>
        <c:axId val="2094734552"/>
        <c:scaling>
          <c:orientation val="minMax"/>
          <c:max val="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EAF2F6"/>
        </a:solidFill>
        <a:ln>
          <a:noFill/>
        </a:ln>
        <a:effectLst/>
      </c:spPr>
    </c:plotArea>
    <c:plotVisOnly val="1"/>
    <c:dispBlanksAs val="span"/>
  </c:chart>
  <c:spPr>
    <a:solidFill>
      <a:srgbClr val="EAF2F6"/>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Actual</c:v>
                </c:pt>
              </c:strCache>
            </c:strRef>
          </c:tx>
          <c:spPr>
            <a:solidFill>
              <a:srgbClr val="028090"/>
            </a:solidFill>
            <a:ln w="31750" cap="flat">
              <a:solidFill>
                <a:srgbClr val="02809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28090"/>
              </a:solidFill>
              <a:ln w="9525" cap="flat">
                <a:solidFill>
                  <a:srgbClr val="028090"/>
                </a:solidFill>
                <a:prstDash val="solid"/>
                <a:round/>
              </a:ln>
              <a:effectLst/>
            </c:spPr>
          </c:marker>
          <c:cat>
            <c:multiLvlStrRef>
              <c:f>Sheet1!$A$2:$A$11</c:f>
              <c:multiLvlStrCache>
                <c:ptCount val="10"/>
                <c:lvl>
                  <c:pt idx="0">
                    <c:v>D1</c:v>
                  </c:pt>
                  <c:pt idx="1">
                    <c:v>D2</c:v>
                  </c:pt>
                  <c:pt idx="2">
                    <c:v>D3</c:v>
                  </c:pt>
                  <c:pt idx="3">
                    <c:v>D4</c:v>
                  </c:pt>
                  <c:pt idx="4">
                    <c:v>D5</c:v>
                  </c:pt>
                  <c:pt idx="5">
                    <c:v>D6</c:v>
                  </c:pt>
                  <c:pt idx="6">
                    <c:v>D7</c:v>
                  </c:pt>
                  <c:pt idx="7">
                    <c:v>D8</c:v>
                  </c:pt>
                  <c:pt idx="8">
                    <c:v>D9</c:v>
                  </c:pt>
                  <c:pt idx="9">
                    <c:v>D10</c:v>
                  </c:pt>
                </c:lvl>
              </c:multiLvlStrCache>
            </c:multiLvlStrRef>
          </c:cat>
          <c:val>
            <c:numRef>
              <c:f>Sheet1!$B$2:$B$11</c:f>
              <c:numCache>
                <c:formatCode>General</c:formatCode>
                <c:ptCount val="10"/>
                <c:pt idx="0">
                  <c:v>42</c:v>
                </c:pt>
                <c:pt idx="1">
                  <c:v>38</c:v>
                </c:pt>
                <c:pt idx="2">
                  <c:v>47</c:v>
                </c:pt>
                <c:pt idx="3">
                  <c:v>35</c:v>
                </c:pt>
                <c:pt idx="4">
                  <c:v>31</c:v>
                </c:pt>
                <c:pt idx="5">
                  <c:v>36</c:v>
                </c:pt>
                <c:pt idx="6">
                  <c:v>29</c:v>
                </c:pt>
                <c:pt idx="7">
                  <c:v>33</c:v>
                </c:pt>
                <c:pt idx="8">
                  <c:v>27</c:v>
                </c:pt>
                <c:pt idx="9">
                  <c:v>30</c:v>
                </c:pt>
              </c:numCache>
            </c:numRef>
          </c:val>
          <c:smooth val="1"/>
        </c:ser>
        <c:ser>
          <c:idx val="1"/>
          <c:order val="1"/>
          <c:tx>
            <c:strRef>
              <c:f>Sheet1!$C$1</c:f>
              <c:strCache>
                <c:ptCount val="1"/>
                <c:pt idx="0">
                  <c:v>Predicted</c:v>
                </c:pt>
              </c:strCache>
            </c:strRef>
          </c:tx>
          <c:spPr>
            <a:solidFill>
              <a:srgbClr val="02C39A"/>
            </a:solidFill>
            <a:ln w="31750" cap="flat">
              <a:solidFill>
                <a:srgbClr val="02C39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2C39A"/>
              </a:solidFill>
              <a:ln w="9525" cap="flat">
                <a:solidFill>
                  <a:srgbClr val="02C39A"/>
                </a:solidFill>
                <a:prstDash val="solid"/>
                <a:round/>
              </a:ln>
              <a:effectLst/>
            </c:spPr>
          </c:marker>
          <c:cat>
            <c:multiLvlStrRef>
              <c:f>Sheet1!$A$2:$A$11</c:f>
              <c:multiLvlStrCache>
                <c:ptCount val="10"/>
                <c:lvl>
                  <c:pt idx="0">
                    <c:v>D1</c:v>
                  </c:pt>
                  <c:pt idx="1">
                    <c:v>D2</c:v>
                  </c:pt>
                  <c:pt idx="2">
                    <c:v>D3</c:v>
                  </c:pt>
                  <c:pt idx="3">
                    <c:v>D4</c:v>
                  </c:pt>
                  <c:pt idx="4">
                    <c:v>D5</c:v>
                  </c:pt>
                  <c:pt idx="5">
                    <c:v>D6</c:v>
                  </c:pt>
                  <c:pt idx="6">
                    <c:v>D7</c:v>
                  </c:pt>
                  <c:pt idx="7">
                    <c:v>D8</c:v>
                  </c:pt>
                  <c:pt idx="8">
                    <c:v>D9</c:v>
                  </c:pt>
                  <c:pt idx="9">
                    <c:v>D10</c:v>
                  </c:pt>
                </c:lvl>
              </c:multiLvlStrCache>
            </c:multiLvlStrRef>
          </c:cat>
          <c:val>
            <c:numRef>
              <c:f>Sheet1!$C$2:$C$11</c:f>
              <c:numCache>
                <c:formatCode>General</c:formatCode>
                <c:ptCount val="10"/>
                <c:pt idx="0">
                  <c:v>40</c:v>
                </c:pt>
                <c:pt idx="1">
                  <c:v>40</c:v>
                </c:pt>
                <c:pt idx="2">
                  <c:v>44</c:v>
                </c:pt>
                <c:pt idx="3">
                  <c:v>37</c:v>
                </c:pt>
                <c:pt idx="4">
                  <c:v>33</c:v>
                </c:pt>
                <c:pt idx="5">
                  <c:v>34</c:v>
                </c:pt>
                <c:pt idx="6">
                  <c:v>31</c:v>
                </c:pt>
                <c:pt idx="7">
                  <c:v>31</c:v>
                </c:pt>
                <c:pt idx="8">
                  <c:v>29</c:v>
                </c:pt>
                <c:pt idx="9">
                  <c:v>29</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6B7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6E2EA"/>
              </a:solidFill>
              <a:prstDash val="solid"/>
              <a:round/>
            </a:ln>
          </c:spPr>
        </c:majorGridlines>
        <c:title>
          <c:tx>
            <c:rich>
              <a:bodyPr/>
              <a:lstStyle/>
              <a:p>
                <a:pPr>
                  <a:defRPr sz="1000" b="0" i="0" u="none" strike="noStrike">
                    <a:solidFill>
                      <a:srgbClr val="5C6B7A"/>
                    </a:solidFill>
                    <a:latin typeface="Arial"/>
                  </a:defRPr>
                </a:pPr>
                <a:r>
                  <a:rPr sz="1000" b="0" i="0" u="none" strike="noStrike">
                    <a:solidFill>
                      <a:srgbClr val="5C6B7A"/>
                    </a:solidFill>
                    <a:latin typeface="Arial"/>
                  </a:rPr>
                  <a:t>minutes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B7A"/>
                </a:solidFill>
                <a:latin typeface="Arial"/>
              </a:defRPr>
            </a:pPr>
            <a:endParaRPr lang="en-US"/>
          </a:p>
        </c:txPr>
        <c:crossAx val="2094734554"/>
        <c:crosses val="autoZero"/>
        <c:crossBetween val="between"/>
      </c:valAx>
      <c:spPr>
        <a:solidFill>
          <a:srgbClr val="EAF2F6"/>
        </a:solidFill>
        <a:ln>
          <a:noFill/>
        </a:ln>
        <a:effectLst/>
      </c:spPr>
    </c:plotArea>
    <c:legend>
      <c:legendPos val="b"/>
      <c:overlay val="0"/>
      <c:txPr>
        <a:bodyPr/>
        <a:lstStyle/>
        <a:p>
          <a:pPr>
            <a:defRPr sz="1100">
              <a:solidFill>
                <a:srgbClr val="5C6B7A"/>
              </a:solidFill>
            </a:defRPr>
          </a:pPr>
          <a:endParaRPr lang="en-US"/>
        </a:p>
      </c:txPr>
    </c:legend>
    <c:plotVisOnly val="1"/>
    <c:dispBlanksAs val="span"/>
  </c:chart>
  <c:spPr>
    <a:solidFill>
      <a:srgbClr val="EAF2F6"/>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OTQ measures communication engagement and predicts organizational responsiveness; trust is the upstream construct we theorize, not something we claim to measure directly. Set that honest framing from slide one. Team: Vernon T. Cox and Srilatha Alla. CNM Ingenuity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pain: trust is operationally decisive but invisible between surveys. Surveys are slow, biased, disruptive. The right column sets up the opportunity — daily signal already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idea. Three existing sources, all metadata. Emphasize: no message content needed, no surveys, no disruption. The bottom bar states the central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intellectual honesty slide and it came directly out of SME review. We measure engagement, we predict responsiveness, we theorize trust. Don't overclaim. The DelCampo quote sets up the construct-validity slide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invent the trust theory — we operationalize it. Mayer et al. for the definition and three pillars; Edmondson for the validated instrument we'll correlate against; Dirks &amp; Ferrin for the trust-to-performance link. Footer lists the measurement-validity literature.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once. Six stages. Emphasize it's a single reproducible pipeline — keyword routing means you just drop in the CSVs and it runs. Outcome stage in mint to flag it's what we predict.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scoring heart. Three additive parts. Meetings carry the most weight per event, chat and calls mid, email lowest. Duration bonus is capped at +2 so length can't run away. Participant reach is log-scaled — diminishing returns. Stress transparency: every number is inspectable.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five daily features, log-transformed where skewed. Right: the outcome is median response time per channel, capped at 12 hours so overnight gaps don't pollute it. The hypothesis is the directional claim the model will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halves. Left: why Ridge — the features are collinear, OLS would give unstable coefficients, Ridge's L2 penalty fixes that. Right: we didn't just fit one model; v10 adds CV baseline, alpha sweep, model-family comparison, GridSearchCV, a held-out test set, and permutation importance. This is the reliability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piece since last version. Flask front end. Left is a mock of the UI: upload zone, headline metric chips, plot strip. Right lists what happens: auto-detect by filename, server-side pipeline, returns R-squared, MAE, ranked coefficients, three charts, and a recent-predictions table. Point: a non-technical user can now run OTQ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 say the word out loud. The line chart shows predicted tracking actual on synthetic data. The key qualitative finding: the total-EU coefficient is negative, i.e. more engagement, faster responses, exactly as hypothesized. Flag honestly that magnitudes will change on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slide for credibility. Be direct: predicting responsiveness is not the same as measuring trust. The plan is a convergent-validity study against Edmondson's validated scale, pre-registered. The scaffold is already coded and refuses to fabricate evidence. We also flag common-method variance as the known threat. This is what turns the trademark into a defensible construct.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Ethics is core, not bolted on. Four commitments: metadata only — no message content; team-day aggregates, not individuals; never a performance or discipline input; non-invasive so no observer effect. This is what makes passive measurement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as four steps. Step 1 is done — pipeline plus dashboard. Step 2 is the priority: convergent validation against Edmondson, which earns the trust label. Step 3: real exports and real KPIs. Step 4: finer levels of analysis. Make clear we know exactly what the next milestone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through-line: measure the communication stream, earn the word trust through validation. Acknowledge Srilatha as co-researcher and Prof. DelCampo as SME.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243F"/>
        </a:solidFill>
      </p:bgPr>
    </p:bg>
    <p:spTree>
      <p:nvGrpSpPr>
        <p:cNvPr id="1" name=""/>
        <p:cNvGrpSpPr/>
        <p:nvPr/>
      </p:nvGrpSpPr>
      <p:grpSpPr>
        <a:xfrm>
          <a:off x="0" y="0"/>
          <a:ext cx="0" cy="0"/>
          <a:chOff x="0" y="0"/>
          <a:chExt cx="0" cy="0"/>
        </a:xfrm>
      </p:grpSpPr>
      <p:sp>
        <p:nvSpPr>
          <p:cNvPr id="2" name="Shape 0"/>
          <p:cNvSpPr/>
          <p:nvPr/>
        </p:nvSpPr>
        <p:spPr>
          <a:xfrm>
            <a:off x="8778240" y="-1554480"/>
            <a:ext cx="4937760" cy="4937760"/>
          </a:xfrm>
          <a:prstGeom prst="ellipse">
            <a:avLst/>
          </a:prstGeom>
          <a:solidFill>
            <a:srgbClr val="1B3358"/>
          </a:solidFill>
          <a:ln/>
        </p:spPr>
      </p:sp>
      <p:sp>
        <p:nvSpPr>
          <p:cNvPr id="3" name="Shape 1"/>
          <p:cNvSpPr/>
          <p:nvPr/>
        </p:nvSpPr>
        <p:spPr>
          <a:xfrm>
            <a:off x="9601200" y="-731520"/>
            <a:ext cx="3291840" cy="3291840"/>
          </a:xfrm>
          <a:prstGeom prst="ellipse">
            <a:avLst/>
          </a:prstGeom>
          <a:solidFill>
            <a:srgbClr val="028090">
              <a:alpha val="45000"/>
            </a:srgbClr>
          </a:solidFill>
          <a:ln/>
        </p:spPr>
      </p:sp>
      <p:sp>
        <p:nvSpPr>
          <p:cNvPr id="4" name="Shape 2"/>
          <p:cNvSpPr/>
          <p:nvPr/>
        </p:nvSpPr>
        <p:spPr>
          <a:xfrm>
            <a:off x="10287000" y="-45720"/>
            <a:ext cx="1920240" cy="1920240"/>
          </a:xfrm>
          <a:prstGeom prst="ellipse">
            <a:avLst/>
          </a:prstGeom>
          <a:solidFill>
            <a:srgbClr val="02C39A">
              <a:alpha val="75000"/>
            </a:srgbClr>
          </a:solidFill>
          <a:ln/>
        </p:spPr>
      </p:sp>
      <p:sp>
        <p:nvSpPr>
          <p:cNvPr id="5" name="Text 3"/>
          <p:cNvSpPr/>
          <p:nvPr/>
        </p:nvSpPr>
        <p:spPr>
          <a:xfrm>
            <a:off x="822960" y="1417320"/>
            <a:ext cx="9144000" cy="365760"/>
          </a:xfrm>
          <a:prstGeom prst="rect">
            <a:avLst/>
          </a:prstGeom>
          <a:noFill/>
          <a:ln/>
        </p:spPr>
        <p:txBody>
          <a:bodyPr wrap="square" lIns="0" tIns="0" rIns="0" bIns="0" rtlCol="0" anchor="ctr"/>
          <a:lstStyle/>
          <a:p>
            <a:pPr indent="0" marL="0">
              <a:buNone/>
            </a:pPr>
            <a:r>
              <a:rPr lang="en-US" sz="1500" b="1" spc="400" kern="0" dirty="0">
                <a:solidFill>
                  <a:srgbClr val="00A896"/>
                </a:solidFill>
                <a:latin typeface="Arial" pitchFamily="34" charset="0"/>
                <a:ea typeface="Arial" pitchFamily="34" charset="-122"/>
                <a:cs typeface="Arial" pitchFamily="34" charset="-120"/>
              </a:rPr>
              <a:t>ORGANIZATIONAL TRUST QUOTIENT</a:t>
            </a:r>
            <a:endParaRPr lang="en-US" sz="1500" dirty="0"/>
          </a:p>
        </p:txBody>
      </p:sp>
      <p:sp>
        <p:nvSpPr>
          <p:cNvPr id="6" name="Text 4"/>
          <p:cNvSpPr/>
          <p:nvPr/>
        </p:nvSpPr>
        <p:spPr>
          <a:xfrm>
            <a:off x="822960" y="2103120"/>
            <a:ext cx="9601200" cy="1737360"/>
          </a:xfrm>
          <a:prstGeom prst="rect">
            <a:avLst/>
          </a:prstGeom>
          <a:noFill/>
          <a:ln/>
        </p:spPr>
        <p:txBody>
          <a:bodyPr wrap="square" lIns="0" tIns="0" rIns="0" bIns="0" rtlCol="0" anchor="ctr"/>
          <a:lstStyle/>
          <a:p>
            <a:pPr indent="0" marL="0">
              <a:lnSpc>
                <a:spcPct val="100000"/>
              </a:lnSpc>
              <a:buNone/>
            </a:pPr>
            <a:r>
              <a:rPr lang="en-US" sz="3800" b="1" dirty="0">
                <a:solidFill>
                  <a:srgbClr val="FFFFFF"/>
                </a:solidFill>
                <a:latin typeface="Georgia" pitchFamily="34" charset="0"/>
                <a:ea typeface="Georgia" pitchFamily="34" charset="-122"/>
                <a:cs typeface="Georgia" pitchFamily="34" charset="-120"/>
              </a:rPr>
              <a:t>Reading team health from the
</a:t>
            </a:r>
            <a:endParaRPr lang="en-US" sz="3800" dirty="0"/>
          </a:p>
          <a:p>
            <a:pPr indent="0" marL="0">
              <a:lnSpc>
                <a:spcPct val="100000"/>
              </a:lnSpc>
              <a:buNone/>
            </a:pPr>
            <a:r>
              <a:rPr lang="en-US" sz="3800" b="1" dirty="0">
                <a:solidFill>
                  <a:srgbClr val="FFFFFF"/>
                </a:solidFill>
                <a:latin typeface="Georgia" pitchFamily="34" charset="0"/>
                <a:ea typeface="Georgia" pitchFamily="34" charset="-122"/>
                <a:cs typeface="Georgia" pitchFamily="34" charset="-120"/>
              </a:rPr>
              <a:t>signals work already leaves behind</a:t>
            </a:r>
            <a:endParaRPr lang="en-US" sz="3800" dirty="0"/>
          </a:p>
        </p:txBody>
      </p:sp>
      <p:sp>
        <p:nvSpPr>
          <p:cNvPr id="7" name="Text 5"/>
          <p:cNvSpPr/>
          <p:nvPr/>
        </p:nvSpPr>
        <p:spPr>
          <a:xfrm>
            <a:off x="822960" y="3886200"/>
            <a:ext cx="8869680" cy="822960"/>
          </a:xfrm>
          <a:prstGeom prst="rect">
            <a:avLst/>
          </a:prstGeom>
          <a:noFill/>
          <a:ln/>
        </p:spPr>
        <p:txBody>
          <a:bodyPr wrap="square" lIns="0" tIns="0" rIns="0" bIns="0" rtlCol="0" anchor="ctr"/>
          <a:lstStyle/>
          <a:p>
            <a:pPr indent="0" marL="0">
              <a:buNone/>
            </a:pPr>
            <a:r>
              <a:rPr lang="en-US" sz="1500" dirty="0">
                <a:solidFill>
                  <a:srgbClr val="C7D6E5"/>
                </a:solidFill>
                <a:latin typeface="Arial" pitchFamily="34" charset="0"/>
                <a:ea typeface="Arial" pitchFamily="34" charset="-122"/>
                <a:cs typeface="Arial" pitchFamily="34" charset="-120"/>
              </a:rPr>
              <a:t>A passive measure of communication engagement and organizational responsiveness — built from Slack, Teams, and Outlook metadata, with trust as the theorized construct.</a:t>
            </a:r>
            <a:endParaRPr lang="en-US" sz="1500" dirty="0"/>
          </a:p>
        </p:txBody>
      </p:sp>
      <p:sp>
        <p:nvSpPr>
          <p:cNvPr id="8" name="Shape 6"/>
          <p:cNvSpPr/>
          <p:nvPr/>
        </p:nvSpPr>
        <p:spPr>
          <a:xfrm>
            <a:off x="841248" y="5029200"/>
            <a:ext cx="3840480" cy="0"/>
          </a:xfrm>
          <a:prstGeom prst="line">
            <a:avLst/>
          </a:prstGeom>
          <a:noFill/>
          <a:ln w="19050">
            <a:solidFill>
              <a:srgbClr val="028090"/>
            </a:solidFill>
            <a:prstDash val="solid"/>
          </a:ln>
        </p:spPr>
      </p:sp>
      <p:sp>
        <p:nvSpPr>
          <p:cNvPr id="9" name="Text 7"/>
          <p:cNvSpPr/>
          <p:nvPr/>
        </p:nvSpPr>
        <p:spPr>
          <a:xfrm>
            <a:off x="822960" y="5212080"/>
            <a:ext cx="8229600" cy="82296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Vernon T. Cox  ·  Srilatha Alla</a:t>
            </a:r>
            <a:endParaRPr lang="en-US" sz="1500" dirty="0"/>
          </a:p>
          <a:p>
            <a:pPr indent="0" marL="0">
              <a:buNone/>
            </a:pPr>
            <a:r>
              <a:rPr lang="en-US" sz="1200" dirty="0">
                <a:solidFill>
                  <a:srgbClr val="9DB2C7"/>
                </a:solidFill>
                <a:latin typeface="Arial" pitchFamily="34" charset="0"/>
                <a:ea typeface="Arial" pitchFamily="34" charset="-122"/>
                <a:cs typeface="Arial" pitchFamily="34" charset="-120"/>
              </a:rPr>
              <a:t>CNM Ingenuity — Data Science Bootcamp Capstone</a:t>
            </a:r>
            <a:endParaRPr lang="en-US" sz="1500" dirty="0"/>
          </a:p>
        </p:txBody>
      </p:sp>
      <p:sp>
        <p:nvSpPr>
          <p:cNvPr id="10" name="Text 8"/>
          <p:cNvSpPr/>
          <p:nvPr/>
        </p:nvSpPr>
        <p:spPr>
          <a:xfrm>
            <a:off x="10332720" y="6217920"/>
            <a:ext cx="1280160" cy="365760"/>
          </a:xfrm>
          <a:prstGeom prst="rect">
            <a:avLst/>
          </a:prstGeom>
          <a:noFill/>
          <a:ln/>
        </p:spPr>
        <p:txBody>
          <a:bodyPr wrap="square" lIns="0" tIns="0" rIns="0" bIns="0" rtlCol="0" anchor="ctr"/>
          <a:lstStyle/>
          <a:p>
            <a:pPr algn="r" indent="0" marL="0">
              <a:buNone/>
            </a:pPr>
            <a:r>
              <a:rPr lang="en-US" sz="1400" b="1" dirty="0">
                <a:solidFill>
                  <a:srgbClr val="00A896"/>
                </a:solidFill>
                <a:latin typeface="Georgia" pitchFamily="34" charset="0"/>
                <a:ea typeface="Georgia" pitchFamily="34" charset="-122"/>
                <a:cs typeface="Georgia" pitchFamily="34" charset="-120"/>
              </a:rPr>
              <a:t>OTQ®</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PROBLEM</a:t>
            </a:r>
            <a:endParaRPr lang="en-US" sz="1200" dirty="0"/>
          </a:p>
        </p:txBody>
      </p:sp>
      <p:sp>
        <p:nvSpPr>
          <p:cNvPr id="3" name="Text 1"/>
          <p:cNvSpPr/>
          <p:nvPr/>
        </p:nvSpPr>
        <p:spPr>
          <a:xfrm>
            <a:off x="640080" y="777240"/>
            <a:ext cx="10972800" cy="822960"/>
          </a:xfrm>
          <a:prstGeom prst="rect">
            <a:avLst/>
          </a:prstGeom>
          <a:noFill/>
          <a:ln/>
        </p:spPr>
        <p:txBody>
          <a:bodyPr wrap="square" lIns="0" tIns="0" rIns="0" bIns="0" rtlCol="0" anchor="ctr"/>
          <a:lstStyle/>
          <a:p>
            <a:pPr algn="l" indent="0" marL="0">
              <a:buNone/>
            </a:pPr>
            <a:r>
              <a:rPr lang="en-US" sz="3200" b="1" dirty="0">
                <a:solidFill>
                  <a:srgbClr val="16263B"/>
                </a:solidFill>
                <a:latin typeface="Georgia" pitchFamily="34" charset="0"/>
                <a:ea typeface="Georgia" pitchFamily="34" charset="-122"/>
                <a:cs typeface="Georgia" pitchFamily="34" charset="-120"/>
              </a:rPr>
              <a:t>Trust is the thing teams run on — and the thing they can't see</a:t>
            </a:r>
            <a:endParaRPr lang="en-US" sz="3200" dirty="0"/>
          </a:p>
        </p:txBody>
      </p:sp>
      <p:sp>
        <p:nvSpPr>
          <p:cNvPr id="4" name="Text 2"/>
          <p:cNvSpPr/>
          <p:nvPr/>
        </p:nvSpPr>
        <p:spPr>
          <a:xfrm>
            <a:off x="640080" y="1600200"/>
            <a:ext cx="6400800" cy="914400"/>
          </a:xfrm>
          <a:prstGeom prst="rect">
            <a:avLst/>
          </a:prstGeom>
          <a:noFill/>
          <a:ln/>
        </p:spPr>
        <p:txBody>
          <a:bodyPr wrap="square" lIns="0" tIns="0" rIns="0" bIns="0" rtlCol="0" anchor="ctr"/>
          <a:lstStyle/>
          <a:p>
            <a:pPr indent="0" marL="0">
              <a:buNone/>
            </a:pPr>
            <a:r>
              <a:rPr lang="en-US" sz="1500" dirty="0">
                <a:solidFill>
                  <a:srgbClr val="16263B"/>
                </a:solidFill>
                <a:latin typeface="Arial" pitchFamily="34" charset="0"/>
                <a:ea typeface="Arial" pitchFamily="34" charset="-122"/>
                <a:cs typeface="Arial" pitchFamily="34" charset="-120"/>
              </a:rPr>
              <a:t>Trust drives whether people escalate a problem early, share a rough idea, or accept a colleague's word without re-checking. Yet the standard way to measure it is the annual survey.</a:t>
            </a:r>
            <a:endParaRPr lang="en-US" sz="1500" dirty="0"/>
          </a:p>
        </p:txBody>
      </p:sp>
      <p:sp>
        <p:nvSpPr>
          <p:cNvPr id="5" name="Shape 3"/>
          <p:cNvSpPr/>
          <p:nvPr/>
        </p:nvSpPr>
        <p:spPr>
          <a:xfrm>
            <a:off x="640080" y="2697480"/>
            <a:ext cx="6400800" cy="960120"/>
          </a:xfrm>
          <a:prstGeom prst="roundRect">
            <a:avLst>
              <a:gd name="adj" fmla="val 857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6" name="Shape 4"/>
          <p:cNvSpPr/>
          <p:nvPr/>
        </p:nvSpPr>
        <p:spPr>
          <a:xfrm>
            <a:off x="841248" y="2912364"/>
            <a:ext cx="530352" cy="530352"/>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7" name="Image 0" descr="preencoded.png">    </p:cNvPr>
          <p:cNvPicPr>
            <a:picLocks noChangeAspect="1"/>
          </p:cNvPicPr>
          <p:nvPr/>
        </p:nvPicPr>
        <p:blipFill>
          <a:blip r:embed="rId1"/>
          <a:stretch>
            <a:fillRect/>
          </a:stretch>
        </p:blipFill>
        <p:spPr>
          <a:xfrm>
            <a:off x="979140" y="3050256"/>
            <a:ext cx="254569" cy="254569"/>
          </a:xfrm>
          <a:prstGeom prst="rect">
            <a:avLst/>
          </a:prstGeom>
        </p:spPr>
      </p:pic>
      <p:sp>
        <p:nvSpPr>
          <p:cNvPr id="8" name="Text 5"/>
          <p:cNvSpPr/>
          <p:nvPr/>
        </p:nvSpPr>
        <p:spPr>
          <a:xfrm>
            <a:off x="1600200" y="2852928"/>
            <a:ext cx="5212080" cy="320040"/>
          </a:xfrm>
          <a:prstGeom prst="rect">
            <a:avLst/>
          </a:prstGeom>
          <a:noFill/>
          <a:ln/>
        </p:spPr>
        <p:txBody>
          <a:bodyPr wrap="square" lIns="0" tIns="0" rIns="0" bIns="0" rtlCol="0" anchor="ctr"/>
          <a:lstStyle/>
          <a:p>
            <a:pPr indent="0" marL="0">
              <a:buNone/>
            </a:pPr>
            <a:r>
              <a:rPr lang="en-US" sz="1600" b="1" dirty="0">
                <a:solidFill>
                  <a:srgbClr val="16263B"/>
                </a:solidFill>
                <a:latin typeface="Arial" pitchFamily="34" charset="0"/>
                <a:ea typeface="Arial" pitchFamily="34" charset="-122"/>
                <a:cs typeface="Arial" pitchFamily="34" charset="-120"/>
              </a:rPr>
              <a:t>Slow &amp; periodic</a:t>
            </a:r>
            <a:endParaRPr lang="en-US" sz="1600" dirty="0"/>
          </a:p>
        </p:txBody>
      </p:sp>
      <p:sp>
        <p:nvSpPr>
          <p:cNvPr id="9" name="Text 6"/>
          <p:cNvSpPr/>
          <p:nvPr/>
        </p:nvSpPr>
        <p:spPr>
          <a:xfrm>
            <a:off x="1600200" y="3172968"/>
            <a:ext cx="5257800" cy="411480"/>
          </a:xfrm>
          <a:prstGeom prst="rect">
            <a:avLst/>
          </a:prstGeom>
          <a:noFill/>
          <a:ln/>
        </p:spPr>
        <p:txBody>
          <a:bodyPr wrap="square" lIns="0" tIns="0" rIns="0" bIns="0" rtlCol="0" anchor="ctr"/>
          <a:lstStyle/>
          <a:p>
            <a:pPr indent="0" marL="0">
              <a:buNone/>
            </a:pPr>
            <a:r>
              <a:rPr lang="en-US" sz="1250" dirty="0">
                <a:solidFill>
                  <a:srgbClr val="5C6B7A"/>
                </a:solidFill>
                <a:latin typeface="Arial" pitchFamily="34" charset="0"/>
                <a:ea typeface="Arial" pitchFamily="34" charset="-122"/>
                <a:cs typeface="Arial" pitchFamily="34" charset="-120"/>
              </a:rPr>
              <a:t>A once-a-year snapshot can't catch a team sliding in week 6.</a:t>
            </a:r>
            <a:endParaRPr lang="en-US" sz="1250" dirty="0"/>
          </a:p>
        </p:txBody>
      </p:sp>
      <p:sp>
        <p:nvSpPr>
          <p:cNvPr id="10" name="Shape 7"/>
          <p:cNvSpPr/>
          <p:nvPr/>
        </p:nvSpPr>
        <p:spPr>
          <a:xfrm>
            <a:off x="640080" y="3794760"/>
            <a:ext cx="6400800" cy="960120"/>
          </a:xfrm>
          <a:prstGeom prst="roundRect">
            <a:avLst>
              <a:gd name="adj" fmla="val 857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1" name="Shape 8"/>
          <p:cNvSpPr/>
          <p:nvPr/>
        </p:nvSpPr>
        <p:spPr>
          <a:xfrm>
            <a:off x="841248" y="4009644"/>
            <a:ext cx="530352" cy="530352"/>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2" name="Image 1" descr="preencoded.png">    </p:cNvPr>
          <p:cNvPicPr>
            <a:picLocks noChangeAspect="1"/>
          </p:cNvPicPr>
          <p:nvPr/>
        </p:nvPicPr>
        <p:blipFill>
          <a:blip r:embed="rId2"/>
          <a:stretch>
            <a:fillRect/>
          </a:stretch>
        </p:blipFill>
        <p:spPr>
          <a:xfrm>
            <a:off x="979140" y="4147536"/>
            <a:ext cx="254569" cy="254569"/>
          </a:xfrm>
          <a:prstGeom prst="rect">
            <a:avLst/>
          </a:prstGeom>
        </p:spPr>
      </p:pic>
      <p:sp>
        <p:nvSpPr>
          <p:cNvPr id="13" name="Text 9"/>
          <p:cNvSpPr/>
          <p:nvPr/>
        </p:nvSpPr>
        <p:spPr>
          <a:xfrm>
            <a:off x="1600200" y="3950208"/>
            <a:ext cx="5212080" cy="320040"/>
          </a:xfrm>
          <a:prstGeom prst="rect">
            <a:avLst/>
          </a:prstGeom>
          <a:noFill/>
          <a:ln/>
        </p:spPr>
        <p:txBody>
          <a:bodyPr wrap="square" lIns="0" tIns="0" rIns="0" bIns="0" rtlCol="0" anchor="ctr"/>
          <a:lstStyle/>
          <a:p>
            <a:pPr indent="0" marL="0">
              <a:buNone/>
            </a:pPr>
            <a:r>
              <a:rPr lang="en-US" sz="1600" b="1" dirty="0">
                <a:solidFill>
                  <a:srgbClr val="16263B"/>
                </a:solidFill>
                <a:latin typeface="Arial" pitchFamily="34" charset="0"/>
                <a:ea typeface="Arial" pitchFamily="34" charset="-122"/>
                <a:cs typeface="Arial" pitchFamily="34" charset="-120"/>
              </a:rPr>
              <a:t>Self-reported &amp; biased</a:t>
            </a:r>
            <a:endParaRPr lang="en-US" sz="1600" dirty="0"/>
          </a:p>
        </p:txBody>
      </p:sp>
      <p:sp>
        <p:nvSpPr>
          <p:cNvPr id="14" name="Text 10"/>
          <p:cNvSpPr/>
          <p:nvPr/>
        </p:nvSpPr>
        <p:spPr>
          <a:xfrm>
            <a:off x="1600200" y="4270248"/>
            <a:ext cx="5257800" cy="411480"/>
          </a:xfrm>
          <a:prstGeom prst="rect">
            <a:avLst/>
          </a:prstGeom>
          <a:noFill/>
          <a:ln/>
        </p:spPr>
        <p:txBody>
          <a:bodyPr wrap="square" lIns="0" tIns="0" rIns="0" bIns="0" rtlCol="0" anchor="ctr"/>
          <a:lstStyle/>
          <a:p>
            <a:pPr indent="0" marL="0">
              <a:buNone/>
            </a:pPr>
            <a:r>
              <a:rPr lang="en-US" sz="1250" dirty="0">
                <a:solidFill>
                  <a:srgbClr val="5C6B7A"/>
                </a:solidFill>
                <a:latin typeface="Arial" pitchFamily="34" charset="0"/>
                <a:ea typeface="Arial" pitchFamily="34" charset="-122"/>
                <a:cs typeface="Arial" pitchFamily="34" charset="-120"/>
              </a:rPr>
              <a:t>People answer how they think they should, not how things are.</a:t>
            </a:r>
            <a:endParaRPr lang="en-US" sz="1250" dirty="0"/>
          </a:p>
        </p:txBody>
      </p:sp>
      <p:sp>
        <p:nvSpPr>
          <p:cNvPr id="15" name="Shape 11"/>
          <p:cNvSpPr/>
          <p:nvPr/>
        </p:nvSpPr>
        <p:spPr>
          <a:xfrm>
            <a:off x="640080" y="4892040"/>
            <a:ext cx="6400800" cy="960120"/>
          </a:xfrm>
          <a:prstGeom prst="roundRect">
            <a:avLst>
              <a:gd name="adj" fmla="val 857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6" name="Shape 12"/>
          <p:cNvSpPr/>
          <p:nvPr/>
        </p:nvSpPr>
        <p:spPr>
          <a:xfrm>
            <a:off x="841248" y="5106924"/>
            <a:ext cx="530352" cy="530352"/>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7" name="Image 2" descr="preencoded.png">    </p:cNvPr>
          <p:cNvPicPr>
            <a:picLocks noChangeAspect="1"/>
          </p:cNvPicPr>
          <p:nvPr/>
        </p:nvPicPr>
        <p:blipFill>
          <a:blip r:embed="rId3"/>
          <a:stretch>
            <a:fillRect/>
          </a:stretch>
        </p:blipFill>
        <p:spPr>
          <a:xfrm>
            <a:off x="979140" y="5244816"/>
            <a:ext cx="254569" cy="254569"/>
          </a:xfrm>
          <a:prstGeom prst="rect">
            <a:avLst/>
          </a:prstGeom>
        </p:spPr>
      </p:pic>
      <p:sp>
        <p:nvSpPr>
          <p:cNvPr id="18" name="Text 13"/>
          <p:cNvSpPr/>
          <p:nvPr/>
        </p:nvSpPr>
        <p:spPr>
          <a:xfrm>
            <a:off x="1600200" y="5047488"/>
            <a:ext cx="5212080" cy="320040"/>
          </a:xfrm>
          <a:prstGeom prst="rect">
            <a:avLst/>
          </a:prstGeom>
          <a:noFill/>
          <a:ln/>
        </p:spPr>
        <p:txBody>
          <a:bodyPr wrap="square" lIns="0" tIns="0" rIns="0" bIns="0" rtlCol="0" anchor="ctr"/>
          <a:lstStyle/>
          <a:p>
            <a:pPr indent="0" marL="0">
              <a:buNone/>
            </a:pPr>
            <a:r>
              <a:rPr lang="en-US" sz="1600" b="1" dirty="0">
                <a:solidFill>
                  <a:srgbClr val="16263B"/>
                </a:solidFill>
                <a:latin typeface="Arial" pitchFamily="34" charset="0"/>
                <a:ea typeface="Arial" pitchFamily="34" charset="-122"/>
                <a:cs typeface="Arial" pitchFamily="34" charset="-120"/>
              </a:rPr>
              <a:t>Disruptive</a:t>
            </a:r>
            <a:endParaRPr lang="en-US" sz="1600" dirty="0"/>
          </a:p>
        </p:txBody>
      </p:sp>
      <p:sp>
        <p:nvSpPr>
          <p:cNvPr id="19" name="Text 14"/>
          <p:cNvSpPr/>
          <p:nvPr/>
        </p:nvSpPr>
        <p:spPr>
          <a:xfrm>
            <a:off x="1600200" y="5367528"/>
            <a:ext cx="5257800" cy="411480"/>
          </a:xfrm>
          <a:prstGeom prst="rect">
            <a:avLst/>
          </a:prstGeom>
          <a:noFill/>
          <a:ln/>
        </p:spPr>
        <p:txBody>
          <a:bodyPr wrap="square" lIns="0" tIns="0" rIns="0" bIns="0" rtlCol="0" anchor="ctr"/>
          <a:lstStyle/>
          <a:p>
            <a:pPr indent="0" marL="0">
              <a:buNone/>
            </a:pPr>
            <a:r>
              <a:rPr lang="en-US" sz="1250" dirty="0">
                <a:solidFill>
                  <a:srgbClr val="5C6B7A"/>
                </a:solidFill>
                <a:latin typeface="Arial" pitchFamily="34" charset="0"/>
                <a:ea typeface="Arial" pitchFamily="34" charset="-122"/>
                <a:cs typeface="Arial" pitchFamily="34" charset="-120"/>
              </a:rPr>
              <a:t>Surveys interrupt work and create their own observer effect.</a:t>
            </a:r>
            <a:endParaRPr lang="en-US" sz="1250" dirty="0"/>
          </a:p>
        </p:txBody>
      </p:sp>
      <p:sp>
        <p:nvSpPr>
          <p:cNvPr id="20" name="Shape 15"/>
          <p:cNvSpPr/>
          <p:nvPr/>
        </p:nvSpPr>
        <p:spPr>
          <a:xfrm>
            <a:off x="7360920" y="1600200"/>
            <a:ext cx="4160520" cy="4206240"/>
          </a:xfrm>
          <a:prstGeom prst="roundRect">
            <a:avLst>
              <a:gd name="adj" fmla="val 1978"/>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1" name="Text 16"/>
          <p:cNvSpPr/>
          <p:nvPr/>
        </p:nvSpPr>
        <p:spPr>
          <a:xfrm>
            <a:off x="7360920" y="1874520"/>
            <a:ext cx="4160520" cy="274320"/>
          </a:xfrm>
          <a:prstGeom prst="rect">
            <a:avLst/>
          </a:prstGeom>
          <a:noFill/>
          <a:ln/>
        </p:spPr>
        <p:txBody>
          <a:bodyPr wrap="square" lIns="0" tIns="0" rIns="0" bIns="0" rtlCol="0" anchor="ctr"/>
          <a:lstStyle/>
          <a:p>
            <a:pPr algn="ctr" indent="0" marL="0">
              <a:buNone/>
            </a:pPr>
            <a:r>
              <a:rPr lang="en-US" sz="1200" b="1" spc="300" kern="0" dirty="0">
                <a:solidFill>
                  <a:srgbClr val="00A896"/>
                </a:solidFill>
                <a:latin typeface="Arial" pitchFamily="34" charset="0"/>
                <a:ea typeface="Arial" pitchFamily="34" charset="-122"/>
                <a:cs typeface="Arial" pitchFamily="34" charset="-120"/>
              </a:rPr>
              <a:t>THE GAP</a:t>
            </a:r>
            <a:endParaRPr lang="en-US" sz="1200" dirty="0"/>
          </a:p>
        </p:txBody>
      </p:sp>
      <p:sp>
        <p:nvSpPr>
          <p:cNvPr id="22" name="Text 17"/>
          <p:cNvSpPr/>
          <p:nvPr/>
        </p:nvSpPr>
        <p:spPr>
          <a:xfrm>
            <a:off x="7360920" y="2194560"/>
            <a:ext cx="4160520" cy="1005840"/>
          </a:xfrm>
          <a:prstGeom prst="rect">
            <a:avLst/>
          </a:prstGeom>
          <a:noFill/>
          <a:ln/>
        </p:spPr>
        <p:txBody>
          <a:bodyPr wrap="square" lIns="0" tIns="0" rIns="0" bIns="0" rtlCol="0" anchor="ctr"/>
          <a:lstStyle/>
          <a:p>
            <a:pPr algn="ctr" indent="0" marL="0">
              <a:buNone/>
            </a:pPr>
            <a:r>
              <a:rPr lang="en-US" sz="7600" b="1" dirty="0">
                <a:solidFill>
                  <a:srgbClr val="FFFFFF"/>
                </a:solidFill>
                <a:latin typeface="Georgia" pitchFamily="34" charset="0"/>
                <a:ea typeface="Georgia" pitchFamily="34" charset="-122"/>
                <a:cs typeface="Georgia" pitchFamily="34" charset="-120"/>
              </a:rPr>
              <a:t>365</a:t>
            </a:r>
            <a:endParaRPr lang="en-US" sz="7600" dirty="0"/>
          </a:p>
        </p:txBody>
      </p:sp>
      <p:sp>
        <p:nvSpPr>
          <p:cNvPr id="23" name="Text 18"/>
          <p:cNvSpPr/>
          <p:nvPr/>
        </p:nvSpPr>
        <p:spPr>
          <a:xfrm>
            <a:off x="7360920" y="3246120"/>
            <a:ext cx="4160520" cy="640080"/>
          </a:xfrm>
          <a:prstGeom prst="rect">
            <a:avLst/>
          </a:prstGeom>
          <a:noFill/>
          <a:ln/>
        </p:spPr>
        <p:txBody>
          <a:bodyPr wrap="square" lIns="0" tIns="0" rIns="0" bIns="0" rtlCol="0" anchor="ctr"/>
          <a:lstStyle/>
          <a:p>
            <a:pPr algn="ctr" indent="0" marL="0">
              <a:buNone/>
            </a:pPr>
            <a:r>
              <a:rPr lang="en-US" sz="1400" dirty="0">
                <a:solidFill>
                  <a:srgbClr val="C7D6E5"/>
                </a:solidFill>
                <a:latin typeface="Arial" pitchFamily="34" charset="0"/>
                <a:ea typeface="Arial" pitchFamily="34" charset="-122"/>
                <a:cs typeface="Arial" pitchFamily="34" charset="-120"/>
              </a:rPr>
              <a:t>days between most trust</a:t>
            </a:r>
            <a:endParaRPr lang="en-US" sz="1400" dirty="0"/>
          </a:p>
          <a:p>
            <a:pPr algn="ctr" indent="0" marL="0">
              <a:buNone/>
            </a:pPr>
            <a:r>
              <a:rPr lang="en-US" sz="1400" dirty="0">
                <a:solidFill>
                  <a:srgbClr val="C7D6E5"/>
                </a:solidFill>
                <a:latin typeface="Arial" pitchFamily="34" charset="0"/>
                <a:ea typeface="Arial" pitchFamily="34" charset="-122"/>
                <a:cs typeface="Arial" pitchFamily="34" charset="-120"/>
              </a:rPr>
              <a:t>measurements</a:t>
            </a:r>
            <a:endParaRPr lang="en-US" sz="1400" dirty="0"/>
          </a:p>
        </p:txBody>
      </p:sp>
      <p:sp>
        <p:nvSpPr>
          <p:cNvPr id="24" name="Shape 19"/>
          <p:cNvSpPr/>
          <p:nvPr/>
        </p:nvSpPr>
        <p:spPr>
          <a:xfrm>
            <a:off x="7909560" y="4069080"/>
            <a:ext cx="3063240" cy="0"/>
          </a:xfrm>
          <a:prstGeom prst="line">
            <a:avLst/>
          </a:prstGeom>
          <a:noFill/>
          <a:ln w="12700">
            <a:solidFill>
              <a:srgbClr val="1B3358"/>
            </a:solidFill>
            <a:prstDash val="solid"/>
          </a:ln>
        </p:spPr>
      </p:sp>
      <p:sp>
        <p:nvSpPr>
          <p:cNvPr id="25" name="Text 20"/>
          <p:cNvSpPr/>
          <p:nvPr/>
        </p:nvSpPr>
        <p:spPr>
          <a:xfrm>
            <a:off x="7680960" y="4251960"/>
            <a:ext cx="3520440" cy="1280160"/>
          </a:xfrm>
          <a:prstGeom prst="rect">
            <a:avLst/>
          </a:prstGeom>
          <a:noFill/>
          <a:ln/>
        </p:spPr>
        <p:txBody>
          <a:bodyPr wrap="square" lIns="0" tIns="0" rIns="0" bIns="0" rtlCol="0" anchor="ctr"/>
          <a:lstStyle/>
          <a:p>
            <a:pPr algn="ctr" indent="0" marL="0">
              <a:buNone/>
            </a:pPr>
            <a:r>
              <a:rPr lang="en-US" sz="1400" i="1" dirty="0">
                <a:solidFill>
                  <a:srgbClr val="DCE8F2"/>
                </a:solidFill>
                <a:latin typeface="Arial" pitchFamily="34" charset="0"/>
                <a:ea typeface="Arial" pitchFamily="34" charset="-122"/>
                <a:cs typeface="Arial" pitchFamily="34" charset="-120"/>
              </a:rPr>
              <a:t>Meanwhile, teams generate thousands of communication signals every single day.</a:t>
            </a:r>
            <a:endParaRPr lang="en-US" sz="1400" dirty="0"/>
          </a:p>
        </p:txBody>
      </p:sp>
      <p:sp>
        <p:nvSpPr>
          <p:cNvPr id="26" name="Text 21"/>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IDEA</a:t>
            </a:r>
            <a:endParaRPr lang="en-US" sz="1200" dirty="0"/>
          </a:p>
        </p:txBody>
      </p:sp>
      <p:sp>
        <p:nvSpPr>
          <p:cNvPr id="3" name="Text 1"/>
          <p:cNvSpPr/>
          <p:nvPr/>
        </p:nvSpPr>
        <p:spPr>
          <a:xfrm>
            <a:off x="640080" y="777240"/>
            <a:ext cx="10972800" cy="822960"/>
          </a:xfrm>
          <a:prstGeom prst="rect">
            <a:avLst/>
          </a:prstGeom>
          <a:noFill/>
          <a:ln/>
        </p:spPr>
        <p:txBody>
          <a:bodyPr wrap="square" lIns="0" tIns="0" rIns="0" bIns="0" rtlCol="0" anchor="ctr"/>
          <a:lstStyle/>
          <a:p>
            <a:pPr algn="l" indent="0" marL="0">
              <a:buNone/>
            </a:pPr>
            <a:r>
              <a:rPr lang="en-US" sz="3200" b="1" dirty="0">
                <a:solidFill>
                  <a:srgbClr val="16263B"/>
                </a:solidFill>
                <a:latin typeface="Georgia" pitchFamily="34" charset="0"/>
                <a:ea typeface="Georgia" pitchFamily="34" charset="-122"/>
                <a:cs typeface="Georgia" pitchFamily="34" charset="-120"/>
              </a:rPr>
              <a:t>The signal is already there — we just don't read it</a:t>
            </a:r>
            <a:endParaRPr lang="en-US" sz="3200" dirty="0"/>
          </a:p>
        </p:txBody>
      </p:sp>
      <p:sp>
        <p:nvSpPr>
          <p:cNvPr id="4" name="Text 2"/>
          <p:cNvSpPr/>
          <p:nvPr/>
        </p:nvSpPr>
        <p:spPr>
          <a:xfrm>
            <a:off x="640080" y="1600200"/>
            <a:ext cx="10881360" cy="777240"/>
          </a:xfrm>
          <a:prstGeom prst="rect">
            <a:avLst/>
          </a:prstGeom>
          <a:noFill/>
          <a:ln/>
        </p:spPr>
        <p:txBody>
          <a:bodyPr wrap="square" lIns="0" tIns="0" rIns="0" bIns="0" rtlCol="0" anchor="ctr"/>
          <a:lstStyle/>
          <a:p>
            <a:pPr indent="0" marL="0">
              <a:buNone/>
            </a:pPr>
            <a:r>
              <a:rPr lang="en-US" sz="1550" dirty="0">
                <a:solidFill>
                  <a:srgbClr val="16263B"/>
                </a:solidFill>
                <a:latin typeface="Arial" pitchFamily="34" charset="0"/>
                <a:ea typeface="Arial" pitchFamily="34" charset="-122"/>
                <a:cs typeface="Arial" pitchFamily="34" charset="-120"/>
              </a:rPr>
              <a:t>Every workday leaves a metadata trail: who met with whom, for how long, how quickly people answered. OTQ reads that exhaust passively — no surveys, no message content, no workflow change.</a:t>
            </a:r>
            <a:endParaRPr lang="en-US" sz="1550" dirty="0"/>
          </a:p>
        </p:txBody>
      </p:sp>
      <p:sp>
        <p:nvSpPr>
          <p:cNvPr id="5" name="Shape 3"/>
          <p:cNvSpPr/>
          <p:nvPr/>
        </p:nvSpPr>
        <p:spPr>
          <a:xfrm>
            <a:off x="640080" y="2697480"/>
            <a:ext cx="3429000" cy="2103120"/>
          </a:xfrm>
          <a:prstGeom prst="roundRect">
            <a:avLst>
              <a:gd name="adj" fmla="val 391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6" name="Shape 4"/>
          <p:cNvSpPr/>
          <p:nvPr/>
        </p:nvSpPr>
        <p:spPr>
          <a:xfrm>
            <a:off x="1965960" y="2971800"/>
            <a:ext cx="777240" cy="7772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7" name="Image 0" descr="preencoded.png">    </p:cNvPr>
          <p:cNvPicPr>
            <a:picLocks noChangeAspect="1"/>
          </p:cNvPicPr>
          <p:nvPr/>
        </p:nvPicPr>
        <p:blipFill>
          <a:blip r:embed="rId1"/>
          <a:stretch>
            <a:fillRect/>
          </a:stretch>
        </p:blipFill>
        <p:spPr>
          <a:xfrm>
            <a:off x="2168042" y="3173882"/>
            <a:ext cx="373075" cy="373075"/>
          </a:xfrm>
          <a:prstGeom prst="rect">
            <a:avLst/>
          </a:prstGeom>
        </p:spPr>
      </p:pic>
      <p:sp>
        <p:nvSpPr>
          <p:cNvPr id="8" name="Text 5"/>
          <p:cNvSpPr/>
          <p:nvPr/>
        </p:nvSpPr>
        <p:spPr>
          <a:xfrm>
            <a:off x="822960" y="3931920"/>
            <a:ext cx="3063240" cy="320040"/>
          </a:xfrm>
          <a:prstGeom prst="rect">
            <a:avLst/>
          </a:prstGeom>
          <a:noFill/>
          <a:ln/>
        </p:spPr>
        <p:txBody>
          <a:bodyPr wrap="square" lIns="0" tIns="0" rIns="0" bIns="0" rtlCol="0" anchor="ctr"/>
          <a:lstStyle/>
          <a:p>
            <a:pPr algn="ctr" indent="0" marL="0">
              <a:buNone/>
            </a:pPr>
            <a:r>
              <a:rPr lang="en-US" sz="1700" b="1" dirty="0">
                <a:solidFill>
                  <a:srgbClr val="16263B"/>
                </a:solidFill>
                <a:latin typeface="Arial" pitchFamily="34" charset="0"/>
                <a:ea typeface="Arial" pitchFamily="34" charset="-122"/>
                <a:cs typeface="Arial" pitchFamily="34" charset="-120"/>
              </a:rPr>
              <a:t>Slack</a:t>
            </a:r>
            <a:endParaRPr lang="en-US" sz="1700" dirty="0"/>
          </a:p>
        </p:txBody>
      </p:sp>
      <p:sp>
        <p:nvSpPr>
          <p:cNvPr id="9" name="Text 6"/>
          <p:cNvSpPr/>
          <p:nvPr/>
        </p:nvSpPr>
        <p:spPr>
          <a:xfrm>
            <a:off x="822960" y="4270248"/>
            <a:ext cx="3063240" cy="411480"/>
          </a:xfrm>
          <a:prstGeom prst="rect">
            <a:avLst/>
          </a:prstGeom>
          <a:noFill/>
          <a:ln/>
        </p:spPr>
        <p:txBody>
          <a:bodyPr wrap="square" lIns="0" tIns="0" rIns="0" bIns="0" rtlCol="0" anchor="ctr"/>
          <a:lstStyle/>
          <a:p>
            <a:pPr algn="ctr" indent="0" marL="0">
              <a:buNone/>
            </a:pPr>
            <a:r>
              <a:rPr lang="en-US" sz="1200" dirty="0">
                <a:solidFill>
                  <a:srgbClr val="5C6B7A"/>
                </a:solidFill>
                <a:latin typeface="Arial" pitchFamily="34" charset="0"/>
                <a:ea typeface="Arial" pitchFamily="34" charset="-122"/>
                <a:cs typeface="Arial" pitchFamily="34" charset="-120"/>
              </a:rPr>
              <a:t>Channels, messages, reply latency</a:t>
            </a:r>
            <a:endParaRPr lang="en-US" sz="1200" dirty="0"/>
          </a:p>
        </p:txBody>
      </p:sp>
      <p:sp>
        <p:nvSpPr>
          <p:cNvPr id="10" name="Shape 7"/>
          <p:cNvSpPr/>
          <p:nvPr/>
        </p:nvSpPr>
        <p:spPr>
          <a:xfrm>
            <a:off x="4297680" y="2697480"/>
            <a:ext cx="3429000" cy="2103120"/>
          </a:xfrm>
          <a:prstGeom prst="roundRect">
            <a:avLst>
              <a:gd name="adj" fmla="val 391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1" name="Shape 8"/>
          <p:cNvSpPr/>
          <p:nvPr/>
        </p:nvSpPr>
        <p:spPr>
          <a:xfrm>
            <a:off x="5623560" y="2971800"/>
            <a:ext cx="777240" cy="7772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2" name="Image 1" descr="preencoded.png">    </p:cNvPr>
          <p:cNvPicPr>
            <a:picLocks noChangeAspect="1"/>
          </p:cNvPicPr>
          <p:nvPr/>
        </p:nvPicPr>
        <p:blipFill>
          <a:blip r:embed="rId2"/>
          <a:stretch>
            <a:fillRect/>
          </a:stretch>
        </p:blipFill>
        <p:spPr>
          <a:xfrm>
            <a:off x="5825642" y="3173882"/>
            <a:ext cx="373075" cy="373075"/>
          </a:xfrm>
          <a:prstGeom prst="rect">
            <a:avLst/>
          </a:prstGeom>
        </p:spPr>
      </p:pic>
      <p:sp>
        <p:nvSpPr>
          <p:cNvPr id="13" name="Text 9"/>
          <p:cNvSpPr/>
          <p:nvPr/>
        </p:nvSpPr>
        <p:spPr>
          <a:xfrm>
            <a:off x="4480560" y="3931920"/>
            <a:ext cx="3063240" cy="320040"/>
          </a:xfrm>
          <a:prstGeom prst="rect">
            <a:avLst/>
          </a:prstGeom>
          <a:noFill/>
          <a:ln/>
        </p:spPr>
        <p:txBody>
          <a:bodyPr wrap="square" lIns="0" tIns="0" rIns="0" bIns="0" rtlCol="0" anchor="ctr"/>
          <a:lstStyle/>
          <a:p>
            <a:pPr algn="ctr" indent="0" marL="0">
              <a:buNone/>
            </a:pPr>
            <a:r>
              <a:rPr lang="en-US" sz="1700" b="1" dirty="0">
                <a:solidFill>
                  <a:srgbClr val="16263B"/>
                </a:solidFill>
                <a:latin typeface="Arial" pitchFamily="34" charset="0"/>
                <a:ea typeface="Arial" pitchFamily="34" charset="-122"/>
                <a:cs typeface="Arial" pitchFamily="34" charset="-120"/>
              </a:rPr>
              <a:t>Microsoft Teams</a:t>
            </a:r>
            <a:endParaRPr lang="en-US" sz="1700" dirty="0"/>
          </a:p>
        </p:txBody>
      </p:sp>
      <p:sp>
        <p:nvSpPr>
          <p:cNvPr id="14" name="Text 10"/>
          <p:cNvSpPr/>
          <p:nvPr/>
        </p:nvSpPr>
        <p:spPr>
          <a:xfrm>
            <a:off x="4480560" y="4270248"/>
            <a:ext cx="3063240" cy="411480"/>
          </a:xfrm>
          <a:prstGeom prst="rect">
            <a:avLst/>
          </a:prstGeom>
          <a:noFill/>
          <a:ln/>
        </p:spPr>
        <p:txBody>
          <a:bodyPr wrap="square" lIns="0" tIns="0" rIns="0" bIns="0" rtlCol="0" anchor="ctr"/>
          <a:lstStyle/>
          <a:p>
            <a:pPr algn="ctr" indent="0" marL="0">
              <a:buNone/>
            </a:pPr>
            <a:r>
              <a:rPr lang="en-US" sz="1200" dirty="0">
                <a:solidFill>
                  <a:srgbClr val="5C6B7A"/>
                </a:solidFill>
                <a:latin typeface="Arial" pitchFamily="34" charset="0"/>
                <a:ea typeface="Arial" pitchFamily="34" charset="-122"/>
                <a:cs typeface="Arial" pitchFamily="34" charset="-120"/>
              </a:rPr>
              <a:t>Meetings, participants, duration</a:t>
            </a:r>
            <a:endParaRPr lang="en-US" sz="1200" dirty="0"/>
          </a:p>
        </p:txBody>
      </p:sp>
      <p:sp>
        <p:nvSpPr>
          <p:cNvPr id="15" name="Shape 11"/>
          <p:cNvSpPr/>
          <p:nvPr/>
        </p:nvSpPr>
        <p:spPr>
          <a:xfrm>
            <a:off x="7955280" y="2697480"/>
            <a:ext cx="3429000" cy="2103120"/>
          </a:xfrm>
          <a:prstGeom prst="roundRect">
            <a:avLst>
              <a:gd name="adj" fmla="val 391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6" name="Shape 12"/>
          <p:cNvSpPr/>
          <p:nvPr/>
        </p:nvSpPr>
        <p:spPr>
          <a:xfrm>
            <a:off x="9281160" y="2971800"/>
            <a:ext cx="777240" cy="7772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7" name="Image 2" descr="preencoded.png">    </p:cNvPr>
          <p:cNvPicPr>
            <a:picLocks noChangeAspect="1"/>
          </p:cNvPicPr>
          <p:nvPr/>
        </p:nvPicPr>
        <p:blipFill>
          <a:blip r:embed="rId3"/>
          <a:stretch>
            <a:fillRect/>
          </a:stretch>
        </p:blipFill>
        <p:spPr>
          <a:xfrm>
            <a:off x="9483242" y="3173882"/>
            <a:ext cx="373075" cy="373075"/>
          </a:xfrm>
          <a:prstGeom prst="rect">
            <a:avLst/>
          </a:prstGeom>
        </p:spPr>
      </p:pic>
      <p:sp>
        <p:nvSpPr>
          <p:cNvPr id="18" name="Text 13"/>
          <p:cNvSpPr/>
          <p:nvPr/>
        </p:nvSpPr>
        <p:spPr>
          <a:xfrm>
            <a:off x="8138160" y="3931920"/>
            <a:ext cx="3063240" cy="320040"/>
          </a:xfrm>
          <a:prstGeom prst="rect">
            <a:avLst/>
          </a:prstGeom>
          <a:noFill/>
          <a:ln/>
        </p:spPr>
        <p:txBody>
          <a:bodyPr wrap="square" lIns="0" tIns="0" rIns="0" bIns="0" rtlCol="0" anchor="ctr"/>
          <a:lstStyle/>
          <a:p>
            <a:pPr algn="ctr" indent="0" marL="0">
              <a:buNone/>
            </a:pPr>
            <a:r>
              <a:rPr lang="en-US" sz="1700" b="1" dirty="0">
                <a:solidFill>
                  <a:srgbClr val="16263B"/>
                </a:solidFill>
                <a:latin typeface="Arial" pitchFamily="34" charset="0"/>
                <a:ea typeface="Arial" pitchFamily="34" charset="-122"/>
                <a:cs typeface="Arial" pitchFamily="34" charset="-120"/>
              </a:rPr>
              <a:t>Outlook Calendar</a:t>
            </a:r>
            <a:endParaRPr lang="en-US" sz="1700" dirty="0"/>
          </a:p>
        </p:txBody>
      </p:sp>
      <p:sp>
        <p:nvSpPr>
          <p:cNvPr id="19" name="Text 14"/>
          <p:cNvSpPr/>
          <p:nvPr/>
        </p:nvSpPr>
        <p:spPr>
          <a:xfrm>
            <a:off x="8138160" y="4270248"/>
            <a:ext cx="3063240" cy="411480"/>
          </a:xfrm>
          <a:prstGeom prst="rect">
            <a:avLst/>
          </a:prstGeom>
          <a:noFill/>
          <a:ln/>
        </p:spPr>
        <p:txBody>
          <a:bodyPr wrap="square" lIns="0" tIns="0" rIns="0" bIns="0" rtlCol="0" anchor="ctr"/>
          <a:lstStyle/>
          <a:p>
            <a:pPr algn="ctr" indent="0" marL="0">
              <a:buNone/>
            </a:pPr>
            <a:r>
              <a:rPr lang="en-US" sz="1200" dirty="0">
                <a:solidFill>
                  <a:srgbClr val="5C6B7A"/>
                </a:solidFill>
                <a:latin typeface="Arial" pitchFamily="34" charset="0"/>
                <a:ea typeface="Arial" pitchFamily="34" charset="-122"/>
                <a:cs typeface="Arial" pitchFamily="34" charset="-120"/>
              </a:rPr>
              <a:t>Organizers, attendees, meeting length</a:t>
            </a:r>
            <a:endParaRPr lang="en-US" sz="1200" dirty="0"/>
          </a:p>
        </p:txBody>
      </p:sp>
      <p:sp>
        <p:nvSpPr>
          <p:cNvPr id="20" name="Shape 15"/>
          <p:cNvSpPr/>
          <p:nvPr/>
        </p:nvSpPr>
        <p:spPr>
          <a:xfrm>
            <a:off x="640080" y="5029200"/>
            <a:ext cx="10881360" cy="960120"/>
          </a:xfrm>
          <a:prstGeom prst="roundRect">
            <a:avLst>
              <a:gd name="adj" fmla="val 8571"/>
            </a:avLst>
          </a:prstGeom>
          <a:solidFill>
            <a:srgbClr val="F4F9FB"/>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1" name="Shape 16"/>
          <p:cNvSpPr/>
          <p:nvPr/>
        </p:nvSpPr>
        <p:spPr>
          <a:xfrm>
            <a:off x="914400" y="5230368"/>
            <a:ext cx="548640" cy="548640"/>
          </a:xfrm>
          <a:prstGeom prst="ellipse">
            <a:avLst/>
          </a:prstGeom>
          <a:solidFill>
            <a:srgbClr val="02C39A"/>
          </a:solidFill>
          <a:ln/>
          <a:effectLst>
            <a:outerShdw sx="100000" sy="100000" kx="0" ky="0" algn="bl" rotWithShape="0" blurRad="114300" dist="38100" dir="5400000">
              <a:srgbClr val="0A1A2E">
                <a:alpha val="16000"/>
              </a:srgbClr>
            </a:outerShdw>
          </a:effectLst>
        </p:spPr>
      </p:sp>
      <p:pic>
        <p:nvPicPr>
          <p:cNvPr id="22" name="Image 3" descr="preencoded.png">    </p:cNvPr>
          <p:cNvPicPr>
            <a:picLocks noChangeAspect="1"/>
          </p:cNvPicPr>
          <p:nvPr/>
        </p:nvPicPr>
        <p:blipFill>
          <a:blip r:embed="rId4"/>
          <a:stretch>
            <a:fillRect/>
          </a:stretch>
        </p:blipFill>
        <p:spPr>
          <a:xfrm>
            <a:off x="1057046" y="5373014"/>
            <a:ext cx="263347" cy="263347"/>
          </a:xfrm>
          <a:prstGeom prst="rect">
            <a:avLst/>
          </a:prstGeom>
        </p:spPr>
      </p:pic>
      <p:sp>
        <p:nvSpPr>
          <p:cNvPr id="23" name="Text 17"/>
          <p:cNvSpPr/>
          <p:nvPr/>
        </p:nvSpPr>
        <p:spPr>
          <a:xfrm>
            <a:off x="1691640" y="5166360"/>
            <a:ext cx="9509760" cy="640080"/>
          </a:xfrm>
          <a:prstGeom prst="rect">
            <a:avLst/>
          </a:prstGeom>
          <a:noFill/>
          <a:ln/>
        </p:spPr>
        <p:txBody>
          <a:bodyPr wrap="square" lIns="0" tIns="0" rIns="0" bIns="0" rtlCol="0" anchor="ctr"/>
          <a:lstStyle/>
          <a:p>
            <a:pPr indent="0" marL="0">
              <a:buNone/>
            </a:pPr>
            <a:r>
              <a:rPr lang="en-US" sz="1450" b="1" dirty="0">
                <a:solidFill>
                  <a:srgbClr val="028090"/>
                </a:solidFill>
                <a:latin typeface="Arial" pitchFamily="34" charset="0"/>
                <a:ea typeface="Arial" pitchFamily="34" charset="-122"/>
                <a:cs typeface="Arial" pitchFamily="34" charset="-120"/>
              </a:rPr>
              <a:t>The bet:  </a:t>
            </a:r>
            <a:pPr indent="0" marL="0">
              <a:buNone/>
            </a:pPr>
            <a:r>
              <a:rPr lang="en-US" sz="1450" dirty="0">
                <a:solidFill>
                  <a:srgbClr val="16263B"/>
                </a:solidFill>
                <a:latin typeface="Arial" pitchFamily="34" charset="0"/>
                <a:ea typeface="Arial" pitchFamily="34" charset="-122"/>
                <a:cs typeface="Arial" pitchFamily="34" charset="-120"/>
              </a:rPr>
              <a:t>patterns in how a team communicates carry a measurable signal about how the team functions — readable continuously, not once a year.</a:t>
            </a:r>
            <a:endParaRPr lang="en-US" sz="1450" dirty="0"/>
          </a:p>
        </p:txBody>
      </p:sp>
      <p:sp>
        <p:nvSpPr>
          <p:cNvPr id="24" name="Text 18"/>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SCOPE — WHAT WE CLAIM</a:t>
            </a:r>
            <a:endParaRPr lang="en-US" sz="1200" dirty="0"/>
          </a:p>
        </p:txBody>
      </p:sp>
      <p:sp>
        <p:nvSpPr>
          <p:cNvPr id="3" name="Text 1"/>
          <p:cNvSpPr/>
          <p:nvPr/>
        </p:nvSpPr>
        <p:spPr>
          <a:xfrm>
            <a:off x="640080" y="777240"/>
            <a:ext cx="10972800" cy="822960"/>
          </a:xfrm>
          <a:prstGeom prst="rect">
            <a:avLst/>
          </a:prstGeom>
          <a:noFill/>
          <a:ln/>
        </p:spPr>
        <p:txBody>
          <a:bodyPr wrap="square" lIns="0" tIns="0" rIns="0" bIns="0" rtlCol="0" anchor="ctr"/>
          <a:lstStyle/>
          <a:p>
            <a:pPr algn="l" indent="0" marL="0">
              <a:buNone/>
            </a:pPr>
            <a:r>
              <a:rPr lang="en-US" sz="3200" b="1" dirty="0">
                <a:solidFill>
                  <a:srgbClr val="16263B"/>
                </a:solidFill>
                <a:latin typeface="Georgia" pitchFamily="34" charset="0"/>
                <a:ea typeface="Georgia" pitchFamily="34" charset="-122"/>
                <a:cs typeface="Georgia" pitchFamily="34" charset="-120"/>
              </a:rPr>
              <a:t>What OTQ measures, and what it theorizes</a:t>
            </a:r>
            <a:endParaRPr lang="en-US" sz="3200" dirty="0"/>
          </a:p>
        </p:txBody>
      </p:sp>
      <p:sp>
        <p:nvSpPr>
          <p:cNvPr id="4" name="Text 2"/>
          <p:cNvSpPr/>
          <p:nvPr/>
        </p:nvSpPr>
        <p:spPr>
          <a:xfrm>
            <a:off x="640080" y="1554480"/>
            <a:ext cx="10789920" cy="457200"/>
          </a:xfrm>
          <a:prstGeom prst="rect">
            <a:avLst/>
          </a:prstGeom>
          <a:noFill/>
          <a:ln/>
        </p:spPr>
        <p:txBody>
          <a:bodyPr wrap="square" lIns="0" tIns="0" rIns="0" bIns="0" rtlCol="0" anchor="ctr"/>
          <a:lstStyle/>
          <a:p>
            <a:pPr indent="0" marL="0">
              <a:buNone/>
            </a:pPr>
            <a:r>
              <a:rPr lang="en-US" sz="1500" dirty="0">
                <a:solidFill>
                  <a:srgbClr val="5C6B7A"/>
                </a:solidFill>
                <a:latin typeface="Arial" pitchFamily="34" charset="0"/>
                <a:ea typeface="Arial" pitchFamily="34" charset="-122"/>
                <a:cs typeface="Arial" pitchFamily="34" charset="-120"/>
              </a:rPr>
              <a:t>Being precise about this is the project's backbone. We separate what is measured directly from what is inferred.</a:t>
            </a:r>
            <a:endParaRPr lang="en-US" sz="1500" dirty="0"/>
          </a:p>
        </p:txBody>
      </p:sp>
      <p:sp>
        <p:nvSpPr>
          <p:cNvPr id="5" name="Shape 3"/>
          <p:cNvSpPr/>
          <p:nvPr/>
        </p:nvSpPr>
        <p:spPr>
          <a:xfrm>
            <a:off x="640080" y="2331720"/>
            <a:ext cx="3383280" cy="2743200"/>
          </a:xfrm>
          <a:prstGeom prst="roundRect">
            <a:avLst>
              <a:gd name="adj" fmla="val 3000"/>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6" name="Shape 4"/>
          <p:cNvSpPr/>
          <p:nvPr/>
        </p:nvSpPr>
        <p:spPr>
          <a:xfrm>
            <a:off x="1947672" y="2606040"/>
            <a:ext cx="768096" cy="768096"/>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7" name="Image 0" descr="preencoded.png">    </p:cNvPr>
          <p:cNvPicPr>
            <a:picLocks noChangeAspect="1"/>
          </p:cNvPicPr>
          <p:nvPr/>
        </p:nvPicPr>
        <p:blipFill>
          <a:blip r:embed="rId1"/>
          <a:stretch>
            <a:fillRect/>
          </a:stretch>
        </p:blipFill>
        <p:spPr>
          <a:xfrm>
            <a:off x="2147377" y="2805745"/>
            <a:ext cx="368686" cy="368686"/>
          </a:xfrm>
          <a:prstGeom prst="rect">
            <a:avLst/>
          </a:prstGeom>
        </p:spPr>
      </p:pic>
      <p:sp>
        <p:nvSpPr>
          <p:cNvPr id="8" name="Text 5"/>
          <p:cNvSpPr/>
          <p:nvPr/>
        </p:nvSpPr>
        <p:spPr>
          <a:xfrm>
            <a:off x="640080" y="3520440"/>
            <a:ext cx="3383280" cy="274320"/>
          </a:xfrm>
          <a:prstGeom prst="rect">
            <a:avLst/>
          </a:prstGeom>
          <a:noFill/>
          <a:ln/>
        </p:spPr>
        <p:txBody>
          <a:bodyPr wrap="square" lIns="0" tIns="0" rIns="0" bIns="0" rtlCol="0" anchor="ctr"/>
          <a:lstStyle/>
          <a:p>
            <a:pPr algn="ctr" indent="0" marL="0">
              <a:buNone/>
            </a:pPr>
            <a:r>
              <a:rPr lang="en-US" sz="1200" b="1" spc="200" kern="0" dirty="0">
                <a:solidFill>
                  <a:srgbClr val="028090"/>
                </a:solidFill>
                <a:latin typeface="Arial" pitchFamily="34" charset="0"/>
                <a:ea typeface="Arial" pitchFamily="34" charset="-122"/>
                <a:cs typeface="Arial" pitchFamily="34" charset="-120"/>
              </a:rPr>
              <a:t>MEASURED</a:t>
            </a:r>
            <a:endParaRPr lang="en-US" sz="1200" dirty="0"/>
          </a:p>
        </p:txBody>
      </p:sp>
      <p:sp>
        <p:nvSpPr>
          <p:cNvPr id="9" name="Text 6"/>
          <p:cNvSpPr/>
          <p:nvPr/>
        </p:nvSpPr>
        <p:spPr>
          <a:xfrm>
            <a:off x="822960" y="3822192"/>
            <a:ext cx="3017520" cy="685800"/>
          </a:xfrm>
          <a:prstGeom prst="rect">
            <a:avLst/>
          </a:prstGeom>
          <a:noFill/>
          <a:ln/>
        </p:spPr>
        <p:txBody>
          <a:bodyPr wrap="square" lIns="0" tIns="0" rIns="0" bIns="0" rtlCol="0" anchor="ctr"/>
          <a:lstStyle/>
          <a:p>
            <a:pPr algn="ctr" indent="0" marL="0">
              <a:buNone/>
            </a:pPr>
            <a:r>
              <a:rPr lang="en-US" sz="1900" b="1" dirty="0">
                <a:solidFill>
                  <a:srgbClr val="16263B"/>
                </a:solidFill>
                <a:latin typeface="Georgia" pitchFamily="34" charset="0"/>
                <a:ea typeface="Georgia" pitchFamily="34" charset="-122"/>
                <a:cs typeface="Georgia" pitchFamily="34" charset="-120"/>
              </a:rPr>
              <a:t>Communication engagement</a:t>
            </a:r>
            <a:endParaRPr lang="en-US" sz="1900" dirty="0"/>
          </a:p>
        </p:txBody>
      </p:sp>
      <p:sp>
        <p:nvSpPr>
          <p:cNvPr id="10" name="Text 7"/>
          <p:cNvSpPr/>
          <p:nvPr/>
        </p:nvSpPr>
        <p:spPr>
          <a:xfrm>
            <a:off x="868680" y="4526280"/>
            <a:ext cx="2926080" cy="502920"/>
          </a:xfrm>
          <a:prstGeom prst="rect">
            <a:avLst/>
          </a:prstGeom>
          <a:noFill/>
          <a:ln/>
        </p:spPr>
        <p:txBody>
          <a:bodyPr wrap="square" lIns="0" tIns="0" rIns="0" bIns="0" rtlCol="0" anchor="ctr"/>
          <a:lstStyle/>
          <a:p>
            <a:pPr algn="ctr" indent="0" marL="0">
              <a:buNone/>
            </a:pPr>
            <a:r>
              <a:rPr lang="en-US" sz="1200" dirty="0">
                <a:solidFill>
                  <a:srgbClr val="5C6B7A"/>
                </a:solidFill>
                <a:latin typeface="Arial" pitchFamily="34" charset="0"/>
                <a:ea typeface="Arial" pitchFamily="34" charset="-122"/>
                <a:cs typeface="Arial" pitchFamily="34" charset="-120"/>
              </a:rPr>
              <a:t>EU-scored events from metadata — directly observed.</a:t>
            </a:r>
            <a:endParaRPr lang="en-US" sz="1200" dirty="0"/>
          </a:p>
        </p:txBody>
      </p:sp>
      <p:sp>
        <p:nvSpPr>
          <p:cNvPr id="11" name="Text 8"/>
          <p:cNvSpPr/>
          <p:nvPr/>
        </p:nvSpPr>
        <p:spPr>
          <a:xfrm>
            <a:off x="3977640" y="3337560"/>
            <a:ext cx="457200" cy="548640"/>
          </a:xfrm>
          <a:prstGeom prst="rect">
            <a:avLst/>
          </a:prstGeom>
          <a:noFill/>
          <a:ln/>
        </p:spPr>
        <p:txBody>
          <a:bodyPr wrap="square" lIns="0" tIns="0" rIns="0" bIns="0" rtlCol="0" anchor="ctr"/>
          <a:lstStyle/>
          <a:p>
            <a:pPr algn="ctr" indent="0" marL="0">
              <a:buNone/>
            </a:pPr>
            <a:r>
              <a:rPr lang="en-US" sz="3000" b="1" dirty="0">
                <a:solidFill>
                  <a:srgbClr val="028090"/>
                </a:solidFill>
                <a:latin typeface="Arial" pitchFamily="34" charset="0"/>
                <a:ea typeface="Arial" pitchFamily="34" charset="-122"/>
                <a:cs typeface="Arial" pitchFamily="34" charset="-120"/>
              </a:rPr>
              <a:t>→</a:t>
            </a:r>
            <a:endParaRPr lang="en-US" sz="3000" dirty="0"/>
          </a:p>
        </p:txBody>
      </p:sp>
      <p:sp>
        <p:nvSpPr>
          <p:cNvPr id="12" name="Shape 9"/>
          <p:cNvSpPr/>
          <p:nvPr/>
        </p:nvSpPr>
        <p:spPr>
          <a:xfrm>
            <a:off x="4389120" y="2331720"/>
            <a:ext cx="3383280" cy="2743200"/>
          </a:xfrm>
          <a:prstGeom prst="roundRect">
            <a:avLst>
              <a:gd name="adj" fmla="val 3000"/>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3" name="Shape 10"/>
          <p:cNvSpPr/>
          <p:nvPr/>
        </p:nvSpPr>
        <p:spPr>
          <a:xfrm>
            <a:off x="5696712" y="2606040"/>
            <a:ext cx="768096" cy="768096"/>
          </a:xfrm>
          <a:prstGeom prst="ellipse">
            <a:avLst/>
          </a:prstGeom>
          <a:solidFill>
            <a:srgbClr val="00A896"/>
          </a:solidFill>
          <a:ln/>
          <a:effectLst>
            <a:outerShdw sx="100000" sy="100000" kx="0" ky="0" algn="bl" rotWithShape="0" blurRad="114300" dist="38100" dir="5400000">
              <a:srgbClr val="0A1A2E">
                <a:alpha val="16000"/>
              </a:srgbClr>
            </a:outerShdw>
          </a:effectLst>
        </p:spPr>
      </p:sp>
      <p:pic>
        <p:nvPicPr>
          <p:cNvPr id="14" name="Image 1" descr="preencoded.png">    </p:cNvPr>
          <p:cNvPicPr>
            <a:picLocks noChangeAspect="1"/>
          </p:cNvPicPr>
          <p:nvPr/>
        </p:nvPicPr>
        <p:blipFill>
          <a:blip r:embed="rId2"/>
          <a:stretch>
            <a:fillRect/>
          </a:stretch>
        </p:blipFill>
        <p:spPr>
          <a:xfrm>
            <a:off x="5896417" y="2805745"/>
            <a:ext cx="368686" cy="368686"/>
          </a:xfrm>
          <a:prstGeom prst="rect">
            <a:avLst/>
          </a:prstGeom>
        </p:spPr>
      </p:pic>
      <p:sp>
        <p:nvSpPr>
          <p:cNvPr id="15" name="Text 11"/>
          <p:cNvSpPr/>
          <p:nvPr/>
        </p:nvSpPr>
        <p:spPr>
          <a:xfrm>
            <a:off x="4389120" y="3520440"/>
            <a:ext cx="3383280" cy="274320"/>
          </a:xfrm>
          <a:prstGeom prst="rect">
            <a:avLst/>
          </a:prstGeom>
          <a:noFill/>
          <a:ln/>
        </p:spPr>
        <p:txBody>
          <a:bodyPr wrap="square" lIns="0" tIns="0" rIns="0" bIns="0" rtlCol="0" anchor="ctr"/>
          <a:lstStyle/>
          <a:p>
            <a:pPr algn="ctr" indent="0" marL="0">
              <a:buNone/>
            </a:pPr>
            <a:r>
              <a:rPr lang="en-US" sz="1200" b="1" spc="200" kern="0" dirty="0">
                <a:solidFill>
                  <a:srgbClr val="00A896"/>
                </a:solidFill>
                <a:latin typeface="Arial" pitchFamily="34" charset="0"/>
                <a:ea typeface="Arial" pitchFamily="34" charset="-122"/>
                <a:cs typeface="Arial" pitchFamily="34" charset="-120"/>
              </a:rPr>
              <a:t>PREDICTS</a:t>
            </a:r>
            <a:endParaRPr lang="en-US" sz="1200" dirty="0"/>
          </a:p>
        </p:txBody>
      </p:sp>
      <p:sp>
        <p:nvSpPr>
          <p:cNvPr id="16" name="Text 12"/>
          <p:cNvSpPr/>
          <p:nvPr/>
        </p:nvSpPr>
        <p:spPr>
          <a:xfrm>
            <a:off x="4572000" y="3822192"/>
            <a:ext cx="3017520" cy="685800"/>
          </a:xfrm>
          <a:prstGeom prst="rect">
            <a:avLst/>
          </a:prstGeom>
          <a:noFill/>
          <a:ln/>
        </p:spPr>
        <p:txBody>
          <a:bodyPr wrap="square" lIns="0" tIns="0" rIns="0" bIns="0" rtlCol="0" anchor="ctr"/>
          <a:lstStyle/>
          <a:p>
            <a:pPr algn="ctr" indent="0" marL="0">
              <a:buNone/>
            </a:pPr>
            <a:r>
              <a:rPr lang="en-US" sz="1900" b="1" dirty="0">
                <a:solidFill>
                  <a:srgbClr val="16263B"/>
                </a:solidFill>
                <a:latin typeface="Georgia" pitchFamily="34" charset="0"/>
                <a:ea typeface="Georgia" pitchFamily="34" charset="-122"/>
                <a:cs typeface="Georgia" pitchFamily="34" charset="-120"/>
              </a:rPr>
              <a:t>Organizational responsiveness</a:t>
            </a:r>
            <a:endParaRPr lang="en-US" sz="1900" dirty="0"/>
          </a:p>
        </p:txBody>
      </p:sp>
      <p:sp>
        <p:nvSpPr>
          <p:cNvPr id="17" name="Text 13"/>
          <p:cNvSpPr/>
          <p:nvPr/>
        </p:nvSpPr>
        <p:spPr>
          <a:xfrm>
            <a:off x="4617720" y="4526280"/>
            <a:ext cx="2926080" cy="502920"/>
          </a:xfrm>
          <a:prstGeom prst="rect">
            <a:avLst/>
          </a:prstGeom>
          <a:noFill/>
          <a:ln/>
        </p:spPr>
        <p:txBody>
          <a:bodyPr wrap="square" lIns="0" tIns="0" rIns="0" bIns="0" rtlCol="0" anchor="ctr"/>
          <a:lstStyle/>
          <a:p>
            <a:pPr algn="ctr" indent="0" marL="0">
              <a:buNone/>
            </a:pPr>
            <a:r>
              <a:rPr lang="en-US" sz="1200" dirty="0">
                <a:solidFill>
                  <a:srgbClr val="5C6B7A"/>
                </a:solidFill>
                <a:latin typeface="Arial" pitchFamily="34" charset="0"/>
                <a:ea typeface="Arial" pitchFamily="34" charset="-122"/>
                <a:cs typeface="Arial" pitchFamily="34" charset="-120"/>
              </a:rPr>
              <a:t>Median response time — the modeled outcome.</a:t>
            </a:r>
            <a:endParaRPr lang="en-US" sz="1200" dirty="0"/>
          </a:p>
        </p:txBody>
      </p:sp>
      <p:sp>
        <p:nvSpPr>
          <p:cNvPr id="18" name="Text 14"/>
          <p:cNvSpPr/>
          <p:nvPr/>
        </p:nvSpPr>
        <p:spPr>
          <a:xfrm>
            <a:off x="7726680" y="3337560"/>
            <a:ext cx="457200" cy="548640"/>
          </a:xfrm>
          <a:prstGeom prst="rect">
            <a:avLst/>
          </a:prstGeom>
          <a:noFill/>
          <a:ln/>
        </p:spPr>
        <p:txBody>
          <a:bodyPr wrap="square" lIns="0" tIns="0" rIns="0" bIns="0" rtlCol="0" anchor="ctr"/>
          <a:lstStyle/>
          <a:p>
            <a:pPr algn="ctr" indent="0" marL="0">
              <a:buNone/>
            </a:pPr>
            <a:r>
              <a:rPr lang="en-US" sz="3000" b="1" dirty="0">
                <a:solidFill>
                  <a:srgbClr val="028090"/>
                </a:solidFill>
                <a:latin typeface="Arial" pitchFamily="34" charset="0"/>
                <a:ea typeface="Arial" pitchFamily="34" charset="-122"/>
                <a:cs typeface="Arial" pitchFamily="34" charset="-120"/>
              </a:rPr>
              <a:t>→</a:t>
            </a:r>
            <a:endParaRPr lang="en-US" sz="3000" dirty="0"/>
          </a:p>
        </p:txBody>
      </p:sp>
      <p:sp>
        <p:nvSpPr>
          <p:cNvPr id="19" name="Shape 15"/>
          <p:cNvSpPr/>
          <p:nvPr/>
        </p:nvSpPr>
        <p:spPr>
          <a:xfrm>
            <a:off x="8138160" y="2331720"/>
            <a:ext cx="3383280" cy="2743200"/>
          </a:xfrm>
          <a:prstGeom prst="roundRect">
            <a:avLst>
              <a:gd name="adj" fmla="val 3000"/>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0" name="Shape 16"/>
          <p:cNvSpPr/>
          <p:nvPr/>
        </p:nvSpPr>
        <p:spPr>
          <a:xfrm>
            <a:off x="9445752" y="2606040"/>
            <a:ext cx="768096" cy="768096"/>
          </a:xfrm>
          <a:prstGeom prst="ellipse">
            <a:avLst/>
          </a:prstGeom>
          <a:solidFill>
            <a:srgbClr val="11243F"/>
          </a:solidFill>
          <a:ln/>
          <a:effectLst>
            <a:outerShdw sx="100000" sy="100000" kx="0" ky="0" algn="bl" rotWithShape="0" blurRad="114300" dist="38100" dir="5400000">
              <a:srgbClr val="0A1A2E">
                <a:alpha val="16000"/>
              </a:srgbClr>
            </a:outerShdw>
          </a:effectLst>
        </p:spPr>
      </p:sp>
      <p:pic>
        <p:nvPicPr>
          <p:cNvPr id="21" name="Image 2" descr="preencoded.png">    </p:cNvPr>
          <p:cNvPicPr>
            <a:picLocks noChangeAspect="1"/>
          </p:cNvPicPr>
          <p:nvPr/>
        </p:nvPicPr>
        <p:blipFill>
          <a:blip r:embed="rId3"/>
          <a:stretch>
            <a:fillRect/>
          </a:stretch>
        </p:blipFill>
        <p:spPr>
          <a:xfrm>
            <a:off x="9645457" y="2805745"/>
            <a:ext cx="368686" cy="368686"/>
          </a:xfrm>
          <a:prstGeom prst="rect">
            <a:avLst/>
          </a:prstGeom>
        </p:spPr>
      </p:pic>
      <p:sp>
        <p:nvSpPr>
          <p:cNvPr id="22" name="Text 17"/>
          <p:cNvSpPr/>
          <p:nvPr/>
        </p:nvSpPr>
        <p:spPr>
          <a:xfrm>
            <a:off x="8138160" y="3520440"/>
            <a:ext cx="3383280" cy="274320"/>
          </a:xfrm>
          <a:prstGeom prst="rect">
            <a:avLst/>
          </a:prstGeom>
          <a:noFill/>
          <a:ln/>
        </p:spPr>
        <p:txBody>
          <a:bodyPr wrap="square" lIns="0" tIns="0" rIns="0" bIns="0" rtlCol="0" anchor="ctr"/>
          <a:lstStyle/>
          <a:p>
            <a:pPr algn="ctr" indent="0" marL="0">
              <a:buNone/>
            </a:pPr>
            <a:r>
              <a:rPr lang="en-US" sz="1200" b="1" spc="200" kern="0" dirty="0">
                <a:solidFill>
                  <a:srgbClr val="00A896"/>
                </a:solidFill>
                <a:latin typeface="Arial" pitchFamily="34" charset="0"/>
                <a:ea typeface="Arial" pitchFamily="34" charset="-122"/>
                <a:cs typeface="Arial" pitchFamily="34" charset="-120"/>
              </a:rPr>
              <a:t>THEORIZED</a:t>
            </a:r>
            <a:endParaRPr lang="en-US" sz="1200" dirty="0"/>
          </a:p>
        </p:txBody>
      </p:sp>
      <p:sp>
        <p:nvSpPr>
          <p:cNvPr id="23" name="Text 18"/>
          <p:cNvSpPr/>
          <p:nvPr/>
        </p:nvSpPr>
        <p:spPr>
          <a:xfrm>
            <a:off x="8321040" y="3822192"/>
            <a:ext cx="3017520" cy="685800"/>
          </a:xfrm>
          <a:prstGeom prst="rect">
            <a:avLst/>
          </a:prstGeom>
          <a:noFill/>
          <a:ln/>
        </p:spPr>
        <p:txBody>
          <a:bodyPr wrap="square" lIns="0" tIns="0" rIns="0" bIns="0" rtlCol="0" anchor="ctr"/>
          <a:lstStyle/>
          <a:p>
            <a:pPr algn="ctr" indent="0" marL="0">
              <a:buNone/>
            </a:pPr>
            <a:r>
              <a:rPr lang="en-US" sz="1900" b="1" dirty="0">
                <a:solidFill>
                  <a:srgbClr val="FFFFFF"/>
                </a:solidFill>
                <a:latin typeface="Georgia" pitchFamily="34" charset="0"/>
                <a:ea typeface="Georgia" pitchFamily="34" charset="-122"/>
                <a:cs typeface="Georgia" pitchFamily="34" charset="-120"/>
              </a:rPr>
              <a:t>Trust</a:t>
            </a:r>
            <a:endParaRPr lang="en-US" sz="1900" dirty="0"/>
          </a:p>
        </p:txBody>
      </p:sp>
      <p:sp>
        <p:nvSpPr>
          <p:cNvPr id="24" name="Text 19"/>
          <p:cNvSpPr/>
          <p:nvPr/>
        </p:nvSpPr>
        <p:spPr>
          <a:xfrm>
            <a:off x="8366760" y="4526280"/>
            <a:ext cx="2926080" cy="502920"/>
          </a:xfrm>
          <a:prstGeom prst="rect">
            <a:avLst/>
          </a:prstGeom>
          <a:noFill/>
          <a:ln/>
        </p:spPr>
        <p:txBody>
          <a:bodyPr wrap="square" lIns="0" tIns="0" rIns="0" bIns="0" rtlCol="0" anchor="ctr"/>
          <a:lstStyle/>
          <a:p>
            <a:pPr algn="ctr" indent="0" marL="0">
              <a:buNone/>
            </a:pPr>
            <a:r>
              <a:rPr lang="en-US" sz="1200" dirty="0">
                <a:solidFill>
                  <a:srgbClr val="C7D6E5"/>
                </a:solidFill>
                <a:latin typeface="Arial" pitchFamily="34" charset="0"/>
                <a:ea typeface="Arial" pitchFamily="34" charset="-122"/>
                <a:cs typeface="Arial" pitchFamily="34" charset="-120"/>
              </a:rPr>
              <a:t>The upstream construct we believe drives both — not measured directly (yet).</a:t>
            </a:r>
            <a:endParaRPr lang="en-US" sz="1200" dirty="0"/>
          </a:p>
        </p:txBody>
      </p:sp>
      <p:sp>
        <p:nvSpPr>
          <p:cNvPr id="25" name="Text 20"/>
          <p:cNvSpPr/>
          <p:nvPr/>
        </p:nvSpPr>
        <p:spPr>
          <a:xfrm>
            <a:off x="640080" y="5349240"/>
            <a:ext cx="10881360" cy="548640"/>
          </a:xfrm>
          <a:prstGeom prst="rect">
            <a:avLst/>
          </a:prstGeom>
          <a:noFill/>
          <a:ln/>
        </p:spPr>
        <p:txBody>
          <a:bodyPr wrap="square" lIns="0" tIns="0" rIns="0" bIns="0" rtlCol="0" anchor="ctr"/>
          <a:lstStyle/>
          <a:p>
            <a:pPr algn="ctr" indent="0" marL="0">
              <a:buNone/>
            </a:pPr>
            <a:r>
              <a:rPr lang="en-US" sz="1300" i="1" dirty="0">
                <a:solidFill>
                  <a:srgbClr val="028090"/>
                </a:solidFill>
                <a:latin typeface="Arial" pitchFamily="34" charset="0"/>
                <a:ea typeface="Arial" pitchFamily="34" charset="-122"/>
                <a:cs typeface="Arial" pitchFamily="34" charset="-120"/>
              </a:rPr>
              <a:t>“To earn the word trust, the score must converge with a validated trust instrument.”  — SME review (Prof. R. DelCampo, UNM Anderson)</a:t>
            </a:r>
            <a:endParaRPr lang="en-US" sz="1300" dirty="0"/>
          </a:p>
        </p:txBody>
      </p:sp>
      <p:sp>
        <p:nvSpPr>
          <p:cNvPr id="26" name="Text 21"/>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GROUNDING</a:t>
            </a:r>
            <a:endParaRPr lang="en-US" sz="1200" dirty="0"/>
          </a:p>
        </p:txBody>
      </p:sp>
      <p:sp>
        <p:nvSpPr>
          <p:cNvPr id="3" name="Text 1"/>
          <p:cNvSpPr/>
          <p:nvPr/>
        </p:nvSpPr>
        <p:spPr>
          <a:xfrm>
            <a:off x="640080" y="777240"/>
            <a:ext cx="10972800" cy="822960"/>
          </a:xfrm>
          <a:prstGeom prst="rect">
            <a:avLst/>
          </a:prstGeom>
          <a:noFill/>
          <a:ln/>
        </p:spPr>
        <p:txBody>
          <a:bodyPr wrap="square" lIns="0" tIns="0" rIns="0" bIns="0" rtlCol="0" anchor="ctr"/>
          <a:lstStyle/>
          <a:p>
            <a:pPr algn="l" indent="0" marL="0">
              <a:buNone/>
            </a:pPr>
            <a:r>
              <a:rPr lang="en-US" sz="3200" b="1" dirty="0">
                <a:solidFill>
                  <a:srgbClr val="16263B"/>
                </a:solidFill>
                <a:latin typeface="Georgia" pitchFamily="34" charset="0"/>
                <a:ea typeface="Georgia" pitchFamily="34" charset="-122"/>
                <a:cs typeface="Georgia" pitchFamily="34" charset="-120"/>
              </a:rPr>
              <a:t>Standing on established organizational science</a:t>
            </a:r>
            <a:endParaRPr lang="en-US" sz="3200" dirty="0"/>
          </a:p>
        </p:txBody>
      </p:sp>
      <p:sp>
        <p:nvSpPr>
          <p:cNvPr id="4" name="Shape 2"/>
          <p:cNvSpPr/>
          <p:nvPr/>
        </p:nvSpPr>
        <p:spPr>
          <a:xfrm>
            <a:off x="640080" y="1691640"/>
            <a:ext cx="10881360" cy="1325880"/>
          </a:xfrm>
          <a:prstGeom prst="roundRect">
            <a:avLst>
              <a:gd name="adj" fmla="val 6207"/>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914400" y="2075688"/>
            <a:ext cx="566928" cy="566928"/>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r>
          <p:cNvPicPr>
            <a:picLocks noChangeAspect="1"/>
          </p:cNvPicPr>
          <p:nvPr/>
        </p:nvPicPr>
        <p:blipFill>
          <a:blip r:embed="rId1"/>
          <a:stretch>
            <a:fillRect/>
          </a:stretch>
        </p:blipFill>
        <p:spPr>
          <a:xfrm>
            <a:off x="1061801" y="2223089"/>
            <a:ext cx="272125" cy="272125"/>
          </a:xfrm>
          <a:prstGeom prst="rect">
            <a:avLst/>
          </a:prstGeom>
        </p:spPr>
      </p:pic>
      <p:sp>
        <p:nvSpPr>
          <p:cNvPr id="7" name="Text 4"/>
          <p:cNvSpPr/>
          <p:nvPr/>
        </p:nvSpPr>
        <p:spPr>
          <a:xfrm>
            <a:off x="1737360" y="1892808"/>
            <a:ext cx="9509760" cy="36576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Mayer, Davis &amp; Schoorman (1995)</a:t>
            </a:r>
            <a:endParaRPr lang="en-US" sz="1700" dirty="0"/>
          </a:p>
        </p:txBody>
      </p:sp>
      <p:sp>
        <p:nvSpPr>
          <p:cNvPr id="8" name="Text 5"/>
          <p:cNvSpPr/>
          <p:nvPr/>
        </p:nvSpPr>
        <p:spPr>
          <a:xfrm>
            <a:off x="1737360" y="2295144"/>
            <a:ext cx="9509760" cy="548640"/>
          </a:xfrm>
          <a:prstGeom prst="rect">
            <a:avLst/>
          </a:prstGeom>
          <a:noFill/>
          <a:ln/>
        </p:spPr>
        <p:txBody>
          <a:bodyPr wrap="square" lIns="0" tIns="0" rIns="0" bIns="0" rtlCol="0" anchor="ctr"/>
          <a:lstStyle/>
          <a:p>
            <a:pPr indent="0" marL="0">
              <a:buNone/>
            </a:pPr>
            <a:r>
              <a:rPr lang="en-US" sz="1300" dirty="0">
                <a:solidFill>
                  <a:srgbClr val="5C6B7A"/>
                </a:solidFill>
                <a:latin typeface="Arial" pitchFamily="34" charset="0"/>
                <a:ea typeface="Arial" pitchFamily="34" charset="-122"/>
                <a:cs typeface="Arial" pitchFamily="34" charset="-120"/>
              </a:rPr>
              <a:t>Trust as a willingness to be vulnerable — a behavioral disposition, not just a feeling. Anchors the three pillars: ability, benevolence, integrity.</a:t>
            </a:r>
            <a:endParaRPr lang="en-US" sz="1300" dirty="0"/>
          </a:p>
        </p:txBody>
      </p:sp>
      <p:sp>
        <p:nvSpPr>
          <p:cNvPr id="9" name="Shape 6"/>
          <p:cNvSpPr/>
          <p:nvPr/>
        </p:nvSpPr>
        <p:spPr>
          <a:xfrm>
            <a:off x="640080" y="3154680"/>
            <a:ext cx="10881360" cy="1325880"/>
          </a:xfrm>
          <a:prstGeom prst="roundRect">
            <a:avLst>
              <a:gd name="adj" fmla="val 6207"/>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0" name="Shape 7"/>
          <p:cNvSpPr/>
          <p:nvPr/>
        </p:nvSpPr>
        <p:spPr>
          <a:xfrm>
            <a:off x="914400" y="3538728"/>
            <a:ext cx="566928" cy="566928"/>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1" name="Image 1" descr="preencoded.png">    </p:cNvPr>
          <p:cNvPicPr>
            <a:picLocks noChangeAspect="1"/>
          </p:cNvPicPr>
          <p:nvPr/>
        </p:nvPicPr>
        <p:blipFill>
          <a:blip r:embed="rId2"/>
          <a:stretch>
            <a:fillRect/>
          </a:stretch>
        </p:blipFill>
        <p:spPr>
          <a:xfrm>
            <a:off x="1061801" y="3686129"/>
            <a:ext cx="272125" cy="272125"/>
          </a:xfrm>
          <a:prstGeom prst="rect">
            <a:avLst/>
          </a:prstGeom>
        </p:spPr>
      </p:pic>
      <p:sp>
        <p:nvSpPr>
          <p:cNvPr id="12" name="Text 8"/>
          <p:cNvSpPr/>
          <p:nvPr/>
        </p:nvSpPr>
        <p:spPr>
          <a:xfrm>
            <a:off x="1737360" y="3355848"/>
            <a:ext cx="9509760" cy="36576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Edmondson (1999)</a:t>
            </a:r>
            <a:endParaRPr lang="en-US" sz="1700" dirty="0"/>
          </a:p>
        </p:txBody>
      </p:sp>
      <p:sp>
        <p:nvSpPr>
          <p:cNvPr id="13" name="Text 9"/>
          <p:cNvSpPr/>
          <p:nvPr/>
        </p:nvSpPr>
        <p:spPr>
          <a:xfrm>
            <a:off x="1737360" y="3758184"/>
            <a:ext cx="9509760" cy="548640"/>
          </a:xfrm>
          <a:prstGeom prst="rect">
            <a:avLst/>
          </a:prstGeom>
          <a:noFill/>
          <a:ln/>
        </p:spPr>
        <p:txBody>
          <a:bodyPr wrap="square" lIns="0" tIns="0" rIns="0" bIns="0" rtlCol="0" anchor="ctr"/>
          <a:lstStyle/>
          <a:p>
            <a:pPr indent="0" marL="0">
              <a:buNone/>
            </a:pPr>
            <a:r>
              <a:rPr lang="en-US" sz="1300" dirty="0">
                <a:solidFill>
                  <a:srgbClr val="5C6B7A"/>
                </a:solidFill>
                <a:latin typeface="Arial" pitchFamily="34" charset="0"/>
                <a:ea typeface="Arial" pitchFamily="34" charset="-122"/>
                <a:cs typeface="Arial" pitchFamily="34" charset="-120"/>
              </a:rPr>
              <a:t>Psychological safety in work teams. Her validated seven-item scale is our target instrument for convergent validation.</a:t>
            </a:r>
            <a:endParaRPr lang="en-US" sz="1300" dirty="0"/>
          </a:p>
        </p:txBody>
      </p:sp>
      <p:sp>
        <p:nvSpPr>
          <p:cNvPr id="14" name="Shape 10"/>
          <p:cNvSpPr/>
          <p:nvPr/>
        </p:nvSpPr>
        <p:spPr>
          <a:xfrm>
            <a:off x="640080" y="4617720"/>
            <a:ext cx="10881360" cy="1325880"/>
          </a:xfrm>
          <a:prstGeom prst="roundRect">
            <a:avLst>
              <a:gd name="adj" fmla="val 6207"/>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5" name="Shape 11"/>
          <p:cNvSpPr/>
          <p:nvPr/>
        </p:nvSpPr>
        <p:spPr>
          <a:xfrm>
            <a:off x="914400" y="5001768"/>
            <a:ext cx="566928" cy="566928"/>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6" name="Image 2" descr="preencoded.png">    </p:cNvPr>
          <p:cNvPicPr>
            <a:picLocks noChangeAspect="1"/>
          </p:cNvPicPr>
          <p:nvPr/>
        </p:nvPicPr>
        <p:blipFill>
          <a:blip r:embed="rId3"/>
          <a:stretch>
            <a:fillRect/>
          </a:stretch>
        </p:blipFill>
        <p:spPr>
          <a:xfrm>
            <a:off x="1061801" y="5149169"/>
            <a:ext cx="272125" cy="272125"/>
          </a:xfrm>
          <a:prstGeom prst="rect">
            <a:avLst/>
          </a:prstGeom>
        </p:spPr>
      </p:pic>
      <p:sp>
        <p:nvSpPr>
          <p:cNvPr id="17" name="Text 12"/>
          <p:cNvSpPr/>
          <p:nvPr/>
        </p:nvSpPr>
        <p:spPr>
          <a:xfrm>
            <a:off x="1737360" y="4818888"/>
            <a:ext cx="9509760" cy="36576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Dirks &amp; Ferrin (2002)</a:t>
            </a:r>
            <a:endParaRPr lang="en-US" sz="1700" dirty="0"/>
          </a:p>
        </p:txBody>
      </p:sp>
      <p:sp>
        <p:nvSpPr>
          <p:cNvPr id="18" name="Text 13"/>
          <p:cNvSpPr/>
          <p:nvPr/>
        </p:nvSpPr>
        <p:spPr>
          <a:xfrm>
            <a:off x="1737360" y="5221224"/>
            <a:ext cx="9509760" cy="548640"/>
          </a:xfrm>
          <a:prstGeom prst="rect">
            <a:avLst/>
          </a:prstGeom>
          <a:noFill/>
          <a:ln/>
        </p:spPr>
        <p:txBody>
          <a:bodyPr wrap="square" lIns="0" tIns="0" rIns="0" bIns="0" rtlCol="0" anchor="ctr"/>
          <a:lstStyle/>
          <a:p>
            <a:pPr indent="0" marL="0">
              <a:buNone/>
            </a:pPr>
            <a:r>
              <a:rPr lang="en-US" sz="1300" dirty="0">
                <a:solidFill>
                  <a:srgbClr val="5C6B7A"/>
                </a:solidFill>
                <a:latin typeface="Arial" pitchFamily="34" charset="0"/>
                <a:ea typeface="Arial" pitchFamily="34" charset="-122"/>
                <a:cs typeface="Arial" pitchFamily="34" charset="-120"/>
              </a:rPr>
              <a:t>Meta-analytic evidence linking trust to team performance and responsiveness — supports responsiveness as a downstream signal.</a:t>
            </a:r>
            <a:endParaRPr lang="en-US" sz="1300" dirty="0"/>
          </a:p>
        </p:txBody>
      </p:sp>
      <p:sp>
        <p:nvSpPr>
          <p:cNvPr id="19" name="Text 14"/>
          <p:cNvSpPr/>
          <p:nvPr/>
        </p:nvSpPr>
        <p:spPr>
          <a:xfrm>
            <a:off x="640080" y="6172200"/>
            <a:ext cx="10881360" cy="320040"/>
          </a:xfrm>
          <a:prstGeom prst="rect">
            <a:avLst/>
          </a:prstGeom>
          <a:noFill/>
          <a:ln/>
        </p:spPr>
        <p:txBody>
          <a:bodyPr wrap="square" lIns="0" tIns="0" rIns="0" bIns="0" rtlCol="0" anchor="ctr"/>
          <a:lstStyle/>
          <a:p>
            <a:pPr algn="ctr" indent="0" marL="0">
              <a:buNone/>
            </a:pPr>
            <a:r>
              <a:rPr lang="en-US" sz="1150" i="1" dirty="0">
                <a:solidFill>
                  <a:srgbClr val="5C6B7A"/>
                </a:solidFill>
                <a:latin typeface="Arial" pitchFamily="34" charset="0"/>
                <a:ea typeface="Arial" pitchFamily="34" charset="-122"/>
                <a:cs typeface="Arial" pitchFamily="34" charset="-120"/>
              </a:rPr>
              <a:t>Construct-validity framework: Cronbach &amp; Meehl (1955) · MacKenzie et al. (2011) · Chan (1998) · Podsakoff et al. (2003)</a:t>
            </a:r>
            <a:endParaRPr lang="en-US" sz="1150" dirty="0"/>
          </a:p>
        </p:txBody>
      </p:sp>
      <p:sp>
        <p:nvSpPr>
          <p:cNvPr id="20" name="Text 15"/>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243F"/>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algn="l" indent="0" marL="0">
              <a:buNone/>
            </a:pPr>
            <a:r>
              <a:rPr lang="en-US" sz="1200" b="1" spc="300" kern="0" dirty="0">
                <a:solidFill>
                  <a:srgbClr val="00A896"/>
                </a:solidFill>
                <a:latin typeface="Arial" pitchFamily="34" charset="0"/>
                <a:ea typeface="Arial" pitchFamily="34" charset="-122"/>
                <a:cs typeface="Arial" pitchFamily="34" charset="-120"/>
              </a:rPr>
              <a:t>HOW IT WORKS</a:t>
            </a:r>
            <a:endParaRPr lang="en-US" sz="1200" dirty="0"/>
          </a:p>
        </p:txBody>
      </p:sp>
      <p:sp>
        <p:nvSpPr>
          <p:cNvPr id="3" name="Text 1"/>
          <p:cNvSpPr/>
          <p:nvPr/>
        </p:nvSpPr>
        <p:spPr>
          <a:xfrm>
            <a:off x="640080" y="777240"/>
            <a:ext cx="10972800" cy="822960"/>
          </a:xfrm>
          <a:prstGeom prst="rect">
            <a:avLst/>
          </a:prstGeom>
          <a:noFill/>
          <a:ln/>
        </p:spPr>
        <p:txBody>
          <a:bodyPr wrap="square" lIns="0" tIns="0" rIns="0" bIns="0" rtlCol="0" anchor="ctr"/>
          <a:lstStyle/>
          <a:p>
            <a:pPr algn="l" indent="0" marL="0">
              <a:buNone/>
            </a:pPr>
            <a:r>
              <a:rPr lang="en-US" sz="3200" b="1" dirty="0">
                <a:solidFill>
                  <a:srgbClr val="FFFFFF"/>
                </a:solidFill>
                <a:latin typeface="Georgia" pitchFamily="34" charset="0"/>
                <a:ea typeface="Georgia" pitchFamily="34" charset="-122"/>
                <a:cs typeface="Georgia" pitchFamily="34" charset="-120"/>
              </a:rPr>
              <a:t>One pipeline, raw exports to a scored outcome</a:t>
            </a:r>
            <a:endParaRPr lang="en-US" sz="3200" dirty="0"/>
          </a:p>
        </p:txBody>
      </p:sp>
      <p:sp>
        <p:nvSpPr>
          <p:cNvPr id="4" name="Shape 2"/>
          <p:cNvSpPr/>
          <p:nvPr/>
        </p:nvSpPr>
        <p:spPr>
          <a:xfrm>
            <a:off x="640080" y="2240280"/>
            <a:ext cx="1673352" cy="2468880"/>
          </a:xfrm>
          <a:prstGeom prst="roundRect">
            <a:avLst>
              <a:gd name="adj" fmla="val 4918"/>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1129284" y="2514600"/>
            <a:ext cx="694944" cy="694944"/>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r>
          <p:cNvPicPr>
            <a:picLocks noChangeAspect="1"/>
          </p:cNvPicPr>
          <p:nvPr/>
        </p:nvPicPr>
        <p:blipFill>
          <a:blip r:embed="rId1"/>
          <a:stretch>
            <a:fillRect/>
          </a:stretch>
        </p:blipFill>
        <p:spPr>
          <a:xfrm>
            <a:off x="1309969" y="2695285"/>
            <a:ext cx="333573" cy="333573"/>
          </a:xfrm>
          <a:prstGeom prst="rect">
            <a:avLst/>
          </a:prstGeom>
        </p:spPr>
      </p:pic>
      <p:sp>
        <p:nvSpPr>
          <p:cNvPr id="7" name="Text 4"/>
          <p:cNvSpPr/>
          <p:nvPr/>
        </p:nvSpPr>
        <p:spPr>
          <a:xfrm>
            <a:off x="640080" y="3291840"/>
            <a:ext cx="1673352" cy="274320"/>
          </a:xfrm>
          <a:prstGeom prst="rect">
            <a:avLst/>
          </a:prstGeom>
          <a:noFill/>
          <a:ln/>
        </p:spPr>
        <p:txBody>
          <a:bodyPr wrap="square" lIns="0" tIns="0" rIns="0" bIns="0" rtlCol="0" anchor="ctr"/>
          <a:lstStyle/>
          <a:p>
            <a:pPr algn="ctr" indent="0" marL="0">
              <a:buNone/>
            </a:pPr>
            <a:r>
              <a:rPr lang="en-US" sz="1100" b="1" dirty="0">
                <a:solidFill>
                  <a:srgbClr val="00A896"/>
                </a:solidFill>
                <a:latin typeface="Arial" pitchFamily="34" charset="0"/>
                <a:ea typeface="Arial" pitchFamily="34" charset="-122"/>
                <a:cs typeface="Arial" pitchFamily="34" charset="-120"/>
              </a:rPr>
              <a:t>01</a:t>
            </a:r>
            <a:endParaRPr lang="en-US" sz="1100" dirty="0"/>
          </a:p>
        </p:txBody>
      </p:sp>
      <p:sp>
        <p:nvSpPr>
          <p:cNvPr id="8" name="Text 5"/>
          <p:cNvSpPr/>
          <p:nvPr/>
        </p:nvSpPr>
        <p:spPr>
          <a:xfrm>
            <a:off x="640080" y="3566160"/>
            <a:ext cx="1673352"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Ingest</a:t>
            </a:r>
            <a:endParaRPr lang="en-US" sz="1500" dirty="0"/>
          </a:p>
        </p:txBody>
      </p:sp>
      <p:sp>
        <p:nvSpPr>
          <p:cNvPr id="9" name="Text 6"/>
          <p:cNvSpPr/>
          <p:nvPr/>
        </p:nvSpPr>
        <p:spPr>
          <a:xfrm>
            <a:off x="731520" y="3950208"/>
            <a:ext cx="1490472" cy="685800"/>
          </a:xfrm>
          <a:prstGeom prst="rect">
            <a:avLst/>
          </a:prstGeom>
          <a:noFill/>
          <a:ln/>
        </p:spPr>
        <p:txBody>
          <a:bodyPr wrap="square" lIns="0" tIns="0" rIns="0" bIns="0" rtlCol="0" anchor="ctr"/>
          <a:lstStyle/>
          <a:p>
            <a:pPr algn="ctr" indent="0" marL="0">
              <a:buNone/>
            </a:pPr>
            <a:r>
              <a:rPr lang="en-US" sz="1100" dirty="0">
                <a:solidFill>
                  <a:srgbClr val="B9C9DA"/>
                </a:solidFill>
                <a:latin typeface="Arial" pitchFamily="34" charset="0"/>
                <a:ea typeface="Arial" pitchFamily="34" charset="-122"/>
                <a:cs typeface="Arial" pitchFamily="34" charset="-120"/>
              </a:rPr>
              <a:t>Slack / Teams / Outlook CSV exports</a:t>
            </a:r>
            <a:endParaRPr lang="en-US" sz="1100" dirty="0"/>
          </a:p>
        </p:txBody>
      </p:sp>
      <p:sp>
        <p:nvSpPr>
          <p:cNvPr id="10" name="Text 7"/>
          <p:cNvSpPr/>
          <p:nvPr/>
        </p:nvSpPr>
        <p:spPr>
          <a:xfrm>
            <a:off x="2242109" y="3063240"/>
            <a:ext cx="329184" cy="457200"/>
          </a:xfrm>
          <a:prstGeom prst="rect">
            <a:avLst/>
          </a:prstGeom>
          <a:noFill/>
          <a:ln/>
        </p:spPr>
        <p:txBody>
          <a:bodyPr wrap="square" lIns="0" tIns="0" rIns="0" bIns="0" rtlCol="0" anchor="ctr"/>
          <a:lstStyle/>
          <a:p>
            <a:pPr algn="ctr" indent="0" marL="0">
              <a:buNone/>
            </a:pPr>
            <a:r>
              <a:rPr lang="en-US" sz="2600" b="1" dirty="0">
                <a:solidFill>
                  <a:srgbClr val="00A896"/>
                </a:solidFill>
                <a:latin typeface="Arial" pitchFamily="34" charset="0"/>
                <a:ea typeface="Arial" pitchFamily="34" charset="-122"/>
                <a:cs typeface="Arial" pitchFamily="34" charset="-120"/>
              </a:rPr>
              <a:t>›</a:t>
            </a:r>
            <a:endParaRPr lang="en-US" sz="2600" dirty="0"/>
          </a:p>
        </p:txBody>
      </p:sp>
      <p:sp>
        <p:nvSpPr>
          <p:cNvPr id="11" name="Shape 8"/>
          <p:cNvSpPr/>
          <p:nvPr/>
        </p:nvSpPr>
        <p:spPr>
          <a:xfrm>
            <a:off x="2499970" y="2240280"/>
            <a:ext cx="1673352" cy="2468880"/>
          </a:xfrm>
          <a:prstGeom prst="roundRect">
            <a:avLst>
              <a:gd name="adj" fmla="val 4918"/>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2" name="Shape 9"/>
          <p:cNvSpPr/>
          <p:nvPr/>
        </p:nvSpPr>
        <p:spPr>
          <a:xfrm>
            <a:off x="2989174" y="2514600"/>
            <a:ext cx="694944" cy="694944"/>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3" name="Image 1" descr="preencoded.png">    </p:cNvPr>
          <p:cNvPicPr>
            <a:picLocks noChangeAspect="1"/>
          </p:cNvPicPr>
          <p:nvPr/>
        </p:nvPicPr>
        <p:blipFill>
          <a:blip r:embed="rId2"/>
          <a:stretch>
            <a:fillRect/>
          </a:stretch>
        </p:blipFill>
        <p:spPr>
          <a:xfrm>
            <a:off x="3169859" y="2695285"/>
            <a:ext cx="333573" cy="333573"/>
          </a:xfrm>
          <a:prstGeom prst="rect">
            <a:avLst/>
          </a:prstGeom>
        </p:spPr>
      </p:pic>
      <p:sp>
        <p:nvSpPr>
          <p:cNvPr id="14" name="Text 10"/>
          <p:cNvSpPr/>
          <p:nvPr/>
        </p:nvSpPr>
        <p:spPr>
          <a:xfrm>
            <a:off x="2499970" y="3291840"/>
            <a:ext cx="1673352" cy="274320"/>
          </a:xfrm>
          <a:prstGeom prst="rect">
            <a:avLst/>
          </a:prstGeom>
          <a:noFill/>
          <a:ln/>
        </p:spPr>
        <p:txBody>
          <a:bodyPr wrap="square" lIns="0" tIns="0" rIns="0" bIns="0" rtlCol="0" anchor="ctr"/>
          <a:lstStyle/>
          <a:p>
            <a:pPr algn="ctr" indent="0" marL="0">
              <a:buNone/>
            </a:pPr>
            <a:r>
              <a:rPr lang="en-US" sz="1100" b="1" dirty="0">
                <a:solidFill>
                  <a:srgbClr val="00A896"/>
                </a:solidFill>
                <a:latin typeface="Arial" pitchFamily="34" charset="0"/>
                <a:ea typeface="Arial" pitchFamily="34" charset="-122"/>
                <a:cs typeface="Arial" pitchFamily="34" charset="-120"/>
              </a:rPr>
              <a:t>02</a:t>
            </a:r>
            <a:endParaRPr lang="en-US" sz="1100" dirty="0"/>
          </a:p>
        </p:txBody>
      </p:sp>
      <p:sp>
        <p:nvSpPr>
          <p:cNvPr id="15" name="Text 11"/>
          <p:cNvSpPr/>
          <p:nvPr/>
        </p:nvSpPr>
        <p:spPr>
          <a:xfrm>
            <a:off x="2499970" y="3566160"/>
            <a:ext cx="1673352"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Normalize</a:t>
            </a:r>
            <a:endParaRPr lang="en-US" sz="1500" dirty="0"/>
          </a:p>
        </p:txBody>
      </p:sp>
      <p:sp>
        <p:nvSpPr>
          <p:cNvPr id="16" name="Text 12"/>
          <p:cNvSpPr/>
          <p:nvPr/>
        </p:nvSpPr>
        <p:spPr>
          <a:xfrm>
            <a:off x="2591410" y="3950208"/>
            <a:ext cx="1490472" cy="685800"/>
          </a:xfrm>
          <a:prstGeom prst="rect">
            <a:avLst/>
          </a:prstGeom>
          <a:noFill/>
          <a:ln/>
        </p:spPr>
        <p:txBody>
          <a:bodyPr wrap="square" lIns="0" tIns="0" rIns="0" bIns="0" rtlCol="0" anchor="ctr"/>
          <a:lstStyle/>
          <a:p>
            <a:pPr algn="ctr" indent="0" marL="0">
              <a:buNone/>
            </a:pPr>
            <a:r>
              <a:rPr lang="en-US" sz="1100" dirty="0">
                <a:solidFill>
                  <a:srgbClr val="B9C9DA"/>
                </a:solidFill>
                <a:latin typeface="Arial" pitchFamily="34" charset="0"/>
                <a:ea typeface="Arial" pitchFamily="34" charset="-122"/>
                <a:cs typeface="Arial" pitchFamily="34" charset="-120"/>
              </a:rPr>
              <a:t>One unified event schema</a:t>
            </a:r>
            <a:endParaRPr lang="en-US" sz="1100" dirty="0"/>
          </a:p>
        </p:txBody>
      </p:sp>
      <p:sp>
        <p:nvSpPr>
          <p:cNvPr id="17" name="Text 13"/>
          <p:cNvSpPr/>
          <p:nvPr/>
        </p:nvSpPr>
        <p:spPr>
          <a:xfrm>
            <a:off x="4101998" y="3063240"/>
            <a:ext cx="329184" cy="457200"/>
          </a:xfrm>
          <a:prstGeom prst="rect">
            <a:avLst/>
          </a:prstGeom>
          <a:noFill/>
          <a:ln/>
        </p:spPr>
        <p:txBody>
          <a:bodyPr wrap="square" lIns="0" tIns="0" rIns="0" bIns="0" rtlCol="0" anchor="ctr"/>
          <a:lstStyle/>
          <a:p>
            <a:pPr algn="ctr" indent="0" marL="0">
              <a:buNone/>
            </a:pPr>
            <a:r>
              <a:rPr lang="en-US" sz="2600" b="1" dirty="0">
                <a:solidFill>
                  <a:srgbClr val="00A896"/>
                </a:solidFill>
                <a:latin typeface="Arial" pitchFamily="34" charset="0"/>
                <a:ea typeface="Arial" pitchFamily="34" charset="-122"/>
                <a:cs typeface="Arial" pitchFamily="34" charset="-120"/>
              </a:rPr>
              <a:t>›</a:t>
            </a:r>
            <a:endParaRPr lang="en-US" sz="2600" dirty="0"/>
          </a:p>
        </p:txBody>
      </p:sp>
      <p:sp>
        <p:nvSpPr>
          <p:cNvPr id="18" name="Shape 14"/>
          <p:cNvSpPr/>
          <p:nvPr/>
        </p:nvSpPr>
        <p:spPr>
          <a:xfrm>
            <a:off x="4359859" y="2240280"/>
            <a:ext cx="1673352" cy="2468880"/>
          </a:xfrm>
          <a:prstGeom prst="roundRect">
            <a:avLst>
              <a:gd name="adj" fmla="val 4918"/>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9" name="Shape 15"/>
          <p:cNvSpPr/>
          <p:nvPr/>
        </p:nvSpPr>
        <p:spPr>
          <a:xfrm>
            <a:off x="4849063" y="2514600"/>
            <a:ext cx="694944" cy="694944"/>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20" name="Image 2" descr="preencoded.png">    </p:cNvPr>
          <p:cNvPicPr>
            <a:picLocks noChangeAspect="1"/>
          </p:cNvPicPr>
          <p:nvPr/>
        </p:nvPicPr>
        <p:blipFill>
          <a:blip r:embed="rId3"/>
          <a:stretch>
            <a:fillRect/>
          </a:stretch>
        </p:blipFill>
        <p:spPr>
          <a:xfrm>
            <a:off x="5029749" y="2695285"/>
            <a:ext cx="333573" cy="333573"/>
          </a:xfrm>
          <a:prstGeom prst="rect">
            <a:avLst/>
          </a:prstGeom>
        </p:spPr>
      </p:pic>
      <p:sp>
        <p:nvSpPr>
          <p:cNvPr id="21" name="Text 16"/>
          <p:cNvSpPr/>
          <p:nvPr/>
        </p:nvSpPr>
        <p:spPr>
          <a:xfrm>
            <a:off x="4359859" y="3291840"/>
            <a:ext cx="1673352" cy="274320"/>
          </a:xfrm>
          <a:prstGeom prst="rect">
            <a:avLst/>
          </a:prstGeom>
          <a:noFill/>
          <a:ln/>
        </p:spPr>
        <p:txBody>
          <a:bodyPr wrap="square" lIns="0" tIns="0" rIns="0" bIns="0" rtlCol="0" anchor="ctr"/>
          <a:lstStyle/>
          <a:p>
            <a:pPr algn="ctr" indent="0" marL="0">
              <a:buNone/>
            </a:pPr>
            <a:r>
              <a:rPr lang="en-US" sz="1100" b="1" dirty="0">
                <a:solidFill>
                  <a:srgbClr val="00A896"/>
                </a:solidFill>
                <a:latin typeface="Arial" pitchFamily="34" charset="0"/>
                <a:ea typeface="Arial" pitchFamily="34" charset="-122"/>
                <a:cs typeface="Arial" pitchFamily="34" charset="-120"/>
              </a:rPr>
              <a:t>03</a:t>
            </a:r>
            <a:endParaRPr lang="en-US" sz="1100" dirty="0"/>
          </a:p>
        </p:txBody>
      </p:sp>
      <p:sp>
        <p:nvSpPr>
          <p:cNvPr id="22" name="Text 17"/>
          <p:cNvSpPr/>
          <p:nvPr/>
        </p:nvSpPr>
        <p:spPr>
          <a:xfrm>
            <a:off x="4359859" y="3566160"/>
            <a:ext cx="1673352"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Score</a:t>
            </a:r>
            <a:endParaRPr lang="en-US" sz="1500" dirty="0"/>
          </a:p>
        </p:txBody>
      </p:sp>
      <p:sp>
        <p:nvSpPr>
          <p:cNvPr id="23" name="Text 18"/>
          <p:cNvSpPr/>
          <p:nvPr/>
        </p:nvSpPr>
        <p:spPr>
          <a:xfrm>
            <a:off x="4451299" y="3950208"/>
            <a:ext cx="1490472" cy="685800"/>
          </a:xfrm>
          <a:prstGeom prst="rect">
            <a:avLst/>
          </a:prstGeom>
          <a:noFill/>
          <a:ln/>
        </p:spPr>
        <p:txBody>
          <a:bodyPr wrap="square" lIns="0" tIns="0" rIns="0" bIns="0" rtlCol="0" anchor="ctr"/>
          <a:lstStyle/>
          <a:p>
            <a:pPr algn="ctr" indent="0" marL="0">
              <a:buNone/>
            </a:pPr>
            <a:r>
              <a:rPr lang="en-US" sz="1100" dirty="0">
                <a:solidFill>
                  <a:srgbClr val="B9C9DA"/>
                </a:solidFill>
                <a:latin typeface="Arial" pitchFamily="34" charset="0"/>
                <a:ea typeface="Arial" pitchFamily="34" charset="-122"/>
                <a:cs typeface="Arial" pitchFamily="34" charset="-120"/>
              </a:rPr>
              <a:t>EU engine weights every event</a:t>
            </a:r>
            <a:endParaRPr lang="en-US" sz="1100" dirty="0"/>
          </a:p>
        </p:txBody>
      </p:sp>
      <p:sp>
        <p:nvSpPr>
          <p:cNvPr id="24" name="Text 19"/>
          <p:cNvSpPr/>
          <p:nvPr/>
        </p:nvSpPr>
        <p:spPr>
          <a:xfrm>
            <a:off x="5961888" y="3063240"/>
            <a:ext cx="329184" cy="457200"/>
          </a:xfrm>
          <a:prstGeom prst="rect">
            <a:avLst/>
          </a:prstGeom>
          <a:noFill/>
          <a:ln/>
        </p:spPr>
        <p:txBody>
          <a:bodyPr wrap="square" lIns="0" tIns="0" rIns="0" bIns="0" rtlCol="0" anchor="ctr"/>
          <a:lstStyle/>
          <a:p>
            <a:pPr algn="ctr" indent="0" marL="0">
              <a:buNone/>
            </a:pPr>
            <a:r>
              <a:rPr lang="en-US" sz="2600" b="1" dirty="0">
                <a:solidFill>
                  <a:srgbClr val="00A896"/>
                </a:solidFill>
                <a:latin typeface="Arial" pitchFamily="34" charset="0"/>
                <a:ea typeface="Arial" pitchFamily="34" charset="-122"/>
                <a:cs typeface="Arial" pitchFamily="34" charset="-120"/>
              </a:rPr>
              <a:t>›</a:t>
            </a:r>
            <a:endParaRPr lang="en-US" sz="2600" dirty="0"/>
          </a:p>
        </p:txBody>
      </p:sp>
      <p:sp>
        <p:nvSpPr>
          <p:cNvPr id="25" name="Shape 20"/>
          <p:cNvSpPr/>
          <p:nvPr/>
        </p:nvSpPr>
        <p:spPr>
          <a:xfrm>
            <a:off x="6219749" y="2240280"/>
            <a:ext cx="1673352" cy="2468880"/>
          </a:xfrm>
          <a:prstGeom prst="roundRect">
            <a:avLst>
              <a:gd name="adj" fmla="val 4918"/>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6" name="Shape 21"/>
          <p:cNvSpPr/>
          <p:nvPr/>
        </p:nvSpPr>
        <p:spPr>
          <a:xfrm>
            <a:off x="6708953" y="2514600"/>
            <a:ext cx="694944" cy="694944"/>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27" name="Image 3" descr="preencoded.png">    </p:cNvPr>
          <p:cNvPicPr>
            <a:picLocks noChangeAspect="1"/>
          </p:cNvPicPr>
          <p:nvPr/>
        </p:nvPicPr>
        <p:blipFill>
          <a:blip r:embed="rId4"/>
          <a:stretch>
            <a:fillRect/>
          </a:stretch>
        </p:blipFill>
        <p:spPr>
          <a:xfrm>
            <a:off x="6889638" y="2695285"/>
            <a:ext cx="333573" cy="333573"/>
          </a:xfrm>
          <a:prstGeom prst="rect">
            <a:avLst/>
          </a:prstGeom>
        </p:spPr>
      </p:pic>
      <p:sp>
        <p:nvSpPr>
          <p:cNvPr id="28" name="Text 22"/>
          <p:cNvSpPr/>
          <p:nvPr/>
        </p:nvSpPr>
        <p:spPr>
          <a:xfrm>
            <a:off x="6219749" y="3291840"/>
            <a:ext cx="1673352" cy="274320"/>
          </a:xfrm>
          <a:prstGeom prst="rect">
            <a:avLst/>
          </a:prstGeom>
          <a:noFill/>
          <a:ln/>
        </p:spPr>
        <p:txBody>
          <a:bodyPr wrap="square" lIns="0" tIns="0" rIns="0" bIns="0" rtlCol="0" anchor="ctr"/>
          <a:lstStyle/>
          <a:p>
            <a:pPr algn="ctr" indent="0" marL="0">
              <a:buNone/>
            </a:pPr>
            <a:r>
              <a:rPr lang="en-US" sz="1100" b="1" dirty="0">
                <a:solidFill>
                  <a:srgbClr val="00A896"/>
                </a:solidFill>
                <a:latin typeface="Arial" pitchFamily="34" charset="0"/>
                <a:ea typeface="Arial" pitchFamily="34" charset="-122"/>
                <a:cs typeface="Arial" pitchFamily="34" charset="-120"/>
              </a:rPr>
              <a:t>04</a:t>
            </a:r>
            <a:endParaRPr lang="en-US" sz="1100" dirty="0"/>
          </a:p>
        </p:txBody>
      </p:sp>
      <p:sp>
        <p:nvSpPr>
          <p:cNvPr id="29" name="Text 23"/>
          <p:cNvSpPr/>
          <p:nvPr/>
        </p:nvSpPr>
        <p:spPr>
          <a:xfrm>
            <a:off x="6219749" y="3566160"/>
            <a:ext cx="1673352"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Roll up</a:t>
            </a:r>
            <a:endParaRPr lang="en-US" sz="1500" dirty="0"/>
          </a:p>
        </p:txBody>
      </p:sp>
      <p:sp>
        <p:nvSpPr>
          <p:cNvPr id="30" name="Text 24"/>
          <p:cNvSpPr/>
          <p:nvPr/>
        </p:nvSpPr>
        <p:spPr>
          <a:xfrm>
            <a:off x="6311189" y="3950208"/>
            <a:ext cx="1490472" cy="685800"/>
          </a:xfrm>
          <a:prstGeom prst="rect">
            <a:avLst/>
          </a:prstGeom>
          <a:noFill/>
          <a:ln/>
        </p:spPr>
        <p:txBody>
          <a:bodyPr wrap="square" lIns="0" tIns="0" rIns="0" bIns="0" rtlCol="0" anchor="ctr"/>
          <a:lstStyle/>
          <a:p>
            <a:pPr algn="ctr" indent="0" marL="0">
              <a:buNone/>
            </a:pPr>
            <a:r>
              <a:rPr lang="en-US" sz="1100" dirty="0">
                <a:solidFill>
                  <a:srgbClr val="B9C9DA"/>
                </a:solidFill>
                <a:latin typeface="Arial" pitchFamily="34" charset="0"/>
                <a:ea typeface="Arial" pitchFamily="34" charset="-122"/>
                <a:cs typeface="Arial" pitchFamily="34" charset="-120"/>
              </a:rPr>
              <a:t>Daily team-level features</a:t>
            </a:r>
            <a:endParaRPr lang="en-US" sz="1100" dirty="0"/>
          </a:p>
        </p:txBody>
      </p:sp>
      <p:sp>
        <p:nvSpPr>
          <p:cNvPr id="31" name="Text 25"/>
          <p:cNvSpPr/>
          <p:nvPr/>
        </p:nvSpPr>
        <p:spPr>
          <a:xfrm>
            <a:off x="7821778" y="3063240"/>
            <a:ext cx="329184" cy="457200"/>
          </a:xfrm>
          <a:prstGeom prst="rect">
            <a:avLst/>
          </a:prstGeom>
          <a:noFill/>
          <a:ln/>
        </p:spPr>
        <p:txBody>
          <a:bodyPr wrap="square" lIns="0" tIns="0" rIns="0" bIns="0" rtlCol="0" anchor="ctr"/>
          <a:lstStyle/>
          <a:p>
            <a:pPr algn="ctr" indent="0" marL="0">
              <a:buNone/>
            </a:pPr>
            <a:r>
              <a:rPr lang="en-US" sz="2600" b="1" dirty="0">
                <a:solidFill>
                  <a:srgbClr val="00A896"/>
                </a:solidFill>
                <a:latin typeface="Arial" pitchFamily="34" charset="0"/>
                <a:ea typeface="Arial" pitchFamily="34" charset="-122"/>
                <a:cs typeface="Arial" pitchFamily="34" charset="-120"/>
              </a:rPr>
              <a:t>›</a:t>
            </a:r>
            <a:endParaRPr lang="en-US" sz="2600" dirty="0"/>
          </a:p>
        </p:txBody>
      </p:sp>
      <p:sp>
        <p:nvSpPr>
          <p:cNvPr id="32" name="Shape 26"/>
          <p:cNvSpPr/>
          <p:nvPr/>
        </p:nvSpPr>
        <p:spPr>
          <a:xfrm>
            <a:off x="8079638" y="2240280"/>
            <a:ext cx="1673352" cy="2468880"/>
          </a:xfrm>
          <a:prstGeom prst="roundRect">
            <a:avLst>
              <a:gd name="adj" fmla="val 4918"/>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33" name="Shape 27"/>
          <p:cNvSpPr/>
          <p:nvPr/>
        </p:nvSpPr>
        <p:spPr>
          <a:xfrm>
            <a:off x="8568842" y="2514600"/>
            <a:ext cx="694944" cy="694944"/>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34" name="Image 4" descr="preencoded.png">    </p:cNvPr>
          <p:cNvPicPr>
            <a:picLocks noChangeAspect="1"/>
          </p:cNvPicPr>
          <p:nvPr/>
        </p:nvPicPr>
        <p:blipFill>
          <a:blip r:embed="rId5"/>
          <a:stretch>
            <a:fillRect/>
          </a:stretch>
        </p:blipFill>
        <p:spPr>
          <a:xfrm>
            <a:off x="8749528" y="2695285"/>
            <a:ext cx="333573" cy="333573"/>
          </a:xfrm>
          <a:prstGeom prst="rect">
            <a:avLst/>
          </a:prstGeom>
        </p:spPr>
      </p:pic>
      <p:sp>
        <p:nvSpPr>
          <p:cNvPr id="35" name="Text 28"/>
          <p:cNvSpPr/>
          <p:nvPr/>
        </p:nvSpPr>
        <p:spPr>
          <a:xfrm>
            <a:off x="8079638" y="3291840"/>
            <a:ext cx="1673352" cy="274320"/>
          </a:xfrm>
          <a:prstGeom prst="rect">
            <a:avLst/>
          </a:prstGeom>
          <a:noFill/>
          <a:ln/>
        </p:spPr>
        <p:txBody>
          <a:bodyPr wrap="square" lIns="0" tIns="0" rIns="0" bIns="0" rtlCol="0" anchor="ctr"/>
          <a:lstStyle/>
          <a:p>
            <a:pPr algn="ctr" indent="0" marL="0">
              <a:buNone/>
            </a:pPr>
            <a:r>
              <a:rPr lang="en-US" sz="1100" b="1" dirty="0">
                <a:solidFill>
                  <a:srgbClr val="00A896"/>
                </a:solidFill>
                <a:latin typeface="Arial" pitchFamily="34" charset="0"/>
                <a:ea typeface="Arial" pitchFamily="34" charset="-122"/>
                <a:cs typeface="Arial" pitchFamily="34" charset="-120"/>
              </a:rPr>
              <a:t>05</a:t>
            </a:r>
            <a:endParaRPr lang="en-US" sz="1100" dirty="0"/>
          </a:p>
        </p:txBody>
      </p:sp>
      <p:sp>
        <p:nvSpPr>
          <p:cNvPr id="36" name="Text 29"/>
          <p:cNvSpPr/>
          <p:nvPr/>
        </p:nvSpPr>
        <p:spPr>
          <a:xfrm>
            <a:off x="8079638" y="3566160"/>
            <a:ext cx="1673352"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Model</a:t>
            </a:r>
            <a:endParaRPr lang="en-US" sz="1500" dirty="0"/>
          </a:p>
        </p:txBody>
      </p:sp>
      <p:sp>
        <p:nvSpPr>
          <p:cNvPr id="37" name="Text 30"/>
          <p:cNvSpPr/>
          <p:nvPr/>
        </p:nvSpPr>
        <p:spPr>
          <a:xfrm>
            <a:off x="8171078" y="3950208"/>
            <a:ext cx="1490472" cy="685800"/>
          </a:xfrm>
          <a:prstGeom prst="rect">
            <a:avLst/>
          </a:prstGeom>
          <a:noFill/>
          <a:ln/>
        </p:spPr>
        <p:txBody>
          <a:bodyPr wrap="square" lIns="0" tIns="0" rIns="0" bIns="0" rtlCol="0" anchor="ctr"/>
          <a:lstStyle/>
          <a:p>
            <a:pPr algn="ctr" indent="0" marL="0">
              <a:buNone/>
            </a:pPr>
            <a:r>
              <a:rPr lang="en-US" sz="1100" dirty="0">
                <a:solidFill>
                  <a:srgbClr val="B9C9DA"/>
                </a:solidFill>
                <a:latin typeface="Arial" pitchFamily="34" charset="0"/>
                <a:ea typeface="Arial" pitchFamily="34" charset="-122"/>
                <a:cs typeface="Arial" pitchFamily="34" charset="-120"/>
              </a:rPr>
              <a:t>Ridge regression</a:t>
            </a:r>
            <a:endParaRPr lang="en-US" sz="1100" dirty="0"/>
          </a:p>
        </p:txBody>
      </p:sp>
      <p:sp>
        <p:nvSpPr>
          <p:cNvPr id="38" name="Text 31"/>
          <p:cNvSpPr/>
          <p:nvPr/>
        </p:nvSpPr>
        <p:spPr>
          <a:xfrm>
            <a:off x="9681667" y="3063240"/>
            <a:ext cx="329184" cy="457200"/>
          </a:xfrm>
          <a:prstGeom prst="rect">
            <a:avLst/>
          </a:prstGeom>
          <a:noFill/>
          <a:ln/>
        </p:spPr>
        <p:txBody>
          <a:bodyPr wrap="square" lIns="0" tIns="0" rIns="0" bIns="0" rtlCol="0" anchor="ctr"/>
          <a:lstStyle/>
          <a:p>
            <a:pPr algn="ctr" indent="0" marL="0">
              <a:buNone/>
            </a:pPr>
            <a:r>
              <a:rPr lang="en-US" sz="2600" b="1" dirty="0">
                <a:solidFill>
                  <a:srgbClr val="00A896"/>
                </a:solidFill>
                <a:latin typeface="Arial" pitchFamily="34" charset="0"/>
                <a:ea typeface="Arial" pitchFamily="34" charset="-122"/>
                <a:cs typeface="Arial" pitchFamily="34" charset="-120"/>
              </a:rPr>
              <a:t>›</a:t>
            </a:r>
            <a:endParaRPr lang="en-US" sz="2600" dirty="0"/>
          </a:p>
        </p:txBody>
      </p:sp>
      <p:sp>
        <p:nvSpPr>
          <p:cNvPr id="39" name="Shape 32"/>
          <p:cNvSpPr/>
          <p:nvPr/>
        </p:nvSpPr>
        <p:spPr>
          <a:xfrm>
            <a:off x="9939528" y="2240280"/>
            <a:ext cx="1673352" cy="2468880"/>
          </a:xfrm>
          <a:prstGeom prst="roundRect">
            <a:avLst>
              <a:gd name="adj" fmla="val 4918"/>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40" name="Shape 33"/>
          <p:cNvSpPr/>
          <p:nvPr/>
        </p:nvSpPr>
        <p:spPr>
          <a:xfrm>
            <a:off x="10428732" y="2514600"/>
            <a:ext cx="694944" cy="694944"/>
          </a:xfrm>
          <a:prstGeom prst="ellipse">
            <a:avLst/>
          </a:prstGeom>
          <a:solidFill>
            <a:srgbClr val="02C39A"/>
          </a:solidFill>
          <a:ln/>
          <a:effectLst>
            <a:outerShdw sx="100000" sy="100000" kx="0" ky="0" algn="bl" rotWithShape="0" blurRad="114300" dist="38100" dir="5400000">
              <a:srgbClr val="0A1A2E">
                <a:alpha val="16000"/>
              </a:srgbClr>
            </a:outerShdw>
          </a:effectLst>
        </p:spPr>
      </p:sp>
      <p:pic>
        <p:nvPicPr>
          <p:cNvPr id="41" name="Image 5" descr="preencoded.png">    </p:cNvPr>
          <p:cNvPicPr>
            <a:picLocks noChangeAspect="1"/>
          </p:cNvPicPr>
          <p:nvPr/>
        </p:nvPicPr>
        <p:blipFill>
          <a:blip r:embed="rId6"/>
          <a:stretch>
            <a:fillRect/>
          </a:stretch>
        </p:blipFill>
        <p:spPr>
          <a:xfrm>
            <a:off x="10609417" y="2695285"/>
            <a:ext cx="333573" cy="333573"/>
          </a:xfrm>
          <a:prstGeom prst="rect">
            <a:avLst/>
          </a:prstGeom>
        </p:spPr>
      </p:pic>
      <p:sp>
        <p:nvSpPr>
          <p:cNvPr id="42" name="Text 34"/>
          <p:cNvSpPr/>
          <p:nvPr/>
        </p:nvSpPr>
        <p:spPr>
          <a:xfrm>
            <a:off x="9939528" y="3291840"/>
            <a:ext cx="1673352" cy="274320"/>
          </a:xfrm>
          <a:prstGeom prst="rect">
            <a:avLst/>
          </a:prstGeom>
          <a:noFill/>
          <a:ln/>
        </p:spPr>
        <p:txBody>
          <a:bodyPr wrap="square" lIns="0" tIns="0" rIns="0" bIns="0" rtlCol="0" anchor="ctr"/>
          <a:lstStyle/>
          <a:p>
            <a:pPr algn="ctr" indent="0" marL="0">
              <a:buNone/>
            </a:pPr>
            <a:r>
              <a:rPr lang="en-US" sz="1100" b="1" dirty="0">
                <a:solidFill>
                  <a:srgbClr val="00A896"/>
                </a:solidFill>
                <a:latin typeface="Arial" pitchFamily="34" charset="0"/>
                <a:ea typeface="Arial" pitchFamily="34" charset="-122"/>
                <a:cs typeface="Arial" pitchFamily="34" charset="-120"/>
              </a:rPr>
              <a:t>06</a:t>
            </a:r>
            <a:endParaRPr lang="en-US" sz="1100" dirty="0"/>
          </a:p>
        </p:txBody>
      </p:sp>
      <p:sp>
        <p:nvSpPr>
          <p:cNvPr id="43" name="Text 35"/>
          <p:cNvSpPr/>
          <p:nvPr/>
        </p:nvSpPr>
        <p:spPr>
          <a:xfrm>
            <a:off x="9939528" y="3566160"/>
            <a:ext cx="1673352"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Outcome</a:t>
            </a:r>
            <a:endParaRPr lang="en-US" sz="1500" dirty="0"/>
          </a:p>
        </p:txBody>
      </p:sp>
      <p:sp>
        <p:nvSpPr>
          <p:cNvPr id="44" name="Text 36"/>
          <p:cNvSpPr/>
          <p:nvPr/>
        </p:nvSpPr>
        <p:spPr>
          <a:xfrm>
            <a:off x="10030968" y="3950208"/>
            <a:ext cx="1490472" cy="685800"/>
          </a:xfrm>
          <a:prstGeom prst="rect">
            <a:avLst/>
          </a:prstGeom>
          <a:noFill/>
          <a:ln/>
        </p:spPr>
        <p:txBody>
          <a:bodyPr wrap="square" lIns="0" tIns="0" rIns="0" bIns="0" rtlCol="0" anchor="ctr"/>
          <a:lstStyle/>
          <a:p>
            <a:pPr algn="ctr" indent="0" marL="0">
              <a:buNone/>
            </a:pPr>
            <a:r>
              <a:rPr lang="en-US" sz="1100" dirty="0">
                <a:solidFill>
                  <a:srgbClr val="B9C9DA"/>
                </a:solidFill>
                <a:latin typeface="Arial" pitchFamily="34" charset="0"/>
                <a:ea typeface="Arial" pitchFamily="34" charset="-122"/>
                <a:cs typeface="Arial" pitchFamily="34" charset="-120"/>
              </a:rPr>
              <a:t>Predicts responsiveness</a:t>
            </a:r>
            <a:endParaRPr lang="en-US" sz="1100" dirty="0"/>
          </a:p>
        </p:txBody>
      </p:sp>
      <p:sp>
        <p:nvSpPr>
          <p:cNvPr id="45" name="Text 37"/>
          <p:cNvSpPr/>
          <p:nvPr/>
        </p:nvSpPr>
        <p:spPr>
          <a:xfrm>
            <a:off x="640080" y="5029200"/>
            <a:ext cx="10972800" cy="457200"/>
          </a:xfrm>
          <a:prstGeom prst="rect">
            <a:avLst/>
          </a:prstGeom>
          <a:noFill/>
          <a:ln/>
        </p:spPr>
        <p:txBody>
          <a:bodyPr wrap="square" lIns="0" tIns="0" rIns="0" bIns="0" rtlCol="0" anchor="ctr"/>
          <a:lstStyle/>
          <a:p>
            <a:pPr algn="ctr" indent="0" marL="0">
              <a:buNone/>
            </a:pPr>
            <a:r>
              <a:rPr lang="en-US" sz="1350" i="1" dirty="0">
                <a:solidFill>
                  <a:srgbClr val="C7D6E5"/>
                </a:solidFill>
                <a:latin typeface="Arial" pitchFamily="34" charset="0"/>
                <a:ea typeface="Arial" pitchFamily="34" charset="-122"/>
                <a:cs typeface="Arial" pitchFamily="34" charset="-120"/>
              </a:rPr>
              <a:t>Filename-keyword routing detects each source automatically — the pipeline runs end-to-end from a fresh unzip with zero edits.</a:t>
            </a:r>
            <a:endParaRPr lang="en-US" sz="1350" dirty="0"/>
          </a:p>
        </p:txBody>
      </p:sp>
      <p:sp>
        <p:nvSpPr>
          <p:cNvPr id="46" name="Text 38"/>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ENGINE</a:t>
            </a:r>
            <a:endParaRPr lang="en-US" sz="1200" dirty="0"/>
          </a:p>
        </p:txBody>
      </p:sp>
      <p:sp>
        <p:nvSpPr>
          <p:cNvPr id="3" name="Text 1"/>
          <p:cNvSpPr/>
          <p:nvPr/>
        </p:nvSpPr>
        <p:spPr>
          <a:xfrm>
            <a:off x="640080" y="777240"/>
            <a:ext cx="10972800" cy="822960"/>
          </a:xfrm>
          <a:prstGeom prst="rect">
            <a:avLst/>
          </a:prstGeom>
          <a:noFill/>
          <a:ln/>
        </p:spPr>
        <p:txBody>
          <a:bodyPr wrap="square" lIns="0" tIns="0" rIns="0" bIns="0" rtlCol="0" anchor="ctr"/>
          <a:lstStyle/>
          <a:p>
            <a:pPr algn="l" indent="0" marL="0">
              <a:buNone/>
            </a:pPr>
            <a:r>
              <a:rPr lang="en-US" sz="3200" b="1" dirty="0">
                <a:solidFill>
                  <a:srgbClr val="16263B"/>
                </a:solidFill>
                <a:latin typeface="Georgia" pitchFamily="34" charset="0"/>
                <a:ea typeface="Georgia" pitchFamily="34" charset="-122"/>
                <a:cs typeface="Georgia" pitchFamily="34" charset="-120"/>
              </a:rPr>
              <a:t>Event Units: a transparent weight for every event</a:t>
            </a:r>
            <a:endParaRPr lang="en-US" sz="3200" dirty="0"/>
          </a:p>
        </p:txBody>
      </p:sp>
      <p:sp>
        <p:nvSpPr>
          <p:cNvPr id="4" name="Text 2"/>
          <p:cNvSpPr/>
          <p:nvPr/>
        </p:nvSpPr>
        <p:spPr>
          <a:xfrm>
            <a:off x="640080" y="1920240"/>
            <a:ext cx="10881360" cy="457200"/>
          </a:xfrm>
          <a:prstGeom prst="rect">
            <a:avLst/>
          </a:prstGeom>
          <a:noFill/>
          <a:ln/>
        </p:spPr>
        <p:txBody>
          <a:bodyPr wrap="square" lIns="0" tIns="0" rIns="0" bIns="0" rtlCol="0" anchor="ctr"/>
          <a:lstStyle/>
          <a:p>
            <a:pPr indent="0" marL="0">
              <a:buNone/>
            </a:pPr>
            <a:r>
              <a:rPr lang="en-US" sz="1900" b="1" dirty="0">
                <a:solidFill>
                  <a:srgbClr val="16263B"/>
                </a:solidFill>
                <a:latin typeface="Arial" pitchFamily="34" charset="0"/>
                <a:ea typeface="Arial" pitchFamily="34" charset="-122"/>
                <a:cs typeface="Arial" pitchFamily="34" charset="-120"/>
              </a:rPr>
              <a:t>EU  =  </a:t>
            </a:r>
            <a:pPr indent="0" marL="0">
              <a:buNone/>
            </a:pPr>
            <a:r>
              <a:rPr lang="en-US" sz="1900" b="1" dirty="0">
                <a:solidFill>
                  <a:srgbClr val="028090"/>
                </a:solidFill>
                <a:latin typeface="Arial" pitchFamily="34" charset="0"/>
                <a:ea typeface="Arial" pitchFamily="34" charset="-122"/>
                <a:cs typeface="Arial" pitchFamily="34" charset="-120"/>
              </a:rPr>
              <a:t>channel base</a:t>
            </a:r>
            <a:pPr indent="0" marL="0">
              <a:buNone/>
            </a:pPr>
            <a:r>
              <a:rPr lang="en-US" sz="1900" dirty="0">
                <a:solidFill>
                  <a:srgbClr val="5C6B7A"/>
                </a:solidFill>
                <a:latin typeface="Arial" pitchFamily="34" charset="0"/>
                <a:ea typeface="Arial" pitchFamily="34" charset="-122"/>
                <a:cs typeface="Arial" pitchFamily="34" charset="-120"/>
              </a:rPr>
              <a:t>  +  </a:t>
            </a:r>
            <a:pPr indent="0" marL="0">
              <a:buNone/>
            </a:pPr>
            <a:r>
              <a:rPr lang="en-US" sz="1900" b="1" dirty="0">
                <a:solidFill>
                  <a:srgbClr val="00A896"/>
                </a:solidFill>
                <a:latin typeface="Arial" pitchFamily="34" charset="0"/>
                <a:ea typeface="Arial" pitchFamily="34" charset="-122"/>
                <a:cs typeface="Arial" pitchFamily="34" charset="-120"/>
              </a:rPr>
              <a:t>duration bonus</a:t>
            </a:r>
            <a:pPr indent="0" marL="0">
              <a:buNone/>
            </a:pPr>
            <a:r>
              <a:rPr lang="en-US" sz="1900" dirty="0">
                <a:solidFill>
                  <a:srgbClr val="5C6B7A"/>
                </a:solidFill>
                <a:latin typeface="Arial" pitchFamily="34" charset="0"/>
                <a:ea typeface="Arial" pitchFamily="34" charset="-122"/>
                <a:cs typeface="Arial" pitchFamily="34" charset="-120"/>
              </a:rPr>
              <a:t>  +  </a:t>
            </a:r>
            <a:pPr indent="0" marL="0">
              <a:buNone/>
            </a:pPr>
            <a:r>
              <a:rPr lang="en-US" sz="1900" b="1" dirty="0">
                <a:solidFill>
                  <a:srgbClr val="02C39A"/>
                </a:solidFill>
                <a:latin typeface="Arial" pitchFamily="34" charset="0"/>
                <a:ea typeface="Arial" pitchFamily="34" charset="-122"/>
                <a:cs typeface="Arial" pitchFamily="34" charset="-120"/>
              </a:rPr>
              <a:t>participant reach</a:t>
            </a:r>
            <a:endParaRPr lang="en-US" sz="1900" dirty="0"/>
          </a:p>
        </p:txBody>
      </p:sp>
      <p:sp>
        <p:nvSpPr>
          <p:cNvPr id="5" name="Text 3"/>
          <p:cNvSpPr/>
          <p:nvPr/>
        </p:nvSpPr>
        <p:spPr>
          <a:xfrm>
            <a:off x="640080" y="2468880"/>
            <a:ext cx="5486400" cy="274320"/>
          </a:xfrm>
          <a:prstGeom prst="rect">
            <a:avLst/>
          </a:prstGeom>
          <a:noFill/>
          <a:ln/>
        </p:spPr>
        <p:txBody>
          <a:bodyPr wrap="square" lIns="0" tIns="0" rIns="0" bIns="0" rtlCol="0" anchor="ctr"/>
          <a:lstStyle/>
          <a:p>
            <a:pPr indent="0" marL="0">
              <a:buNone/>
            </a:pPr>
            <a:r>
              <a:rPr lang="en-US" sz="1300" b="1" dirty="0">
                <a:solidFill>
                  <a:srgbClr val="16263B"/>
                </a:solidFill>
                <a:latin typeface="Arial" pitchFamily="34" charset="0"/>
                <a:ea typeface="Arial" pitchFamily="34" charset="-122"/>
                <a:cs typeface="Arial" pitchFamily="34" charset="-120"/>
              </a:rPr>
              <a:t>Channel base weight</a:t>
            </a:r>
            <a:endParaRPr lang="en-US" sz="1300" dirty="0"/>
          </a:p>
        </p:txBody>
      </p:sp>
      <p:graphicFrame>
        <p:nvGraphicFramePr>
          <p:cNvPr id="6" name="Chart 0" descr=""/>
          <p:cNvGraphicFramePr/>
          <p:nvPr/>
        </p:nvGraphicFramePr>
        <p:xfrm>
          <a:off x="502920" y="2743200"/>
          <a:ext cx="557784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400800" y="2514600"/>
            <a:ext cx="5120640" cy="1508760"/>
          </a:xfrm>
          <a:prstGeom prst="roundRect">
            <a:avLst>
              <a:gd name="adj" fmla="val 5455"/>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8" name="Shape 5"/>
          <p:cNvSpPr/>
          <p:nvPr/>
        </p:nvSpPr>
        <p:spPr>
          <a:xfrm>
            <a:off x="6629400" y="2834640"/>
            <a:ext cx="502920" cy="502920"/>
          </a:xfrm>
          <a:prstGeom prst="ellipse">
            <a:avLst/>
          </a:prstGeom>
          <a:solidFill>
            <a:srgbClr val="00A896"/>
          </a:solidFill>
          <a:ln/>
          <a:effectLst>
            <a:outerShdw sx="100000" sy="100000" kx="0" ky="0" algn="bl" rotWithShape="0" blurRad="114300" dist="38100" dir="5400000">
              <a:srgbClr val="0A1A2E">
                <a:alpha val="16000"/>
              </a:srgbClr>
            </a:outerShdw>
          </a:effectLst>
        </p:spPr>
      </p:sp>
      <p:pic>
        <p:nvPicPr>
          <p:cNvPr id="9" name="Image 0" descr="preencoded.png">    </p:cNvPr>
          <p:cNvPicPr>
            <a:picLocks noChangeAspect="1"/>
          </p:cNvPicPr>
          <p:nvPr/>
        </p:nvPicPr>
        <p:blipFill>
          <a:blip r:embed="rId2"/>
          <a:stretch>
            <a:fillRect/>
          </a:stretch>
        </p:blipFill>
        <p:spPr>
          <a:xfrm>
            <a:off x="6760159" y="2965399"/>
            <a:ext cx="241402" cy="241402"/>
          </a:xfrm>
          <a:prstGeom prst="rect">
            <a:avLst/>
          </a:prstGeom>
        </p:spPr>
      </p:pic>
      <p:sp>
        <p:nvSpPr>
          <p:cNvPr id="10" name="Text 6"/>
          <p:cNvSpPr/>
          <p:nvPr/>
        </p:nvSpPr>
        <p:spPr>
          <a:xfrm>
            <a:off x="7315200" y="2670048"/>
            <a:ext cx="4023360" cy="320040"/>
          </a:xfrm>
          <a:prstGeom prst="rect">
            <a:avLst/>
          </a:prstGeom>
          <a:noFill/>
          <a:ln/>
        </p:spPr>
        <p:txBody>
          <a:bodyPr wrap="square" lIns="0" tIns="0" rIns="0" bIns="0" rtlCol="0" anchor="ctr"/>
          <a:lstStyle/>
          <a:p>
            <a:pPr indent="0" marL="0">
              <a:buNone/>
            </a:pPr>
            <a:r>
              <a:rPr lang="en-US" sz="1500" b="1" dirty="0">
                <a:solidFill>
                  <a:srgbClr val="16263B"/>
                </a:solidFill>
                <a:latin typeface="Arial" pitchFamily="34" charset="0"/>
                <a:ea typeface="Arial" pitchFamily="34" charset="-122"/>
                <a:cs typeface="Arial" pitchFamily="34" charset="-120"/>
              </a:rPr>
              <a:t>Duration bonus</a:t>
            </a:r>
            <a:endParaRPr lang="en-US" sz="1500" dirty="0"/>
          </a:p>
        </p:txBody>
      </p:sp>
      <p:sp>
        <p:nvSpPr>
          <p:cNvPr id="11" name="Text 7"/>
          <p:cNvSpPr/>
          <p:nvPr/>
        </p:nvSpPr>
        <p:spPr>
          <a:xfrm>
            <a:off x="7315200" y="2999232"/>
            <a:ext cx="4023360" cy="914400"/>
          </a:xfrm>
          <a:prstGeom prst="rect">
            <a:avLst/>
          </a:prstGeom>
          <a:noFill/>
          <a:ln/>
        </p:spPr>
        <p:txBody>
          <a:bodyPr wrap="square" lIns="0" tIns="0" rIns="0" bIns="0" rtlCol="0" anchor="ctr"/>
          <a:lstStyle/>
          <a:p>
            <a:pPr indent="0" marL="0">
              <a:buNone/>
            </a:pPr>
            <a:r>
              <a:rPr lang="en-US" sz="1200" dirty="0">
                <a:solidFill>
                  <a:srgbClr val="5C6B7A"/>
                </a:solidFill>
                <a:latin typeface="Arial" pitchFamily="34" charset="0"/>
                <a:ea typeface="Arial" pitchFamily="34" charset="-122"/>
                <a:cs typeface="Arial" pitchFamily="34" charset="-120"/>
              </a:rPr>
              <a:t>min(duration, 120) ÷ 60  →  up to +2.0 EU. Longer engagement counts, but caps so a marathon meeting can't dominate.</a:t>
            </a:r>
            <a:endParaRPr lang="en-US" sz="1200" dirty="0"/>
          </a:p>
        </p:txBody>
      </p:sp>
      <p:sp>
        <p:nvSpPr>
          <p:cNvPr id="12" name="Shape 8"/>
          <p:cNvSpPr/>
          <p:nvPr/>
        </p:nvSpPr>
        <p:spPr>
          <a:xfrm>
            <a:off x="6400800" y="4206240"/>
            <a:ext cx="5120640" cy="1554480"/>
          </a:xfrm>
          <a:prstGeom prst="roundRect">
            <a:avLst>
              <a:gd name="adj" fmla="val 5294"/>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3" name="Shape 9"/>
          <p:cNvSpPr/>
          <p:nvPr/>
        </p:nvSpPr>
        <p:spPr>
          <a:xfrm>
            <a:off x="6629400" y="4553712"/>
            <a:ext cx="502920" cy="502920"/>
          </a:xfrm>
          <a:prstGeom prst="ellipse">
            <a:avLst/>
          </a:prstGeom>
          <a:solidFill>
            <a:srgbClr val="02C39A"/>
          </a:solidFill>
          <a:ln/>
          <a:effectLst>
            <a:outerShdw sx="100000" sy="100000" kx="0" ky="0" algn="bl" rotWithShape="0" blurRad="114300" dist="38100" dir="5400000">
              <a:srgbClr val="0A1A2E">
                <a:alpha val="16000"/>
              </a:srgbClr>
            </a:outerShdw>
          </a:effectLst>
        </p:spPr>
      </p:sp>
      <p:pic>
        <p:nvPicPr>
          <p:cNvPr id="14" name="Image 1" descr="preencoded.png">    </p:cNvPr>
          <p:cNvPicPr>
            <a:picLocks noChangeAspect="1"/>
          </p:cNvPicPr>
          <p:nvPr/>
        </p:nvPicPr>
        <p:blipFill>
          <a:blip r:embed="rId3"/>
          <a:stretch>
            <a:fillRect/>
          </a:stretch>
        </p:blipFill>
        <p:spPr>
          <a:xfrm>
            <a:off x="6760159" y="4684471"/>
            <a:ext cx="241402" cy="241402"/>
          </a:xfrm>
          <a:prstGeom prst="rect">
            <a:avLst/>
          </a:prstGeom>
        </p:spPr>
      </p:pic>
      <p:sp>
        <p:nvSpPr>
          <p:cNvPr id="15" name="Text 10"/>
          <p:cNvSpPr/>
          <p:nvPr/>
        </p:nvSpPr>
        <p:spPr>
          <a:xfrm>
            <a:off x="7315200" y="4370832"/>
            <a:ext cx="4023360" cy="320040"/>
          </a:xfrm>
          <a:prstGeom prst="rect">
            <a:avLst/>
          </a:prstGeom>
          <a:noFill/>
          <a:ln/>
        </p:spPr>
        <p:txBody>
          <a:bodyPr wrap="square" lIns="0" tIns="0" rIns="0" bIns="0" rtlCol="0" anchor="ctr"/>
          <a:lstStyle/>
          <a:p>
            <a:pPr indent="0" marL="0">
              <a:buNone/>
            </a:pPr>
            <a:r>
              <a:rPr lang="en-US" sz="1500" b="1" dirty="0">
                <a:solidFill>
                  <a:srgbClr val="16263B"/>
                </a:solidFill>
                <a:latin typeface="Arial" pitchFamily="34" charset="0"/>
                <a:ea typeface="Arial" pitchFamily="34" charset="-122"/>
                <a:cs typeface="Arial" pitchFamily="34" charset="-120"/>
              </a:rPr>
              <a:t>Participant reach</a:t>
            </a:r>
            <a:endParaRPr lang="en-US" sz="1500" dirty="0"/>
          </a:p>
        </p:txBody>
      </p:sp>
      <p:sp>
        <p:nvSpPr>
          <p:cNvPr id="16" name="Text 11"/>
          <p:cNvSpPr/>
          <p:nvPr/>
        </p:nvSpPr>
        <p:spPr>
          <a:xfrm>
            <a:off x="7315200" y="4700016"/>
            <a:ext cx="4023360" cy="960120"/>
          </a:xfrm>
          <a:prstGeom prst="rect">
            <a:avLst/>
          </a:prstGeom>
          <a:noFill/>
          <a:ln/>
        </p:spPr>
        <p:txBody>
          <a:bodyPr wrap="square" lIns="0" tIns="0" rIns="0" bIns="0" rtlCol="0" anchor="ctr"/>
          <a:lstStyle/>
          <a:p>
            <a:pPr indent="0" marL="0">
              <a:buNone/>
            </a:pPr>
            <a:r>
              <a:rPr lang="en-US" sz="1200" dirty="0">
                <a:solidFill>
                  <a:srgbClr val="5C6B7A"/>
                </a:solidFill>
                <a:latin typeface="Arial" pitchFamily="34" charset="0"/>
                <a:ea typeface="Arial" pitchFamily="34" charset="-122"/>
                <a:cs typeface="Arial" pitchFamily="34" charset="-120"/>
              </a:rPr>
              <a:t>log₂(participants) × 1.5. Reaching more people matters, with diminishing returns — the 2nd person counts more than the 20th.</a:t>
            </a:r>
            <a:endParaRPr lang="en-US" sz="1200" dirty="0"/>
          </a:p>
        </p:txBody>
      </p:sp>
      <p:sp>
        <p:nvSpPr>
          <p:cNvPr id="17" name="Text 12"/>
          <p:cNvSpPr/>
          <p:nvPr/>
        </p:nvSpPr>
        <p:spPr>
          <a:xfrm>
            <a:off x="640080" y="5989320"/>
            <a:ext cx="10881360" cy="320040"/>
          </a:xfrm>
          <a:prstGeom prst="rect">
            <a:avLst/>
          </a:prstGeom>
          <a:noFill/>
          <a:ln/>
        </p:spPr>
        <p:txBody>
          <a:bodyPr wrap="square" lIns="0" tIns="0" rIns="0" bIns="0" rtlCol="0" anchor="ctr"/>
          <a:lstStyle/>
          <a:p>
            <a:pPr algn="ctr" indent="0" marL="0">
              <a:buNone/>
            </a:pPr>
            <a:r>
              <a:rPr lang="en-US" sz="1250" i="1" dirty="0">
                <a:solidFill>
                  <a:srgbClr val="028090"/>
                </a:solidFill>
                <a:latin typeface="Arial" pitchFamily="34" charset="0"/>
                <a:ea typeface="Arial" pitchFamily="34" charset="-122"/>
                <a:cs typeface="Arial" pitchFamily="34" charset="-120"/>
              </a:rPr>
              <a:t>Every weight is explicit and auditable — no black box deciding what an interaction is worth.</a:t>
            </a:r>
            <a:endParaRPr lang="en-US" sz="1250" dirty="0"/>
          </a:p>
        </p:txBody>
      </p:sp>
      <p:sp>
        <p:nvSpPr>
          <p:cNvPr id="18" name="Text 13"/>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FROM EVENTS TO A DATASET</a:t>
            </a:r>
            <a:endParaRPr lang="en-US" sz="1200" dirty="0"/>
          </a:p>
        </p:txBody>
      </p:sp>
      <p:sp>
        <p:nvSpPr>
          <p:cNvPr id="3" name="Text 1"/>
          <p:cNvSpPr/>
          <p:nvPr/>
        </p:nvSpPr>
        <p:spPr>
          <a:xfrm>
            <a:off x="640080" y="777240"/>
            <a:ext cx="10972800" cy="822960"/>
          </a:xfrm>
          <a:prstGeom prst="rect">
            <a:avLst/>
          </a:prstGeom>
          <a:noFill/>
          <a:ln/>
        </p:spPr>
        <p:txBody>
          <a:bodyPr wrap="square" lIns="0" tIns="0" rIns="0" bIns="0" rtlCol="0" anchor="ctr"/>
          <a:lstStyle/>
          <a:p>
            <a:pPr algn="l" indent="0" marL="0">
              <a:buNone/>
            </a:pPr>
            <a:r>
              <a:rPr lang="en-US" sz="3200" b="1" dirty="0">
                <a:solidFill>
                  <a:srgbClr val="16263B"/>
                </a:solidFill>
                <a:latin typeface="Georgia" pitchFamily="34" charset="0"/>
                <a:ea typeface="Georgia" pitchFamily="34" charset="-122"/>
                <a:cs typeface="Georgia" pitchFamily="34" charset="-120"/>
              </a:rPr>
              <a:t>Daily roll-ups in, a responsiveness signal out</a:t>
            </a:r>
            <a:endParaRPr lang="en-US" sz="3200" dirty="0"/>
          </a:p>
        </p:txBody>
      </p:sp>
      <p:sp>
        <p:nvSpPr>
          <p:cNvPr id="4" name="Shape 2"/>
          <p:cNvSpPr/>
          <p:nvPr/>
        </p:nvSpPr>
        <p:spPr>
          <a:xfrm>
            <a:off x="640080" y="1737360"/>
            <a:ext cx="5257800" cy="4114800"/>
          </a:xfrm>
          <a:prstGeom prst="roundRect">
            <a:avLst>
              <a:gd name="adj" fmla="val 2000"/>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868680" y="2011680"/>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r>
          <p:cNvPicPr>
            <a:picLocks noChangeAspect="1"/>
          </p:cNvPicPr>
          <p:nvPr/>
        </p:nvPicPr>
        <p:blipFill>
          <a:blip r:embed="rId1"/>
          <a:stretch>
            <a:fillRect/>
          </a:stretch>
        </p:blipFill>
        <p:spPr>
          <a:xfrm>
            <a:off x="1011326" y="2154326"/>
            <a:ext cx="263347" cy="263347"/>
          </a:xfrm>
          <a:prstGeom prst="rect">
            <a:avLst/>
          </a:prstGeom>
        </p:spPr>
      </p:pic>
      <p:sp>
        <p:nvSpPr>
          <p:cNvPr id="7" name="Text 4"/>
          <p:cNvSpPr/>
          <p:nvPr/>
        </p:nvSpPr>
        <p:spPr>
          <a:xfrm>
            <a:off x="1600200" y="2121408"/>
            <a:ext cx="4206240" cy="365760"/>
          </a:xfrm>
          <a:prstGeom prst="rect">
            <a:avLst/>
          </a:prstGeom>
          <a:noFill/>
          <a:ln/>
        </p:spPr>
        <p:txBody>
          <a:bodyPr wrap="square" lIns="0" tIns="0" rIns="0" bIns="0" rtlCol="0" anchor="ctr"/>
          <a:lstStyle/>
          <a:p>
            <a:pPr indent="0" marL="0">
              <a:buNone/>
            </a:pPr>
            <a:r>
              <a:rPr lang="en-US" sz="1600" b="1" dirty="0">
                <a:solidFill>
                  <a:srgbClr val="16263B"/>
                </a:solidFill>
                <a:latin typeface="Arial" pitchFamily="34" charset="0"/>
                <a:ea typeface="Arial" pitchFamily="34" charset="-122"/>
                <a:cs typeface="Arial" pitchFamily="34" charset="-120"/>
              </a:rPr>
              <a:t>Daily features (model inputs)</a:t>
            </a:r>
            <a:endParaRPr lang="en-US" sz="1600" dirty="0"/>
          </a:p>
        </p:txBody>
      </p:sp>
      <p:sp>
        <p:nvSpPr>
          <p:cNvPr id="8" name="Text 5"/>
          <p:cNvSpPr/>
          <p:nvPr/>
        </p:nvSpPr>
        <p:spPr>
          <a:xfrm>
            <a:off x="914400" y="2788920"/>
            <a:ext cx="2331720" cy="320040"/>
          </a:xfrm>
          <a:prstGeom prst="rect">
            <a:avLst/>
          </a:prstGeom>
          <a:noFill/>
          <a:ln/>
        </p:spPr>
        <p:txBody>
          <a:bodyPr wrap="square" lIns="0" tIns="0" rIns="0" bIns="0" rtlCol="0" anchor="ctr"/>
          <a:lstStyle/>
          <a:p>
            <a:pPr indent="0" marL="0">
              <a:buNone/>
            </a:pPr>
            <a:r>
              <a:rPr lang="en-US" sz="1250" b="1" dirty="0">
                <a:solidFill>
                  <a:srgbClr val="028090"/>
                </a:solidFill>
                <a:latin typeface="Courier New" pitchFamily="34" charset="0"/>
                <a:ea typeface="Courier New" pitchFamily="34" charset="-122"/>
                <a:cs typeface="Courier New" pitchFamily="34" charset="-120"/>
              </a:rPr>
              <a:t>log_total_eu</a:t>
            </a:r>
            <a:endParaRPr lang="en-US" sz="1250" dirty="0"/>
          </a:p>
        </p:txBody>
      </p:sp>
      <p:sp>
        <p:nvSpPr>
          <p:cNvPr id="9" name="Text 6"/>
          <p:cNvSpPr/>
          <p:nvPr/>
        </p:nvSpPr>
        <p:spPr>
          <a:xfrm>
            <a:off x="3246120" y="2788920"/>
            <a:ext cx="2514600" cy="320040"/>
          </a:xfrm>
          <a:prstGeom prst="rect">
            <a:avLst/>
          </a:prstGeom>
          <a:noFill/>
          <a:ln/>
        </p:spPr>
        <p:txBody>
          <a:bodyPr wrap="square" lIns="0" tIns="0" rIns="0" bIns="0" rtlCol="0" anchor="ctr"/>
          <a:lstStyle/>
          <a:p>
            <a:pPr indent="0" marL="0">
              <a:buNone/>
            </a:pPr>
            <a:r>
              <a:rPr lang="en-US" sz="1150" dirty="0">
                <a:solidFill>
                  <a:srgbClr val="5C6B7A"/>
                </a:solidFill>
                <a:latin typeface="Arial" pitchFamily="34" charset="0"/>
                <a:ea typeface="Arial" pitchFamily="34" charset="-122"/>
                <a:cs typeface="Arial" pitchFamily="34" charset="-120"/>
              </a:rPr>
              <a:t>total engagement weight per day</a:t>
            </a:r>
            <a:endParaRPr lang="en-US" sz="1150" dirty="0"/>
          </a:p>
        </p:txBody>
      </p:sp>
      <p:sp>
        <p:nvSpPr>
          <p:cNvPr id="10" name="Text 7"/>
          <p:cNvSpPr/>
          <p:nvPr/>
        </p:nvSpPr>
        <p:spPr>
          <a:xfrm>
            <a:off x="914400" y="3355848"/>
            <a:ext cx="2331720" cy="320040"/>
          </a:xfrm>
          <a:prstGeom prst="rect">
            <a:avLst/>
          </a:prstGeom>
          <a:noFill/>
          <a:ln/>
        </p:spPr>
        <p:txBody>
          <a:bodyPr wrap="square" lIns="0" tIns="0" rIns="0" bIns="0" rtlCol="0" anchor="ctr"/>
          <a:lstStyle/>
          <a:p>
            <a:pPr indent="0" marL="0">
              <a:buNone/>
            </a:pPr>
            <a:r>
              <a:rPr lang="en-US" sz="1250" b="1" dirty="0">
                <a:solidFill>
                  <a:srgbClr val="028090"/>
                </a:solidFill>
                <a:latin typeface="Courier New" pitchFamily="34" charset="0"/>
                <a:ea typeface="Courier New" pitchFamily="34" charset="-122"/>
                <a:cs typeface="Courier New" pitchFamily="34" charset="-120"/>
              </a:rPr>
              <a:t>log_total_events</a:t>
            </a:r>
            <a:endParaRPr lang="en-US" sz="1250" dirty="0"/>
          </a:p>
        </p:txBody>
      </p:sp>
      <p:sp>
        <p:nvSpPr>
          <p:cNvPr id="11" name="Text 8"/>
          <p:cNvSpPr/>
          <p:nvPr/>
        </p:nvSpPr>
        <p:spPr>
          <a:xfrm>
            <a:off x="3246120" y="3355848"/>
            <a:ext cx="2514600" cy="320040"/>
          </a:xfrm>
          <a:prstGeom prst="rect">
            <a:avLst/>
          </a:prstGeom>
          <a:noFill/>
          <a:ln/>
        </p:spPr>
        <p:txBody>
          <a:bodyPr wrap="square" lIns="0" tIns="0" rIns="0" bIns="0" rtlCol="0" anchor="ctr"/>
          <a:lstStyle/>
          <a:p>
            <a:pPr indent="0" marL="0">
              <a:buNone/>
            </a:pPr>
            <a:r>
              <a:rPr lang="en-US" sz="1150" dirty="0">
                <a:solidFill>
                  <a:srgbClr val="5C6B7A"/>
                </a:solidFill>
                <a:latin typeface="Arial" pitchFamily="34" charset="0"/>
                <a:ea typeface="Arial" pitchFamily="34" charset="-122"/>
                <a:cs typeface="Arial" pitchFamily="34" charset="-120"/>
              </a:rPr>
              <a:t>how much the team communicated</a:t>
            </a:r>
            <a:endParaRPr lang="en-US" sz="1150" dirty="0"/>
          </a:p>
        </p:txBody>
      </p:sp>
      <p:sp>
        <p:nvSpPr>
          <p:cNvPr id="12" name="Text 9"/>
          <p:cNvSpPr/>
          <p:nvPr/>
        </p:nvSpPr>
        <p:spPr>
          <a:xfrm>
            <a:off x="914400" y="3922776"/>
            <a:ext cx="2331720" cy="320040"/>
          </a:xfrm>
          <a:prstGeom prst="rect">
            <a:avLst/>
          </a:prstGeom>
          <a:noFill/>
          <a:ln/>
        </p:spPr>
        <p:txBody>
          <a:bodyPr wrap="square" lIns="0" tIns="0" rIns="0" bIns="0" rtlCol="0" anchor="ctr"/>
          <a:lstStyle/>
          <a:p>
            <a:pPr indent="0" marL="0">
              <a:buNone/>
            </a:pPr>
            <a:r>
              <a:rPr lang="en-US" sz="1250" b="1" dirty="0">
                <a:solidFill>
                  <a:srgbClr val="028090"/>
                </a:solidFill>
                <a:latin typeface="Courier New" pitchFamily="34" charset="0"/>
                <a:ea typeface="Courier New" pitchFamily="34" charset="-122"/>
                <a:cs typeface="Courier New" pitchFamily="34" charset="-120"/>
              </a:rPr>
              <a:t>avg_participants</a:t>
            </a:r>
            <a:endParaRPr lang="en-US" sz="1250" dirty="0"/>
          </a:p>
        </p:txBody>
      </p:sp>
      <p:sp>
        <p:nvSpPr>
          <p:cNvPr id="13" name="Text 10"/>
          <p:cNvSpPr/>
          <p:nvPr/>
        </p:nvSpPr>
        <p:spPr>
          <a:xfrm>
            <a:off x="3246120" y="3922776"/>
            <a:ext cx="2514600" cy="320040"/>
          </a:xfrm>
          <a:prstGeom prst="rect">
            <a:avLst/>
          </a:prstGeom>
          <a:noFill/>
          <a:ln/>
        </p:spPr>
        <p:txBody>
          <a:bodyPr wrap="square" lIns="0" tIns="0" rIns="0" bIns="0" rtlCol="0" anchor="ctr"/>
          <a:lstStyle/>
          <a:p>
            <a:pPr indent="0" marL="0">
              <a:buNone/>
            </a:pPr>
            <a:r>
              <a:rPr lang="en-US" sz="1150" dirty="0">
                <a:solidFill>
                  <a:srgbClr val="5C6B7A"/>
                </a:solidFill>
                <a:latin typeface="Arial" pitchFamily="34" charset="0"/>
                <a:ea typeface="Arial" pitchFamily="34" charset="-122"/>
                <a:cs typeface="Arial" pitchFamily="34" charset="-120"/>
              </a:rPr>
              <a:t>typical reach of an interaction</a:t>
            </a:r>
            <a:endParaRPr lang="en-US" sz="1150" dirty="0"/>
          </a:p>
        </p:txBody>
      </p:sp>
      <p:sp>
        <p:nvSpPr>
          <p:cNvPr id="14" name="Text 11"/>
          <p:cNvSpPr/>
          <p:nvPr/>
        </p:nvSpPr>
        <p:spPr>
          <a:xfrm>
            <a:off x="914400" y="4489704"/>
            <a:ext cx="2331720" cy="320040"/>
          </a:xfrm>
          <a:prstGeom prst="rect">
            <a:avLst/>
          </a:prstGeom>
          <a:noFill/>
          <a:ln/>
        </p:spPr>
        <p:txBody>
          <a:bodyPr wrap="square" lIns="0" tIns="0" rIns="0" bIns="0" rtlCol="0" anchor="ctr"/>
          <a:lstStyle/>
          <a:p>
            <a:pPr indent="0" marL="0">
              <a:buNone/>
            </a:pPr>
            <a:r>
              <a:rPr lang="en-US" sz="1250" b="1" dirty="0">
                <a:solidFill>
                  <a:srgbClr val="028090"/>
                </a:solidFill>
                <a:latin typeface="Courier New" pitchFamily="34" charset="0"/>
                <a:ea typeface="Courier New" pitchFamily="34" charset="-122"/>
                <a:cs typeface="Courier New" pitchFamily="34" charset="-120"/>
              </a:rPr>
              <a:t>avg_duration</a:t>
            </a:r>
            <a:endParaRPr lang="en-US" sz="1250" dirty="0"/>
          </a:p>
        </p:txBody>
      </p:sp>
      <p:sp>
        <p:nvSpPr>
          <p:cNvPr id="15" name="Text 12"/>
          <p:cNvSpPr/>
          <p:nvPr/>
        </p:nvSpPr>
        <p:spPr>
          <a:xfrm>
            <a:off x="3246120" y="4489704"/>
            <a:ext cx="2514600" cy="320040"/>
          </a:xfrm>
          <a:prstGeom prst="rect">
            <a:avLst/>
          </a:prstGeom>
          <a:noFill/>
          <a:ln/>
        </p:spPr>
        <p:txBody>
          <a:bodyPr wrap="square" lIns="0" tIns="0" rIns="0" bIns="0" rtlCol="0" anchor="ctr"/>
          <a:lstStyle/>
          <a:p>
            <a:pPr indent="0" marL="0">
              <a:buNone/>
            </a:pPr>
            <a:r>
              <a:rPr lang="en-US" sz="1150" dirty="0">
                <a:solidFill>
                  <a:srgbClr val="5C6B7A"/>
                </a:solidFill>
                <a:latin typeface="Arial" pitchFamily="34" charset="0"/>
                <a:ea typeface="Arial" pitchFamily="34" charset="-122"/>
                <a:cs typeface="Arial" pitchFamily="34" charset="-120"/>
              </a:rPr>
              <a:t>typical meeting length</a:t>
            </a:r>
            <a:endParaRPr lang="en-US" sz="1150" dirty="0"/>
          </a:p>
        </p:txBody>
      </p:sp>
      <p:sp>
        <p:nvSpPr>
          <p:cNvPr id="16" name="Text 13"/>
          <p:cNvSpPr/>
          <p:nvPr/>
        </p:nvSpPr>
        <p:spPr>
          <a:xfrm>
            <a:off x="914400" y="5056632"/>
            <a:ext cx="2331720" cy="320040"/>
          </a:xfrm>
          <a:prstGeom prst="rect">
            <a:avLst/>
          </a:prstGeom>
          <a:noFill/>
          <a:ln/>
        </p:spPr>
        <p:txBody>
          <a:bodyPr wrap="square" lIns="0" tIns="0" rIns="0" bIns="0" rtlCol="0" anchor="ctr"/>
          <a:lstStyle/>
          <a:p>
            <a:pPr indent="0" marL="0">
              <a:buNone/>
            </a:pPr>
            <a:r>
              <a:rPr lang="en-US" sz="1250" b="1" dirty="0">
                <a:solidFill>
                  <a:srgbClr val="028090"/>
                </a:solidFill>
                <a:latin typeface="Courier New" pitchFamily="34" charset="0"/>
                <a:ea typeface="Courier New" pitchFamily="34" charset="-122"/>
                <a:cs typeface="Courier New" pitchFamily="34" charset="-120"/>
              </a:rPr>
              <a:t>log_total_text</a:t>
            </a:r>
            <a:endParaRPr lang="en-US" sz="1250" dirty="0"/>
          </a:p>
        </p:txBody>
      </p:sp>
      <p:sp>
        <p:nvSpPr>
          <p:cNvPr id="17" name="Text 14"/>
          <p:cNvSpPr/>
          <p:nvPr/>
        </p:nvSpPr>
        <p:spPr>
          <a:xfrm>
            <a:off x="3246120" y="5056632"/>
            <a:ext cx="2514600" cy="320040"/>
          </a:xfrm>
          <a:prstGeom prst="rect">
            <a:avLst/>
          </a:prstGeom>
          <a:noFill/>
          <a:ln/>
        </p:spPr>
        <p:txBody>
          <a:bodyPr wrap="square" lIns="0" tIns="0" rIns="0" bIns="0" rtlCol="0" anchor="ctr"/>
          <a:lstStyle/>
          <a:p>
            <a:pPr indent="0" marL="0">
              <a:buNone/>
            </a:pPr>
            <a:r>
              <a:rPr lang="en-US" sz="1150" dirty="0">
                <a:solidFill>
                  <a:srgbClr val="5C6B7A"/>
                </a:solidFill>
                <a:latin typeface="Arial" pitchFamily="34" charset="0"/>
                <a:ea typeface="Arial" pitchFamily="34" charset="-122"/>
                <a:cs typeface="Arial" pitchFamily="34" charset="-120"/>
              </a:rPr>
              <a:t>volume of written communication</a:t>
            </a:r>
            <a:endParaRPr lang="en-US" sz="1150" dirty="0"/>
          </a:p>
        </p:txBody>
      </p:sp>
      <p:sp>
        <p:nvSpPr>
          <p:cNvPr id="18" name="Shape 15"/>
          <p:cNvSpPr/>
          <p:nvPr/>
        </p:nvSpPr>
        <p:spPr>
          <a:xfrm>
            <a:off x="6263640" y="1737360"/>
            <a:ext cx="5257800" cy="4114800"/>
          </a:xfrm>
          <a:prstGeom prst="roundRect">
            <a:avLst>
              <a:gd name="adj" fmla="val 2000"/>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9" name="Shape 16"/>
          <p:cNvSpPr/>
          <p:nvPr/>
        </p:nvSpPr>
        <p:spPr>
          <a:xfrm>
            <a:off x="6492240" y="2011680"/>
            <a:ext cx="548640" cy="548640"/>
          </a:xfrm>
          <a:prstGeom prst="ellipse">
            <a:avLst/>
          </a:prstGeom>
          <a:solidFill>
            <a:srgbClr val="02C39A"/>
          </a:solidFill>
          <a:ln/>
          <a:effectLst>
            <a:outerShdw sx="100000" sy="100000" kx="0" ky="0" algn="bl" rotWithShape="0" blurRad="114300" dist="38100" dir="5400000">
              <a:srgbClr val="0A1A2E">
                <a:alpha val="16000"/>
              </a:srgbClr>
            </a:outerShdw>
          </a:effectLst>
        </p:spPr>
      </p:sp>
      <p:pic>
        <p:nvPicPr>
          <p:cNvPr id="20" name="Image 1" descr="preencoded.png">    </p:cNvPr>
          <p:cNvPicPr>
            <a:picLocks noChangeAspect="1"/>
          </p:cNvPicPr>
          <p:nvPr/>
        </p:nvPicPr>
        <p:blipFill>
          <a:blip r:embed="rId2"/>
          <a:stretch>
            <a:fillRect/>
          </a:stretch>
        </p:blipFill>
        <p:spPr>
          <a:xfrm>
            <a:off x="6634886" y="2154326"/>
            <a:ext cx="263347" cy="263347"/>
          </a:xfrm>
          <a:prstGeom prst="rect">
            <a:avLst/>
          </a:prstGeom>
        </p:spPr>
      </p:pic>
      <p:sp>
        <p:nvSpPr>
          <p:cNvPr id="21" name="Text 17"/>
          <p:cNvSpPr/>
          <p:nvPr/>
        </p:nvSpPr>
        <p:spPr>
          <a:xfrm>
            <a:off x="7223760" y="2121408"/>
            <a:ext cx="411480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Outcome proxy (what we predict)</a:t>
            </a:r>
            <a:endParaRPr lang="en-US" sz="1600" dirty="0"/>
          </a:p>
        </p:txBody>
      </p:sp>
      <p:sp>
        <p:nvSpPr>
          <p:cNvPr id="22" name="Text 18"/>
          <p:cNvSpPr/>
          <p:nvPr/>
        </p:nvSpPr>
        <p:spPr>
          <a:xfrm>
            <a:off x="6537960" y="2788920"/>
            <a:ext cx="4754880" cy="457200"/>
          </a:xfrm>
          <a:prstGeom prst="rect">
            <a:avLst/>
          </a:prstGeom>
          <a:noFill/>
          <a:ln/>
        </p:spPr>
        <p:txBody>
          <a:bodyPr wrap="square" lIns="0" tIns="0" rIns="0" bIns="0" rtlCol="0" anchor="ctr"/>
          <a:lstStyle/>
          <a:p>
            <a:pPr indent="0" marL="0">
              <a:buNone/>
            </a:pPr>
            <a:r>
              <a:rPr lang="en-US" sz="2400" b="1" dirty="0">
                <a:solidFill>
                  <a:srgbClr val="00A896"/>
                </a:solidFill>
                <a:latin typeface="Georgia" pitchFamily="34" charset="0"/>
                <a:ea typeface="Georgia" pitchFamily="34" charset="-122"/>
                <a:cs typeface="Georgia" pitchFamily="34" charset="-120"/>
              </a:rPr>
              <a:t>Median response time</a:t>
            </a:r>
            <a:endParaRPr lang="en-US" sz="2400" dirty="0"/>
          </a:p>
        </p:txBody>
      </p:sp>
      <p:sp>
        <p:nvSpPr>
          <p:cNvPr id="23" name="Text 19"/>
          <p:cNvSpPr/>
          <p:nvPr/>
        </p:nvSpPr>
        <p:spPr>
          <a:xfrm>
            <a:off x="6537960" y="3337560"/>
            <a:ext cx="4709160" cy="1188720"/>
          </a:xfrm>
          <a:prstGeom prst="rect">
            <a:avLst/>
          </a:prstGeom>
          <a:noFill/>
          <a:ln/>
        </p:spPr>
        <p:txBody>
          <a:bodyPr wrap="square" lIns="0" tIns="0" rIns="0" bIns="0" rtlCol="0" anchor="ctr"/>
          <a:lstStyle/>
          <a:p>
            <a:pPr indent="0" marL="0">
              <a:buNone/>
            </a:pPr>
            <a:r>
              <a:rPr lang="en-US" sz="1300" dirty="0">
                <a:solidFill>
                  <a:srgbClr val="C7D6E5"/>
                </a:solidFill>
                <a:latin typeface="Arial" pitchFamily="34" charset="0"/>
                <a:ea typeface="Arial" pitchFamily="34" charset="-122"/>
                <a:cs typeface="Arial" pitchFamily="34" charset="-120"/>
              </a:rPr>
              <a:t>Within each channel, we measure the gap between consecutive messages, take the daily median, and cap implausible gaps at 12 hours so overnight pauses don't distort the day.</a:t>
            </a:r>
            <a:endParaRPr lang="en-US" sz="1300" dirty="0"/>
          </a:p>
        </p:txBody>
      </p:sp>
      <p:sp>
        <p:nvSpPr>
          <p:cNvPr id="24" name="Shape 20"/>
          <p:cNvSpPr/>
          <p:nvPr/>
        </p:nvSpPr>
        <p:spPr>
          <a:xfrm>
            <a:off x="6537960" y="4617720"/>
            <a:ext cx="4709160" cy="960120"/>
          </a:xfrm>
          <a:prstGeom prst="roundRect">
            <a:avLst>
              <a:gd name="adj" fmla="val 8571"/>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5" name="Text 21"/>
          <p:cNvSpPr/>
          <p:nvPr/>
        </p:nvSpPr>
        <p:spPr>
          <a:xfrm>
            <a:off x="6766560" y="4754880"/>
            <a:ext cx="4297680" cy="685800"/>
          </a:xfrm>
          <a:prstGeom prst="rect">
            <a:avLst/>
          </a:prstGeom>
          <a:noFill/>
          <a:ln/>
        </p:spPr>
        <p:txBody>
          <a:bodyPr wrap="square" lIns="0" tIns="0" rIns="0" bIns="0" rtlCol="0" anchor="ctr"/>
          <a:lstStyle/>
          <a:p>
            <a:pPr indent="0" marL="0">
              <a:buNone/>
            </a:pPr>
            <a:r>
              <a:rPr lang="en-US" sz="1350" b="1" dirty="0">
                <a:solidFill>
                  <a:srgbClr val="02C39A"/>
                </a:solidFill>
                <a:latin typeface="Arial" pitchFamily="34" charset="0"/>
                <a:ea typeface="Arial" pitchFamily="34" charset="-122"/>
                <a:cs typeface="Arial" pitchFamily="34" charset="-120"/>
              </a:rPr>
              <a:t>Hypothesis:  </a:t>
            </a:r>
            <a:pPr indent="0" marL="0">
              <a:buNone/>
            </a:pPr>
            <a:r>
              <a:rPr lang="en-US" sz="1350" dirty="0">
                <a:solidFill>
                  <a:srgbClr val="FFFFFF"/>
                </a:solidFill>
                <a:latin typeface="Arial" pitchFamily="34" charset="0"/>
                <a:ea typeface="Arial" pitchFamily="34" charset="-122"/>
                <a:cs typeface="Arial" pitchFamily="34" charset="-120"/>
              </a:rPr>
              <a:t>more engaged teams answer each other faster.</a:t>
            </a:r>
            <a:endParaRPr lang="en-US" sz="1350" dirty="0"/>
          </a:p>
        </p:txBody>
      </p:sp>
      <p:sp>
        <p:nvSpPr>
          <p:cNvPr id="26" name="Text 22"/>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MODEL</a:t>
            </a:r>
            <a:endParaRPr lang="en-US" sz="1200" dirty="0"/>
          </a:p>
        </p:txBody>
      </p:sp>
      <p:sp>
        <p:nvSpPr>
          <p:cNvPr id="3" name="Text 1"/>
          <p:cNvSpPr/>
          <p:nvPr/>
        </p:nvSpPr>
        <p:spPr>
          <a:xfrm>
            <a:off x="640080" y="777240"/>
            <a:ext cx="10972800" cy="822960"/>
          </a:xfrm>
          <a:prstGeom prst="rect">
            <a:avLst/>
          </a:prstGeom>
          <a:noFill/>
          <a:ln/>
        </p:spPr>
        <p:txBody>
          <a:bodyPr wrap="square" lIns="0" tIns="0" rIns="0" bIns="0" rtlCol="0" anchor="ctr"/>
          <a:lstStyle/>
          <a:p>
            <a:pPr algn="l" indent="0" marL="0">
              <a:buNone/>
            </a:pPr>
            <a:r>
              <a:rPr lang="en-US" sz="3200" b="1" dirty="0">
                <a:solidFill>
                  <a:srgbClr val="16263B"/>
                </a:solidFill>
                <a:latin typeface="Georgia" pitchFamily="34" charset="0"/>
                <a:ea typeface="Georgia" pitchFamily="34" charset="-122"/>
                <a:cs typeface="Georgia" pitchFamily="34" charset="-120"/>
              </a:rPr>
              <a:t>Ridge regression — chosen, then stress-tested</a:t>
            </a:r>
            <a:endParaRPr lang="en-US" sz="3200" dirty="0"/>
          </a:p>
        </p:txBody>
      </p:sp>
      <p:sp>
        <p:nvSpPr>
          <p:cNvPr id="4" name="Shape 2"/>
          <p:cNvSpPr/>
          <p:nvPr/>
        </p:nvSpPr>
        <p:spPr>
          <a:xfrm>
            <a:off x="640080" y="1691640"/>
            <a:ext cx="5257800" cy="4160520"/>
          </a:xfrm>
          <a:prstGeom prst="roundRect">
            <a:avLst>
              <a:gd name="adj" fmla="val 1978"/>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868680" y="1965960"/>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r>
          <p:cNvPicPr>
            <a:picLocks noChangeAspect="1"/>
          </p:cNvPicPr>
          <p:nvPr/>
        </p:nvPicPr>
        <p:blipFill>
          <a:blip r:embed="rId1"/>
          <a:stretch>
            <a:fillRect/>
          </a:stretch>
        </p:blipFill>
        <p:spPr>
          <a:xfrm>
            <a:off x="1011326" y="2108606"/>
            <a:ext cx="263347" cy="263347"/>
          </a:xfrm>
          <a:prstGeom prst="rect">
            <a:avLst/>
          </a:prstGeom>
        </p:spPr>
      </p:pic>
      <p:sp>
        <p:nvSpPr>
          <p:cNvPr id="7" name="Text 4"/>
          <p:cNvSpPr/>
          <p:nvPr/>
        </p:nvSpPr>
        <p:spPr>
          <a:xfrm>
            <a:off x="1600200" y="2075688"/>
            <a:ext cx="4114800" cy="365760"/>
          </a:xfrm>
          <a:prstGeom prst="rect">
            <a:avLst/>
          </a:prstGeom>
          <a:noFill/>
          <a:ln/>
        </p:spPr>
        <p:txBody>
          <a:bodyPr wrap="square" lIns="0" tIns="0" rIns="0" bIns="0" rtlCol="0" anchor="ctr"/>
          <a:lstStyle/>
          <a:p>
            <a:pPr indent="0" marL="0">
              <a:buNone/>
            </a:pPr>
            <a:r>
              <a:rPr lang="en-US" sz="1600" b="1" dirty="0">
                <a:solidFill>
                  <a:srgbClr val="16263B"/>
                </a:solidFill>
                <a:latin typeface="Arial" pitchFamily="34" charset="0"/>
                <a:ea typeface="Arial" pitchFamily="34" charset="-122"/>
                <a:cs typeface="Arial" pitchFamily="34" charset="-120"/>
              </a:rPr>
              <a:t>Why Ridge?</a:t>
            </a:r>
            <a:endParaRPr lang="en-US" sz="1600" dirty="0"/>
          </a:p>
        </p:txBody>
      </p:sp>
      <p:sp>
        <p:nvSpPr>
          <p:cNvPr id="8" name="Text 5"/>
          <p:cNvSpPr/>
          <p:nvPr/>
        </p:nvSpPr>
        <p:spPr>
          <a:xfrm>
            <a:off x="914400" y="2697480"/>
            <a:ext cx="4800600" cy="3017520"/>
          </a:xfrm>
          <a:prstGeom prst="rect">
            <a:avLst/>
          </a:prstGeom>
          <a:noFill/>
          <a:ln/>
        </p:spPr>
        <p:txBody>
          <a:bodyPr wrap="square" lIns="0" tIns="0" rIns="0" bIns="0" rtlCol="0" anchor="ctr"/>
          <a:lstStyle/>
          <a:p>
            <a:pPr indent="0" marL="0">
              <a:lnSpc>
                <a:spcPct val="105000"/>
              </a:lnSpc>
              <a:buNone/>
            </a:pPr>
            <a:r>
              <a:rPr lang="en-US" sz="1300" b="1" dirty="0">
                <a:solidFill>
                  <a:srgbClr val="16263B"/>
                </a:solidFill>
                <a:latin typeface="Arial" pitchFamily="34" charset="0"/>
                <a:ea typeface="Arial" pitchFamily="34" charset="-122"/>
                <a:cs typeface="Arial" pitchFamily="34" charset="-120"/>
              </a:rPr>
              <a:t>Engagement features move together.</a:t>
            </a:r>
            <a:endParaRPr lang="en-US" sz="1300" dirty="0"/>
          </a:p>
          <a:p>
            <a:pPr indent="0" marL="0">
              <a:lnSpc>
                <a:spcPct val="105000"/>
              </a:lnSpc>
              <a:buNone/>
            </a:pPr>
            <a:r>
              <a:rPr lang="en-US" sz="1300" dirty="0">
                <a:solidFill>
                  <a:srgbClr val="5C6B7A"/>
                </a:solidFill>
                <a:latin typeface="Arial" pitchFamily="34" charset="0"/>
                <a:ea typeface="Arial" pitchFamily="34" charset="-122"/>
                <a:cs typeface="Arial" pitchFamily="34" charset="-120"/>
              </a:rPr>
              <a:t>Busy days are busy across the board, so features are highly correlated (multicollinearity).</a:t>
            </a:r>
            <a:endParaRPr lang="en-US" sz="1300" dirty="0"/>
          </a:p>
          <a:p>
            <a:pPr indent="0" marL="0">
              <a:lnSpc>
                <a:spcPct val="105000"/>
              </a:lnSpc>
              <a:buNone/>
            </a:pPr>
            <a:endParaRPr lang="en-US" sz="1300" dirty="0"/>
          </a:p>
          <a:p>
            <a:pPr indent="0" marL="0">
              <a:lnSpc>
                <a:spcPct val="105000"/>
              </a:lnSpc>
              <a:buNone/>
            </a:pPr>
            <a:r>
              <a:rPr lang="en-US" sz="1300" b="1" dirty="0">
                <a:solidFill>
                  <a:srgbClr val="16263B"/>
                </a:solidFill>
                <a:latin typeface="Arial" pitchFamily="34" charset="0"/>
                <a:ea typeface="Arial" pitchFamily="34" charset="-122"/>
                <a:cs typeface="Arial" pitchFamily="34" charset="-120"/>
              </a:rPr>
              <a:t>Ridge keeps coefficients stable.</a:t>
            </a:r>
            <a:endParaRPr lang="en-US" sz="1300" dirty="0"/>
          </a:p>
          <a:p>
            <a:pPr indent="0" marL="0">
              <a:lnSpc>
                <a:spcPct val="105000"/>
              </a:lnSpc>
              <a:buNone/>
            </a:pPr>
            <a:r>
              <a:rPr lang="en-US" sz="1300" dirty="0">
                <a:solidFill>
                  <a:srgbClr val="5C6B7A"/>
                </a:solidFill>
                <a:latin typeface="Arial" pitchFamily="34" charset="0"/>
                <a:ea typeface="Arial" pitchFamily="34" charset="-122"/>
                <a:cs typeface="Arial" pitchFamily="34" charset="-120"/>
              </a:rPr>
              <a:t>Its L2 penalty prevents the wild, unstable weights ordinary least squares would produce here — trading a little bias for far more reliable, interpretable coefficients.</a:t>
            </a:r>
            <a:endParaRPr lang="en-US" sz="1300" dirty="0"/>
          </a:p>
        </p:txBody>
      </p:sp>
      <p:sp>
        <p:nvSpPr>
          <p:cNvPr id="9" name="Shape 6"/>
          <p:cNvSpPr/>
          <p:nvPr/>
        </p:nvSpPr>
        <p:spPr>
          <a:xfrm>
            <a:off x="6263640" y="1691640"/>
            <a:ext cx="5257800" cy="4160520"/>
          </a:xfrm>
          <a:prstGeom prst="roundRect">
            <a:avLst>
              <a:gd name="adj" fmla="val 1978"/>
            </a:avLst>
          </a:prstGeom>
          <a:solidFill>
            <a:srgbClr val="F4F9FB"/>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0" name="Shape 7"/>
          <p:cNvSpPr/>
          <p:nvPr/>
        </p:nvSpPr>
        <p:spPr>
          <a:xfrm>
            <a:off x="6492240" y="1965960"/>
            <a:ext cx="548640" cy="548640"/>
          </a:xfrm>
          <a:prstGeom prst="ellipse">
            <a:avLst/>
          </a:prstGeom>
          <a:solidFill>
            <a:srgbClr val="00A896"/>
          </a:solidFill>
          <a:ln/>
          <a:effectLst>
            <a:outerShdw sx="100000" sy="100000" kx="0" ky="0" algn="bl" rotWithShape="0" blurRad="114300" dist="38100" dir="5400000">
              <a:srgbClr val="0A1A2E">
                <a:alpha val="16000"/>
              </a:srgbClr>
            </a:outerShdw>
          </a:effectLst>
        </p:spPr>
      </p:sp>
      <p:pic>
        <p:nvPicPr>
          <p:cNvPr id="11" name="Image 1" descr="preencoded.png">    </p:cNvPr>
          <p:cNvPicPr>
            <a:picLocks noChangeAspect="1"/>
          </p:cNvPicPr>
          <p:nvPr/>
        </p:nvPicPr>
        <p:blipFill>
          <a:blip r:embed="rId2"/>
          <a:stretch>
            <a:fillRect/>
          </a:stretch>
        </p:blipFill>
        <p:spPr>
          <a:xfrm>
            <a:off x="6634886" y="2108606"/>
            <a:ext cx="263347" cy="263347"/>
          </a:xfrm>
          <a:prstGeom prst="rect">
            <a:avLst/>
          </a:prstGeom>
        </p:spPr>
      </p:pic>
      <p:sp>
        <p:nvSpPr>
          <p:cNvPr id="12" name="Text 8"/>
          <p:cNvSpPr/>
          <p:nvPr/>
        </p:nvSpPr>
        <p:spPr>
          <a:xfrm>
            <a:off x="7223760" y="2075688"/>
            <a:ext cx="4114800" cy="365760"/>
          </a:xfrm>
          <a:prstGeom prst="rect">
            <a:avLst/>
          </a:prstGeom>
          <a:noFill/>
          <a:ln/>
        </p:spPr>
        <p:txBody>
          <a:bodyPr wrap="square" lIns="0" tIns="0" rIns="0" bIns="0" rtlCol="0" anchor="ctr"/>
          <a:lstStyle/>
          <a:p>
            <a:pPr indent="0" marL="0">
              <a:buNone/>
            </a:pPr>
            <a:r>
              <a:rPr lang="en-US" sz="1600" b="1" dirty="0">
                <a:solidFill>
                  <a:srgbClr val="16263B"/>
                </a:solidFill>
                <a:latin typeface="Arial" pitchFamily="34" charset="0"/>
                <a:ea typeface="Arial" pitchFamily="34" charset="-122"/>
                <a:cs typeface="Arial" pitchFamily="34" charset="-120"/>
              </a:rPr>
              <a:t>Validation rigor (v10)</a:t>
            </a:r>
            <a:endParaRPr lang="en-US" sz="1600" dirty="0"/>
          </a:p>
        </p:txBody>
      </p:sp>
      <p:sp>
        <p:nvSpPr>
          <p:cNvPr id="13" name="Text 9"/>
          <p:cNvSpPr/>
          <p:nvPr/>
        </p:nvSpPr>
        <p:spPr>
          <a:xfrm>
            <a:off x="6583680" y="2743200"/>
            <a:ext cx="4754880" cy="301752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16263B"/>
                </a:solidFill>
                <a:latin typeface="Arial" pitchFamily="34" charset="0"/>
                <a:ea typeface="Arial" pitchFamily="34" charset="-122"/>
                <a:cs typeface="Arial" pitchFamily="34" charset="-120"/>
              </a:rPr>
              <a:t>Cross-validated baseline before any tuning</a:t>
            </a:r>
            <a:endParaRPr lang="en-US" sz="1300" dirty="0"/>
          </a:p>
          <a:p>
            <a:pPr marL="342900" indent="-342900">
              <a:spcAft>
                <a:spcPts val="800"/>
              </a:spcAft>
              <a:buSzPct val="100000"/>
              <a:buChar char="✓"/>
            </a:pPr>
            <a:r>
              <a:rPr lang="en-US" sz="1300" dirty="0">
                <a:solidFill>
                  <a:srgbClr val="16263B"/>
                </a:solidFill>
                <a:latin typeface="Arial" pitchFamily="34" charset="0"/>
                <a:ea typeface="Arial" pitchFamily="34" charset="-122"/>
                <a:cs typeface="Arial" pitchFamily="34" charset="-120"/>
              </a:rPr>
              <a:t>Empirical alpha sweep for the penalty strength</a:t>
            </a:r>
            <a:endParaRPr lang="en-US" sz="1300" dirty="0"/>
          </a:p>
          <a:p>
            <a:pPr marL="342900" indent="-342900">
              <a:spcAft>
                <a:spcPts val="800"/>
              </a:spcAft>
              <a:buSzPct val="100000"/>
              <a:buChar char="✓"/>
            </a:pPr>
            <a:r>
              <a:rPr lang="en-US" sz="1300" dirty="0">
                <a:solidFill>
                  <a:srgbClr val="16263B"/>
                </a:solidFill>
                <a:latin typeface="Arial" pitchFamily="34" charset="0"/>
                <a:ea typeface="Arial" pitchFamily="34" charset="-122"/>
                <a:cs typeface="Arial" pitchFamily="34" charset="-120"/>
              </a:rPr>
              <a:t>Model-family comparison vs. alternatives</a:t>
            </a:r>
            <a:endParaRPr lang="en-US" sz="1300" dirty="0"/>
          </a:p>
          <a:p>
            <a:pPr marL="342900" indent="-342900">
              <a:spcAft>
                <a:spcPts val="800"/>
              </a:spcAft>
              <a:buSzPct val="100000"/>
              <a:buChar char="✓"/>
            </a:pPr>
            <a:r>
              <a:rPr lang="en-US" sz="1300" dirty="0">
                <a:solidFill>
                  <a:srgbClr val="16263B"/>
                </a:solidFill>
                <a:latin typeface="Arial" pitchFamily="34" charset="0"/>
                <a:ea typeface="Arial" pitchFamily="34" charset="-122"/>
                <a:cs typeface="Arial" pitchFamily="34" charset="-120"/>
              </a:rPr>
              <a:t>GridSearchCV hyperparameter tuning</a:t>
            </a:r>
            <a:endParaRPr lang="en-US" sz="1300" dirty="0"/>
          </a:p>
          <a:p>
            <a:pPr marL="342900" indent="-342900">
              <a:spcAft>
                <a:spcPts val="800"/>
              </a:spcAft>
              <a:buSzPct val="100000"/>
              <a:buChar char="✓"/>
            </a:pPr>
            <a:r>
              <a:rPr lang="en-US" sz="1300" dirty="0">
                <a:solidFill>
                  <a:srgbClr val="16263B"/>
                </a:solidFill>
                <a:latin typeface="Arial" pitchFamily="34" charset="0"/>
                <a:ea typeface="Arial" pitchFamily="34" charset="-122"/>
                <a:cs typeface="Arial" pitchFamily="34" charset="-120"/>
              </a:rPr>
              <a:t>Held-out test-set evaluation (no peeking)</a:t>
            </a:r>
            <a:endParaRPr lang="en-US" sz="1300" dirty="0"/>
          </a:p>
          <a:p>
            <a:pPr marL="342900" indent="-342900">
              <a:spcAft>
                <a:spcPts val="800"/>
              </a:spcAft>
              <a:buSzPct val="100000"/>
              <a:buChar char="✓"/>
            </a:pPr>
            <a:r>
              <a:rPr lang="en-US" sz="1300" dirty="0">
                <a:solidFill>
                  <a:srgbClr val="16263B"/>
                </a:solidFill>
                <a:latin typeface="Arial" pitchFamily="34" charset="0"/>
                <a:ea typeface="Arial" pitchFamily="34" charset="-122"/>
                <a:cs typeface="Arial" pitchFamily="34" charset="-120"/>
              </a:rPr>
              <a:t>Permutation feature importance for honest ranking</a:t>
            </a:r>
            <a:endParaRPr lang="en-US" sz="1300" dirty="0"/>
          </a:p>
        </p:txBody>
      </p:sp>
      <p:sp>
        <p:nvSpPr>
          <p:cNvPr id="14" name="Text 10"/>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NEW — THE FRONTEND</a:t>
            </a:r>
            <a:endParaRPr lang="en-US" sz="1200" dirty="0"/>
          </a:p>
        </p:txBody>
      </p:sp>
      <p:sp>
        <p:nvSpPr>
          <p:cNvPr id="3" name="Text 1"/>
          <p:cNvSpPr/>
          <p:nvPr/>
        </p:nvSpPr>
        <p:spPr>
          <a:xfrm>
            <a:off x="640080" y="777240"/>
            <a:ext cx="10972800" cy="822960"/>
          </a:xfrm>
          <a:prstGeom prst="rect">
            <a:avLst/>
          </a:prstGeom>
          <a:noFill/>
          <a:ln/>
        </p:spPr>
        <p:txBody>
          <a:bodyPr wrap="square" lIns="0" tIns="0" rIns="0" bIns="0" rtlCol="0" anchor="ctr"/>
          <a:lstStyle/>
          <a:p>
            <a:pPr algn="l" indent="0" marL="0">
              <a:buNone/>
            </a:pPr>
            <a:r>
              <a:rPr lang="en-US" sz="3200" b="1" dirty="0">
                <a:solidFill>
                  <a:srgbClr val="16263B"/>
                </a:solidFill>
                <a:latin typeface="Georgia" pitchFamily="34" charset="0"/>
                <a:ea typeface="Georgia" pitchFamily="34" charset="-122"/>
                <a:cs typeface="Georgia" pitchFamily="34" charset="-120"/>
              </a:rPr>
              <a:t>From notebook to a self-serve web dashboard</a:t>
            </a:r>
            <a:endParaRPr lang="en-US" sz="3200" dirty="0"/>
          </a:p>
        </p:txBody>
      </p:sp>
      <p:sp>
        <p:nvSpPr>
          <p:cNvPr id="4" name="Text 2"/>
          <p:cNvSpPr/>
          <p:nvPr/>
        </p:nvSpPr>
        <p:spPr>
          <a:xfrm>
            <a:off x="640080" y="1508760"/>
            <a:ext cx="10881360" cy="502920"/>
          </a:xfrm>
          <a:prstGeom prst="rect">
            <a:avLst/>
          </a:prstGeom>
          <a:noFill/>
          <a:ln/>
        </p:spPr>
        <p:txBody>
          <a:bodyPr wrap="square" lIns="0" tIns="0" rIns="0" bIns="0" rtlCol="0" anchor="ctr"/>
          <a:lstStyle/>
          <a:p>
            <a:pPr indent="0" marL="0">
              <a:buNone/>
            </a:pPr>
            <a:r>
              <a:rPr lang="en-US" sz="1450" dirty="0">
                <a:solidFill>
                  <a:srgbClr val="5C6B7A"/>
                </a:solidFill>
                <a:latin typeface="Arial" pitchFamily="34" charset="0"/>
                <a:ea typeface="Arial" pitchFamily="34" charset="-122"/>
                <a:cs typeface="Arial" pitchFamily="34" charset="-120"/>
              </a:rPr>
              <a:t>A Flask app puts the whole pipeline behind a browser: drop in the CSV exports, get results in one click — no code, no Colab.</a:t>
            </a:r>
            <a:endParaRPr lang="en-US" sz="1450" dirty="0"/>
          </a:p>
        </p:txBody>
      </p:sp>
      <p:sp>
        <p:nvSpPr>
          <p:cNvPr id="5" name="Shape 3"/>
          <p:cNvSpPr/>
          <p:nvPr/>
        </p:nvSpPr>
        <p:spPr>
          <a:xfrm>
            <a:off x="640080" y="2194560"/>
            <a:ext cx="5486400" cy="3657600"/>
          </a:xfrm>
          <a:prstGeom prst="roundRect">
            <a:avLst>
              <a:gd name="adj" fmla="val 2250"/>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6" name="Shape 4"/>
          <p:cNvSpPr/>
          <p:nvPr/>
        </p:nvSpPr>
        <p:spPr>
          <a:xfrm>
            <a:off x="640080" y="2194560"/>
            <a:ext cx="5486400" cy="457200"/>
          </a:xfrm>
          <a:prstGeom prst="roundRect">
            <a:avLst>
              <a:gd name="adj" fmla="val 12000"/>
            </a:avLst>
          </a:prstGeom>
          <a:solidFill>
            <a:srgbClr val="11243F"/>
          </a:solidFill>
          <a:ln/>
        </p:spPr>
      </p:sp>
      <p:sp>
        <p:nvSpPr>
          <p:cNvPr id="7" name="Shape 5"/>
          <p:cNvSpPr/>
          <p:nvPr/>
        </p:nvSpPr>
        <p:spPr>
          <a:xfrm>
            <a:off x="841248" y="2359152"/>
            <a:ext cx="128016" cy="128016"/>
          </a:xfrm>
          <a:prstGeom prst="ellipse">
            <a:avLst/>
          </a:prstGeom>
          <a:solidFill>
            <a:srgbClr val="F96167"/>
          </a:solidFill>
          <a:ln/>
        </p:spPr>
      </p:sp>
      <p:sp>
        <p:nvSpPr>
          <p:cNvPr id="8" name="Shape 6"/>
          <p:cNvSpPr/>
          <p:nvPr/>
        </p:nvSpPr>
        <p:spPr>
          <a:xfrm>
            <a:off x="1042416" y="2359152"/>
            <a:ext cx="128016" cy="128016"/>
          </a:xfrm>
          <a:prstGeom prst="ellipse">
            <a:avLst/>
          </a:prstGeom>
          <a:solidFill>
            <a:srgbClr val="F9E795"/>
          </a:solidFill>
          <a:ln/>
        </p:spPr>
      </p:sp>
      <p:sp>
        <p:nvSpPr>
          <p:cNvPr id="9" name="Shape 7"/>
          <p:cNvSpPr/>
          <p:nvPr/>
        </p:nvSpPr>
        <p:spPr>
          <a:xfrm>
            <a:off x="1243584" y="2359152"/>
            <a:ext cx="128016" cy="128016"/>
          </a:xfrm>
          <a:prstGeom prst="ellipse">
            <a:avLst/>
          </a:prstGeom>
          <a:solidFill>
            <a:srgbClr val="00A896"/>
          </a:solidFill>
          <a:ln/>
        </p:spPr>
      </p:sp>
      <p:sp>
        <p:nvSpPr>
          <p:cNvPr id="10" name="Text 8"/>
          <p:cNvSpPr/>
          <p:nvPr/>
        </p:nvSpPr>
        <p:spPr>
          <a:xfrm>
            <a:off x="1554480" y="2286000"/>
            <a:ext cx="4389120" cy="274320"/>
          </a:xfrm>
          <a:prstGeom prst="rect">
            <a:avLst/>
          </a:prstGeom>
          <a:noFill/>
          <a:ln/>
        </p:spPr>
        <p:txBody>
          <a:bodyPr wrap="square" lIns="0" tIns="0" rIns="0" bIns="0" rtlCol="0" anchor="ctr"/>
          <a:lstStyle/>
          <a:p>
            <a:pPr indent="0" marL="0">
              <a:buNone/>
            </a:pPr>
            <a:r>
              <a:rPr lang="en-US" sz="1100" dirty="0">
                <a:solidFill>
                  <a:srgbClr val="C7D6E5"/>
                </a:solidFill>
                <a:latin typeface="Arial" pitchFamily="34" charset="0"/>
                <a:ea typeface="Arial" pitchFamily="34" charset="-122"/>
                <a:cs typeface="Arial" pitchFamily="34" charset="-120"/>
              </a:rPr>
              <a:t>organizationaltrustquotient.com</a:t>
            </a:r>
            <a:endParaRPr lang="en-US" sz="1100" dirty="0"/>
          </a:p>
        </p:txBody>
      </p:sp>
      <p:sp>
        <p:nvSpPr>
          <p:cNvPr id="11" name="Shape 9"/>
          <p:cNvSpPr/>
          <p:nvPr/>
        </p:nvSpPr>
        <p:spPr>
          <a:xfrm>
            <a:off x="914400" y="2880360"/>
            <a:ext cx="4937760" cy="1143000"/>
          </a:xfrm>
          <a:prstGeom prst="roundRect">
            <a:avLst>
              <a:gd name="adj" fmla="val 4800"/>
            </a:avLst>
          </a:prstGeom>
          <a:solidFill>
            <a:srgbClr val="F4F9FB"/>
          </a:solidFill>
          <a:ln w="19050">
            <a:solidFill>
              <a:srgbClr val="028090"/>
            </a:solidFill>
            <a:prstDash val="dash"/>
          </a:ln>
        </p:spPr>
      </p:sp>
      <p:sp>
        <p:nvSpPr>
          <p:cNvPr id="12" name="Shape 10"/>
          <p:cNvSpPr/>
          <p:nvPr/>
        </p:nvSpPr>
        <p:spPr>
          <a:xfrm>
            <a:off x="3246120" y="3035808"/>
            <a:ext cx="502920" cy="50292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3" name="Image 0" descr="preencoded.png">    </p:cNvPr>
          <p:cNvPicPr>
            <a:picLocks noChangeAspect="1"/>
          </p:cNvPicPr>
          <p:nvPr/>
        </p:nvPicPr>
        <p:blipFill>
          <a:blip r:embed="rId1"/>
          <a:stretch>
            <a:fillRect/>
          </a:stretch>
        </p:blipFill>
        <p:spPr>
          <a:xfrm>
            <a:off x="3376879" y="3166567"/>
            <a:ext cx="241402" cy="241402"/>
          </a:xfrm>
          <a:prstGeom prst="rect">
            <a:avLst/>
          </a:prstGeom>
        </p:spPr>
      </p:pic>
      <p:sp>
        <p:nvSpPr>
          <p:cNvPr id="14" name="Text 11"/>
          <p:cNvSpPr/>
          <p:nvPr/>
        </p:nvSpPr>
        <p:spPr>
          <a:xfrm>
            <a:off x="1005840" y="3584448"/>
            <a:ext cx="4754880" cy="274320"/>
          </a:xfrm>
          <a:prstGeom prst="rect">
            <a:avLst/>
          </a:prstGeom>
          <a:noFill/>
          <a:ln/>
        </p:spPr>
        <p:txBody>
          <a:bodyPr wrap="square" lIns="0" tIns="0" rIns="0" bIns="0" rtlCol="0" anchor="ctr"/>
          <a:lstStyle/>
          <a:p>
            <a:pPr algn="ctr" indent="0" marL="0">
              <a:buNone/>
            </a:pPr>
            <a:r>
              <a:rPr lang="en-US" sz="1250" b="1" dirty="0">
                <a:solidFill>
                  <a:srgbClr val="16263B"/>
                </a:solidFill>
                <a:latin typeface="Arial" pitchFamily="34" charset="0"/>
                <a:ea typeface="Arial" pitchFamily="34" charset="-122"/>
                <a:cs typeface="Arial" pitchFamily="34" charset="-120"/>
              </a:rPr>
              <a:t>Drop Slack / Teams / Outlook CSVs</a:t>
            </a:r>
            <a:endParaRPr lang="en-US" sz="1250" dirty="0"/>
          </a:p>
        </p:txBody>
      </p:sp>
      <p:sp>
        <p:nvSpPr>
          <p:cNvPr id="15" name="Shape 12"/>
          <p:cNvSpPr/>
          <p:nvPr/>
        </p:nvSpPr>
        <p:spPr>
          <a:xfrm>
            <a:off x="914400" y="4206240"/>
            <a:ext cx="1554480" cy="566928"/>
          </a:xfrm>
          <a:prstGeom prst="roundRect">
            <a:avLst>
              <a:gd name="adj" fmla="val 12903"/>
            </a:avLst>
          </a:prstGeom>
          <a:solidFill>
            <a:srgbClr val="028090"/>
          </a:solidFill>
          <a:ln/>
        </p:spPr>
      </p:sp>
      <p:sp>
        <p:nvSpPr>
          <p:cNvPr id="16" name="Text 13"/>
          <p:cNvSpPr/>
          <p:nvPr/>
        </p:nvSpPr>
        <p:spPr>
          <a:xfrm>
            <a:off x="914400" y="4206240"/>
            <a:ext cx="15544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Test R²</a:t>
            </a:r>
            <a:endParaRPr lang="en-US" sz="1150" dirty="0"/>
          </a:p>
        </p:txBody>
      </p:sp>
      <p:sp>
        <p:nvSpPr>
          <p:cNvPr id="17" name="Shape 14"/>
          <p:cNvSpPr/>
          <p:nvPr/>
        </p:nvSpPr>
        <p:spPr>
          <a:xfrm>
            <a:off x="2606040" y="4206240"/>
            <a:ext cx="1554480" cy="566928"/>
          </a:xfrm>
          <a:prstGeom prst="roundRect">
            <a:avLst>
              <a:gd name="adj" fmla="val 12903"/>
            </a:avLst>
          </a:prstGeom>
          <a:solidFill>
            <a:srgbClr val="00A896"/>
          </a:solidFill>
          <a:ln/>
        </p:spPr>
      </p:sp>
      <p:sp>
        <p:nvSpPr>
          <p:cNvPr id="18" name="Text 15"/>
          <p:cNvSpPr/>
          <p:nvPr/>
        </p:nvSpPr>
        <p:spPr>
          <a:xfrm>
            <a:off x="2606040" y="4206240"/>
            <a:ext cx="15544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MAE (min)</a:t>
            </a:r>
            <a:endParaRPr lang="en-US" sz="1150" dirty="0"/>
          </a:p>
        </p:txBody>
      </p:sp>
      <p:sp>
        <p:nvSpPr>
          <p:cNvPr id="19" name="Shape 16"/>
          <p:cNvSpPr/>
          <p:nvPr/>
        </p:nvSpPr>
        <p:spPr>
          <a:xfrm>
            <a:off x="4297680" y="4206240"/>
            <a:ext cx="1554480" cy="566928"/>
          </a:xfrm>
          <a:prstGeom prst="roundRect">
            <a:avLst>
              <a:gd name="adj" fmla="val 12903"/>
            </a:avLst>
          </a:prstGeom>
          <a:solidFill>
            <a:srgbClr val="02C39A"/>
          </a:solidFill>
          <a:ln/>
        </p:spPr>
      </p:sp>
      <p:sp>
        <p:nvSpPr>
          <p:cNvPr id="20" name="Text 17"/>
          <p:cNvSpPr/>
          <p:nvPr/>
        </p:nvSpPr>
        <p:spPr>
          <a:xfrm>
            <a:off x="4297680" y="4206240"/>
            <a:ext cx="15544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Coefficients</a:t>
            </a:r>
            <a:endParaRPr lang="en-US" sz="1150" dirty="0"/>
          </a:p>
        </p:txBody>
      </p:sp>
      <p:sp>
        <p:nvSpPr>
          <p:cNvPr id="21" name="Shape 18"/>
          <p:cNvSpPr/>
          <p:nvPr/>
        </p:nvSpPr>
        <p:spPr>
          <a:xfrm>
            <a:off x="914400" y="4937760"/>
            <a:ext cx="4937760" cy="713232"/>
          </a:xfrm>
          <a:prstGeom prst="roundRect">
            <a:avLst>
              <a:gd name="adj" fmla="val 7692"/>
            </a:avLst>
          </a:prstGeom>
          <a:solidFill>
            <a:srgbClr val="F4F9FB"/>
          </a:solidFill>
          <a:ln/>
        </p:spPr>
      </p:sp>
      <p:sp>
        <p:nvSpPr>
          <p:cNvPr id="22" name="Text 19"/>
          <p:cNvSpPr/>
          <p:nvPr/>
        </p:nvSpPr>
        <p:spPr>
          <a:xfrm>
            <a:off x="914400" y="4937760"/>
            <a:ext cx="4937760" cy="713232"/>
          </a:xfrm>
          <a:prstGeom prst="rect">
            <a:avLst/>
          </a:prstGeom>
          <a:noFill/>
          <a:ln/>
        </p:spPr>
        <p:txBody>
          <a:bodyPr wrap="square" lIns="0" tIns="0" rIns="0" bIns="0" rtlCol="0" anchor="ctr"/>
          <a:lstStyle/>
          <a:p>
            <a:pPr algn="ctr" indent="0" marL="0">
              <a:buNone/>
            </a:pPr>
            <a:r>
              <a:rPr lang="en-US" sz="1150" i="1" dirty="0">
                <a:solidFill>
                  <a:srgbClr val="5C6B7A"/>
                </a:solidFill>
                <a:latin typeface="Arial" pitchFamily="34" charset="0"/>
                <a:ea typeface="Arial" pitchFamily="34" charset="-122"/>
                <a:cs typeface="Arial" pitchFamily="34" charset="-120"/>
              </a:rPr>
              <a:t>EU distribution · coefficients · actual vs. predicted</a:t>
            </a:r>
            <a:endParaRPr lang="en-US" sz="1150" dirty="0"/>
          </a:p>
        </p:txBody>
      </p:sp>
      <p:sp>
        <p:nvSpPr>
          <p:cNvPr id="23" name="Shape 20"/>
          <p:cNvSpPr/>
          <p:nvPr/>
        </p:nvSpPr>
        <p:spPr>
          <a:xfrm>
            <a:off x="6355080" y="2194560"/>
            <a:ext cx="5166360" cy="850392"/>
          </a:xfrm>
          <a:prstGeom prst="roundRect">
            <a:avLst>
              <a:gd name="adj" fmla="val 9677"/>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4" name="Shape 21"/>
          <p:cNvSpPr/>
          <p:nvPr/>
        </p:nvSpPr>
        <p:spPr>
          <a:xfrm>
            <a:off x="6565392" y="2359152"/>
            <a:ext cx="521208" cy="521208"/>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25" name="Image 1" descr="preencoded.png">    </p:cNvPr>
          <p:cNvPicPr>
            <a:picLocks noChangeAspect="1"/>
          </p:cNvPicPr>
          <p:nvPr/>
        </p:nvPicPr>
        <p:blipFill>
          <a:blip r:embed="rId2"/>
          <a:stretch>
            <a:fillRect/>
          </a:stretch>
        </p:blipFill>
        <p:spPr>
          <a:xfrm>
            <a:off x="6700906" y="2494666"/>
            <a:ext cx="250180" cy="250180"/>
          </a:xfrm>
          <a:prstGeom prst="rect">
            <a:avLst/>
          </a:prstGeom>
        </p:spPr>
      </p:pic>
      <p:sp>
        <p:nvSpPr>
          <p:cNvPr id="26" name="Text 22"/>
          <p:cNvSpPr/>
          <p:nvPr/>
        </p:nvSpPr>
        <p:spPr>
          <a:xfrm>
            <a:off x="7315200" y="2331720"/>
            <a:ext cx="4069080" cy="292608"/>
          </a:xfrm>
          <a:prstGeom prst="rect">
            <a:avLst/>
          </a:prstGeom>
          <a:noFill/>
          <a:ln/>
        </p:spPr>
        <p:txBody>
          <a:bodyPr wrap="square" lIns="0" tIns="0" rIns="0" bIns="0" rtlCol="0" anchor="ctr"/>
          <a:lstStyle/>
          <a:p>
            <a:pPr indent="0" marL="0">
              <a:buNone/>
            </a:pPr>
            <a:r>
              <a:rPr lang="en-US" sz="1450" b="1" dirty="0">
                <a:solidFill>
                  <a:srgbClr val="16263B"/>
                </a:solidFill>
                <a:latin typeface="Arial" pitchFamily="34" charset="0"/>
                <a:ea typeface="Arial" pitchFamily="34" charset="-122"/>
                <a:cs typeface="Arial" pitchFamily="34" charset="-120"/>
              </a:rPr>
              <a:t>Upload &amp; auto-detect</a:t>
            </a:r>
            <a:endParaRPr lang="en-US" sz="1450" dirty="0"/>
          </a:p>
        </p:txBody>
      </p:sp>
      <p:sp>
        <p:nvSpPr>
          <p:cNvPr id="27" name="Text 23"/>
          <p:cNvSpPr/>
          <p:nvPr/>
        </p:nvSpPr>
        <p:spPr>
          <a:xfrm>
            <a:off x="7315200" y="2633472"/>
            <a:ext cx="4114800" cy="320040"/>
          </a:xfrm>
          <a:prstGeom prst="rect">
            <a:avLst/>
          </a:prstGeom>
          <a:noFill/>
          <a:ln/>
        </p:spPr>
        <p:txBody>
          <a:bodyPr wrap="square" lIns="0" tIns="0" rIns="0" bIns="0" rtlCol="0" anchor="ctr"/>
          <a:lstStyle/>
          <a:p>
            <a:pPr indent="0" marL="0">
              <a:buNone/>
            </a:pPr>
            <a:r>
              <a:rPr lang="en-US" sz="1150" dirty="0">
                <a:solidFill>
                  <a:srgbClr val="5C6B7A"/>
                </a:solidFill>
                <a:latin typeface="Arial" pitchFamily="34" charset="0"/>
                <a:ea typeface="Arial" pitchFamily="34" charset="-122"/>
                <a:cs typeface="Arial" pitchFamily="34" charset="-120"/>
              </a:rPr>
              <a:t>Files routed to the right parser by filename.</a:t>
            </a:r>
            <a:endParaRPr lang="en-US" sz="1150" dirty="0"/>
          </a:p>
        </p:txBody>
      </p:sp>
      <p:sp>
        <p:nvSpPr>
          <p:cNvPr id="28" name="Shape 24"/>
          <p:cNvSpPr/>
          <p:nvPr/>
        </p:nvSpPr>
        <p:spPr>
          <a:xfrm>
            <a:off x="6355080" y="3127248"/>
            <a:ext cx="5166360" cy="850392"/>
          </a:xfrm>
          <a:prstGeom prst="roundRect">
            <a:avLst>
              <a:gd name="adj" fmla="val 9677"/>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9" name="Shape 25"/>
          <p:cNvSpPr/>
          <p:nvPr/>
        </p:nvSpPr>
        <p:spPr>
          <a:xfrm>
            <a:off x="6565392" y="3291840"/>
            <a:ext cx="521208" cy="521208"/>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30" name="Image 2" descr="preencoded.png">    </p:cNvPr>
          <p:cNvPicPr>
            <a:picLocks noChangeAspect="1"/>
          </p:cNvPicPr>
          <p:nvPr/>
        </p:nvPicPr>
        <p:blipFill>
          <a:blip r:embed="rId3"/>
          <a:stretch>
            <a:fillRect/>
          </a:stretch>
        </p:blipFill>
        <p:spPr>
          <a:xfrm>
            <a:off x="6700906" y="3427354"/>
            <a:ext cx="250180" cy="250180"/>
          </a:xfrm>
          <a:prstGeom prst="rect">
            <a:avLst/>
          </a:prstGeom>
        </p:spPr>
      </p:pic>
      <p:sp>
        <p:nvSpPr>
          <p:cNvPr id="31" name="Text 26"/>
          <p:cNvSpPr/>
          <p:nvPr/>
        </p:nvSpPr>
        <p:spPr>
          <a:xfrm>
            <a:off x="7315200" y="3264408"/>
            <a:ext cx="4069080" cy="292608"/>
          </a:xfrm>
          <a:prstGeom prst="rect">
            <a:avLst/>
          </a:prstGeom>
          <a:noFill/>
          <a:ln/>
        </p:spPr>
        <p:txBody>
          <a:bodyPr wrap="square" lIns="0" tIns="0" rIns="0" bIns="0" rtlCol="0" anchor="ctr"/>
          <a:lstStyle/>
          <a:p>
            <a:pPr indent="0" marL="0">
              <a:buNone/>
            </a:pPr>
            <a:r>
              <a:rPr lang="en-US" sz="1450" b="1" dirty="0">
                <a:solidFill>
                  <a:srgbClr val="16263B"/>
                </a:solidFill>
                <a:latin typeface="Arial" pitchFamily="34" charset="0"/>
                <a:ea typeface="Arial" pitchFamily="34" charset="-122"/>
                <a:cs typeface="Arial" pitchFamily="34" charset="-120"/>
              </a:rPr>
              <a:t>Pipeline runs server-side</a:t>
            </a:r>
            <a:endParaRPr lang="en-US" sz="1450" dirty="0"/>
          </a:p>
        </p:txBody>
      </p:sp>
      <p:sp>
        <p:nvSpPr>
          <p:cNvPr id="32" name="Text 27"/>
          <p:cNvSpPr/>
          <p:nvPr/>
        </p:nvSpPr>
        <p:spPr>
          <a:xfrm>
            <a:off x="7315200" y="3566160"/>
            <a:ext cx="4114800" cy="320040"/>
          </a:xfrm>
          <a:prstGeom prst="rect">
            <a:avLst/>
          </a:prstGeom>
          <a:noFill/>
          <a:ln/>
        </p:spPr>
        <p:txBody>
          <a:bodyPr wrap="square" lIns="0" tIns="0" rIns="0" bIns="0" rtlCol="0" anchor="ctr"/>
          <a:lstStyle/>
          <a:p>
            <a:pPr indent="0" marL="0">
              <a:buNone/>
            </a:pPr>
            <a:r>
              <a:rPr lang="en-US" sz="1150" dirty="0">
                <a:solidFill>
                  <a:srgbClr val="5C6B7A"/>
                </a:solidFill>
                <a:latin typeface="Arial" pitchFamily="34" charset="0"/>
                <a:ea typeface="Arial" pitchFamily="34" charset="-122"/>
                <a:cs typeface="Arial" pitchFamily="34" charset="-120"/>
              </a:rPr>
              <a:t>Scoring, roll-up, training — all on submit.</a:t>
            </a:r>
            <a:endParaRPr lang="en-US" sz="1150" dirty="0"/>
          </a:p>
        </p:txBody>
      </p:sp>
      <p:sp>
        <p:nvSpPr>
          <p:cNvPr id="33" name="Shape 28"/>
          <p:cNvSpPr/>
          <p:nvPr/>
        </p:nvSpPr>
        <p:spPr>
          <a:xfrm>
            <a:off x="6355080" y="4059936"/>
            <a:ext cx="5166360" cy="850392"/>
          </a:xfrm>
          <a:prstGeom prst="roundRect">
            <a:avLst>
              <a:gd name="adj" fmla="val 9677"/>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34" name="Shape 29"/>
          <p:cNvSpPr/>
          <p:nvPr/>
        </p:nvSpPr>
        <p:spPr>
          <a:xfrm>
            <a:off x="6565392" y="4224528"/>
            <a:ext cx="521208" cy="521208"/>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35" name="Image 3" descr="preencoded.png">    </p:cNvPr>
          <p:cNvPicPr>
            <a:picLocks noChangeAspect="1"/>
          </p:cNvPicPr>
          <p:nvPr/>
        </p:nvPicPr>
        <p:blipFill>
          <a:blip r:embed="rId4"/>
          <a:stretch>
            <a:fillRect/>
          </a:stretch>
        </p:blipFill>
        <p:spPr>
          <a:xfrm>
            <a:off x="6700906" y="4360042"/>
            <a:ext cx="250180" cy="250180"/>
          </a:xfrm>
          <a:prstGeom prst="rect">
            <a:avLst/>
          </a:prstGeom>
        </p:spPr>
      </p:pic>
      <p:sp>
        <p:nvSpPr>
          <p:cNvPr id="36" name="Text 30"/>
          <p:cNvSpPr/>
          <p:nvPr/>
        </p:nvSpPr>
        <p:spPr>
          <a:xfrm>
            <a:off x="7315200" y="4197096"/>
            <a:ext cx="4069080" cy="292608"/>
          </a:xfrm>
          <a:prstGeom prst="rect">
            <a:avLst/>
          </a:prstGeom>
          <a:noFill/>
          <a:ln/>
        </p:spPr>
        <p:txBody>
          <a:bodyPr wrap="square" lIns="0" tIns="0" rIns="0" bIns="0" rtlCol="0" anchor="ctr"/>
          <a:lstStyle/>
          <a:p>
            <a:pPr indent="0" marL="0">
              <a:buNone/>
            </a:pPr>
            <a:r>
              <a:rPr lang="en-US" sz="1450" b="1" dirty="0">
                <a:solidFill>
                  <a:srgbClr val="16263B"/>
                </a:solidFill>
                <a:latin typeface="Arial" pitchFamily="34" charset="0"/>
                <a:ea typeface="Arial" pitchFamily="34" charset="-122"/>
                <a:cs typeface="Arial" pitchFamily="34" charset="-120"/>
              </a:rPr>
              <a:t>Metrics &amp; charts returned</a:t>
            </a:r>
            <a:endParaRPr lang="en-US" sz="1450" dirty="0"/>
          </a:p>
        </p:txBody>
      </p:sp>
      <p:sp>
        <p:nvSpPr>
          <p:cNvPr id="37" name="Text 31"/>
          <p:cNvSpPr/>
          <p:nvPr/>
        </p:nvSpPr>
        <p:spPr>
          <a:xfrm>
            <a:off x="7315200" y="4498848"/>
            <a:ext cx="4114800" cy="320040"/>
          </a:xfrm>
          <a:prstGeom prst="rect">
            <a:avLst/>
          </a:prstGeom>
          <a:noFill/>
          <a:ln/>
        </p:spPr>
        <p:txBody>
          <a:bodyPr wrap="square" lIns="0" tIns="0" rIns="0" bIns="0" rtlCol="0" anchor="ctr"/>
          <a:lstStyle/>
          <a:p>
            <a:pPr indent="0" marL="0">
              <a:buNone/>
            </a:pPr>
            <a:r>
              <a:rPr lang="en-US" sz="1150" dirty="0">
                <a:solidFill>
                  <a:srgbClr val="5C6B7A"/>
                </a:solidFill>
                <a:latin typeface="Arial" pitchFamily="34" charset="0"/>
                <a:ea typeface="Arial" pitchFamily="34" charset="-122"/>
                <a:cs typeface="Arial" pitchFamily="34" charset="-120"/>
              </a:rPr>
              <a:t>R², MAE, ranked coefficients, three plots.</a:t>
            </a:r>
            <a:endParaRPr lang="en-US" sz="1150" dirty="0"/>
          </a:p>
        </p:txBody>
      </p:sp>
      <p:sp>
        <p:nvSpPr>
          <p:cNvPr id="38" name="Shape 32"/>
          <p:cNvSpPr/>
          <p:nvPr/>
        </p:nvSpPr>
        <p:spPr>
          <a:xfrm>
            <a:off x="6355080" y="4992624"/>
            <a:ext cx="5166360" cy="850392"/>
          </a:xfrm>
          <a:prstGeom prst="roundRect">
            <a:avLst>
              <a:gd name="adj" fmla="val 9677"/>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39" name="Shape 33"/>
          <p:cNvSpPr/>
          <p:nvPr/>
        </p:nvSpPr>
        <p:spPr>
          <a:xfrm>
            <a:off x="6565392" y="5157216"/>
            <a:ext cx="521208" cy="521208"/>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40" name="Image 4" descr="preencoded.png">    </p:cNvPr>
          <p:cNvPicPr>
            <a:picLocks noChangeAspect="1"/>
          </p:cNvPicPr>
          <p:nvPr/>
        </p:nvPicPr>
        <p:blipFill>
          <a:blip r:embed="rId5"/>
          <a:stretch>
            <a:fillRect/>
          </a:stretch>
        </p:blipFill>
        <p:spPr>
          <a:xfrm>
            <a:off x="6700906" y="5292730"/>
            <a:ext cx="250180" cy="250180"/>
          </a:xfrm>
          <a:prstGeom prst="rect">
            <a:avLst/>
          </a:prstGeom>
        </p:spPr>
      </p:pic>
      <p:sp>
        <p:nvSpPr>
          <p:cNvPr id="41" name="Text 34"/>
          <p:cNvSpPr/>
          <p:nvPr/>
        </p:nvSpPr>
        <p:spPr>
          <a:xfrm>
            <a:off x="7315200" y="5129784"/>
            <a:ext cx="4069080" cy="292608"/>
          </a:xfrm>
          <a:prstGeom prst="rect">
            <a:avLst/>
          </a:prstGeom>
          <a:noFill/>
          <a:ln/>
        </p:spPr>
        <p:txBody>
          <a:bodyPr wrap="square" lIns="0" tIns="0" rIns="0" bIns="0" rtlCol="0" anchor="ctr"/>
          <a:lstStyle/>
          <a:p>
            <a:pPr indent="0" marL="0">
              <a:buNone/>
            </a:pPr>
            <a:r>
              <a:rPr lang="en-US" sz="1450" b="1" dirty="0">
                <a:solidFill>
                  <a:srgbClr val="16263B"/>
                </a:solidFill>
                <a:latin typeface="Arial" pitchFamily="34" charset="0"/>
                <a:ea typeface="Arial" pitchFamily="34" charset="-122"/>
                <a:cs typeface="Arial" pitchFamily="34" charset="-120"/>
              </a:rPr>
              <a:t>Recent daily predictions</a:t>
            </a:r>
            <a:endParaRPr lang="en-US" sz="1450" dirty="0"/>
          </a:p>
        </p:txBody>
      </p:sp>
      <p:sp>
        <p:nvSpPr>
          <p:cNvPr id="42" name="Text 35"/>
          <p:cNvSpPr/>
          <p:nvPr/>
        </p:nvSpPr>
        <p:spPr>
          <a:xfrm>
            <a:off x="7315200" y="5431536"/>
            <a:ext cx="4114800" cy="320040"/>
          </a:xfrm>
          <a:prstGeom prst="rect">
            <a:avLst/>
          </a:prstGeom>
          <a:noFill/>
          <a:ln/>
        </p:spPr>
        <p:txBody>
          <a:bodyPr wrap="square" lIns="0" tIns="0" rIns="0" bIns="0" rtlCol="0" anchor="ctr"/>
          <a:lstStyle/>
          <a:p>
            <a:pPr indent="0" marL="0">
              <a:buNone/>
            </a:pPr>
            <a:r>
              <a:rPr lang="en-US" sz="1150" dirty="0">
                <a:solidFill>
                  <a:srgbClr val="5C6B7A"/>
                </a:solidFill>
                <a:latin typeface="Arial" pitchFamily="34" charset="0"/>
                <a:ea typeface="Arial" pitchFamily="34" charset="-122"/>
                <a:cs typeface="Arial" pitchFamily="34" charset="-120"/>
              </a:rPr>
              <a:t>Actual vs. predicted responsiveness table.</a:t>
            </a:r>
            <a:endParaRPr lang="en-US" sz="1150" dirty="0"/>
          </a:p>
        </p:txBody>
      </p:sp>
      <p:sp>
        <p:nvSpPr>
          <p:cNvPr id="43" name="Text 36"/>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WHAT WE SEE</a:t>
            </a:r>
            <a:endParaRPr lang="en-US" sz="1200" dirty="0"/>
          </a:p>
        </p:txBody>
      </p:sp>
      <p:sp>
        <p:nvSpPr>
          <p:cNvPr id="3" name="Text 1"/>
          <p:cNvSpPr/>
          <p:nvPr/>
        </p:nvSpPr>
        <p:spPr>
          <a:xfrm>
            <a:off x="640080" y="777240"/>
            <a:ext cx="10972800" cy="822960"/>
          </a:xfrm>
          <a:prstGeom prst="rect">
            <a:avLst/>
          </a:prstGeom>
          <a:noFill/>
          <a:ln/>
        </p:spPr>
        <p:txBody>
          <a:bodyPr wrap="square" lIns="0" tIns="0" rIns="0" bIns="0" rtlCol="0" anchor="ctr"/>
          <a:lstStyle/>
          <a:p>
            <a:pPr algn="l" indent="0" marL="0">
              <a:buNone/>
            </a:pPr>
            <a:r>
              <a:rPr lang="en-US" sz="3200" b="1" dirty="0">
                <a:solidFill>
                  <a:srgbClr val="16263B"/>
                </a:solidFill>
                <a:latin typeface="Georgia" pitchFamily="34" charset="0"/>
                <a:ea typeface="Georgia" pitchFamily="34" charset="-122"/>
                <a:cs typeface="Georgia" pitchFamily="34" charset="-120"/>
              </a:rPr>
              <a:t>Engagement tracks responsiveness</a:t>
            </a:r>
            <a:endParaRPr lang="en-US" sz="3200" dirty="0"/>
          </a:p>
        </p:txBody>
      </p:sp>
      <p:sp>
        <p:nvSpPr>
          <p:cNvPr id="4" name="Text 2"/>
          <p:cNvSpPr/>
          <p:nvPr/>
        </p:nvSpPr>
        <p:spPr>
          <a:xfrm>
            <a:off x="640080" y="1508760"/>
            <a:ext cx="10881360" cy="502920"/>
          </a:xfrm>
          <a:prstGeom prst="rect">
            <a:avLst/>
          </a:prstGeom>
          <a:noFill/>
          <a:ln/>
        </p:spPr>
        <p:txBody>
          <a:bodyPr wrap="square" lIns="0" tIns="0" rIns="0" bIns="0" rtlCol="0" anchor="ctr"/>
          <a:lstStyle/>
          <a:p>
            <a:pPr indent="0" marL="0">
              <a:buNone/>
            </a:pPr>
            <a:r>
              <a:rPr lang="en-US" sz="1400" dirty="0">
                <a:solidFill>
                  <a:srgbClr val="5C6B7A"/>
                </a:solidFill>
                <a:latin typeface="Arial" pitchFamily="34" charset="0"/>
                <a:ea typeface="Arial" pitchFamily="34" charset="-122"/>
                <a:cs typeface="Arial" pitchFamily="34" charset="-120"/>
              </a:rPr>
              <a:t>On the synthetic benchmark, predicted response time tracks the actual daily signal, and the strongest coefficients point the way the hypothesis predicts.</a:t>
            </a:r>
            <a:endParaRPr lang="en-US" sz="1400" dirty="0"/>
          </a:p>
        </p:txBody>
      </p:sp>
      <p:sp>
        <p:nvSpPr>
          <p:cNvPr id="5" name="Text 3"/>
          <p:cNvSpPr/>
          <p:nvPr/>
        </p:nvSpPr>
        <p:spPr>
          <a:xfrm>
            <a:off x="640080" y="2148840"/>
            <a:ext cx="5943600" cy="274320"/>
          </a:xfrm>
          <a:prstGeom prst="rect">
            <a:avLst/>
          </a:prstGeom>
          <a:noFill/>
          <a:ln/>
        </p:spPr>
        <p:txBody>
          <a:bodyPr wrap="square" lIns="0" tIns="0" rIns="0" bIns="0" rtlCol="0" anchor="ctr"/>
          <a:lstStyle/>
          <a:p>
            <a:pPr indent="0" marL="0">
              <a:buNone/>
            </a:pPr>
            <a:r>
              <a:rPr lang="en-US" sz="1250" b="1" dirty="0">
                <a:solidFill>
                  <a:srgbClr val="16263B"/>
                </a:solidFill>
                <a:latin typeface="Arial" pitchFamily="34" charset="0"/>
                <a:ea typeface="Arial" pitchFamily="34" charset="-122"/>
                <a:cs typeface="Arial" pitchFamily="34" charset="-120"/>
              </a:rPr>
              <a:t>Actual vs. predicted median response  (illustrative)</a:t>
            </a:r>
            <a:endParaRPr lang="en-US" sz="1250" dirty="0"/>
          </a:p>
        </p:txBody>
      </p:sp>
      <p:graphicFrame>
        <p:nvGraphicFramePr>
          <p:cNvPr id="6" name="Chart 0" descr=""/>
          <p:cNvGraphicFramePr/>
          <p:nvPr/>
        </p:nvGraphicFramePr>
        <p:xfrm>
          <a:off x="502920" y="2468880"/>
          <a:ext cx="5943600" cy="32004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675120" y="2468880"/>
            <a:ext cx="4846320" cy="1463040"/>
          </a:xfrm>
          <a:prstGeom prst="roundRect">
            <a:avLst>
              <a:gd name="adj" fmla="val 5625"/>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8" name="Text 5"/>
          <p:cNvSpPr/>
          <p:nvPr/>
        </p:nvSpPr>
        <p:spPr>
          <a:xfrm>
            <a:off x="6903720" y="2651760"/>
            <a:ext cx="4389120" cy="320040"/>
          </a:xfrm>
          <a:prstGeom prst="rect">
            <a:avLst/>
          </a:prstGeom>
          <a:noFill/>
          <a:ln/>
        </p:spPr>
        <p:txBody>
          <a:bodyPr wrap="square" lIns="0" tIns="0" rIns="0" bIns="0" rtlCol="0" anchor="ctr"/>
          <a:lstStyle/>
          <a:p>
            <a:pPr indent="0" marL="0">
              <a:buNone/>
            </a:pPr>
            <a:r>
              <a:rPr lang="en-US" sz="1300" b="1" dirty="0">
                <a:solidFill>
                  <a:srgbClr val="00A896"/>
                </a:solidFill>
                <a:latin typeface="Arial" pitchFamily="34" charset="0"/>
                <a:ea typeface="Arial" pitchFamily="34" charset="-122"/>
                <a:cs typeface="Arial" pitchFamily="34" charset="-120"/>
              </a:rPr>
              <a:t>The headline relationship</a:t>
            </a:r>
            <a:endParaRPr lang="en-US" sz="1300" dirty="0"/>
          </a:p>
        </p:txBody>
      </p:sp>
      <p:sp>
        <p:nvSpPr>
          <p:cNvPr id="9" name="Text 6"/>
          <p:cNvSpPr/>
          <p:nvPr/>
        </p:nvSpPr>
        <p:spPr>
          <a:xfrm>
            <a:off x="6903720" y="3063240"/>
            <a:ext cx="4434840" cy="41148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Higher engagement  </a:t>
            </a:r>
            <a:pPr indent="0" marL="0">
              <a:buNone/>
            </a:pPr>
            <a:r>
              <a:rPr lang="en-US" sz="1500" b="1" dirty="0">
                <a:solidFill>
                  <a:srgbClr val="02C39A"/>
                </a:solidFill>
                <a:latin typeface="Arial" pitchFamily="34" charset="0"/>
                <a:ea typeface="Arial" pitchFamily="34" charset="-122"/>
                <a:cs typeface="Arial" pitchFamily="34" charset="-120"/>
              </a:rPr>
              <a:t>→</a:t>
            </a:r>
            <a:pPr indent="0" marL="0">
              <a:buNone/>
            </a:pPr>
            <a:r>
              <a:rPr lang="en-US" sz="1500" b="1" dirty="0">
                <a:solidFill>
                  <a:srgbClr val="FFFFFF"/>
                </a:solidFill>
                <a:latin typeface="Arial" pitchFamily="34" charset="0"/>
                <a:ea typeface="Arial" pitchFamily="34" charset="-122"/>
                <a:cs typeface="Arial" pitchFamily="34" charset="-120"/>
              </a:rPr>
              <a:t>  shorter response time.</a:t>
            </a:r>
            <a:endParaRPr lang="en-US" sz="1500" dirty="0"/>
          </a:p>
        </p:txBody>
      </p:sp>
      <p:sp>
        <p:nvSpPr>
          <p:cNvPr id="10" name="Text 7"/>
          <p:cNvSpPr/>
          <p:nvPr/>
        </p:nvSpPr>
        <p:spPr>
          <a:xfrm>
            <a:off x="6903720" y="3456432"/>
            <a:ext cx="4389120" cy="411480"/>
          </a:xfrm>
          <a:prstGeom prst="rect">
            <a:avLst/>
          </a:prstGeom>
          <a:noFill/>
          <a:ln/>
        </p:spPr>
        <p:txBody>
          <a:bodyPr wrap="square" lIns="0" tIns="0" rIns="0" bIns="0" rtlCol="0" anchor="ctr"/>
          <a:lstStyle/>
          <a:p>
            <a:pPr indent="0" marL="0">
              <a:buNone/>
            </a:pPr>
            <a:r>
              <a:rPr lang="en-US" sz="1200" dirty="0">
                <a:solidFill>
                  <a:srgbClr val="C7D6E5"/>
                </a:solidFill>
                <a:latin typeface="Arial" pitchFamily="34" charset="0"/>
                <a:ea typeface="Arial" pitchFamily="34" charset="-122"/>
                <a:cs typeface="Arial" pitchFamily="34" charset="-120"/>
              </a:rPr>
              <a:t>The total-EU coefficient is negative, matching the OTQ hypothesis.</a:t>
            </a:r>
            <a:endParaRPr lang="en-US" sz="1200" dirty="0"/>
          </a:p>
        </p:txBody>
      </p:sp>
      <p:sp>
        <p:nvSpPr>
          <p:cNvPr id="11" name="Shape 8"/>
          <p:cNvSpPr/>
          <p:nvPr/>
        </p:nvSpPr>
        <p:spPr>
          <a:xfrm>
            <a:off x="6675120" y="4114800"/>
            <a:ext cx="4846320" cy="1554480"/>
          </a:xfrm>
          <a:prstGeom prst="roundRect">
            <a:avLst>
              <a:gd name="adj" fmla="val 5294"/>
            </a:avLst>
          </a:prstGeom>
          <a:solidFill>
            <a:srgbClr val="F4F9FB"/>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2" name="Shape 9"/>
          <p:cNvSpPr/>
          <p:nvPr/>
        </p:nvSpPr>
        <p:spPr>
          <a:xfrm>
            <a:off x="6858000" y="4315968"/>
            <a:ext cx="502920" cy="50292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3" name="Image 0" descr="preencoded.png">    </p:cNvPr>
          <p:cNvPicPr>
            <a:picLocks noChangeAspect="1"/>
          </p:cNvPicPr>
          <p:nvPr/>
        </p:nvPicPr>
        <p:blipFill>
          <a:blip r:embed="rId2"/>
          <a:stretch>
            <a:fillRect/>
          </a:stretch>
        </p:blipFill>
        <p:spPr>
          <a:xfrm>
            <a:off x="6988759" y="4446727"/>
            <a:ext cx="241402" cy="241402"/>
          </a:xfrm>
          <a:prstGeom prst="rect">
            <a:avLst/>
          </a:prstGeom>
        </p:spPr>
      </p:pic>
      <p:sp>
        <p:nvSpPr>
          <p:cNvPr id="14" name="Text 10"/>
          <p:cNvSpPr/>
          <p:nvPr/>
        </p:nvSpPr>
        <p:spPr>
          <a:xfrm>
            <a:off x="7543800" y="4370832"/>
            <a:ext cx="3749040" cy="320040"/>
          </a:xfrm>
          <a:prstGeom prst="rect">
            <a:avLst/>
          </a:prstGeom>
          <a:noFill/>
          <a:ln/>
        </p:spPr>
        <p:txBody>
          <a:bodyPr wrap="square" lIns="0" tIns="0" rIns="0" bIns="0" rtlCol="0" anchor="ctr"/>
          <a:lstStyle/>
          <a:p>
            <a:pPr indent="0" marL="0">
              <a:buNone/>
            </a:pPr>
            <a:r>
              <a:rPr lang="en-US" sz="1400" b="1" dirty="0">
                <a:solidFill>
                  <a:srgbClr val="16263B"/>
                </a:solidFill>
                <a:latin typeface="Arial" pitchFamily="34" charset="0"/>
                <a:ea typeface="Arial" pitchFamily="34" charset="-122"/>
                <a:cs typeface="Arial" pitchFamily="34" charset="-120"/>
              </a:rPr>
              <a:t>Read it honestly</a:t>
            </a:r>
            <a:endParaRPr lang="en-US" sz="1400" dirty="0"/>
          </a:p>
        </p:txBody>
      </p:sp>
      <p:sp>
        <p:nvSpPr>
          <p:cNvPr id="15" name="Text 11"/>
          <p:cNvSpPr/>
          <p:nvPr/>
        </p:nvSpPr>
        <p:spPr>
          <a:xfrm>
            <a:off x="6903720" y="4709160"/>
            <a:ext cx="4434840" cy="914400"/>
          </a:xfrm>
          <a:prstGeom prst="rect">
            <a:avLst/>
          </a:prstGeom>
          <a:noFill/>
          <a:ln/>
        </p:spPr>
        <p:txBody>
          <a:bodyPr wrap="square" lIns="0" tIns="0" rIns="0" bIns="0" rtlCol="0" anchor="ctr"/>
          <a:lstStyle/>
          <a:p>
            <a:pPr indent="0" marL="0">
              <a:buNone/>
            </a:pPr>
            <a:r>
              <a:rPr lang="en-US" sz="1200" dirty="0">
                <a:solidFill>
                  <a:srgbClr val="5C6B7A"/>
                </a:solidFill>
                <a:latin typeface="Arial" pitchFamily="34" charset="0"/>
                <a:ea typeface="Arial" pitchFamily="34" charset="-122"/>
                <a:cs typeface="Arial" pitchFamily="34" charset="-120"/>
              </a:rPr>
              <a:t>Numbers are from synthetic data and will shift with real exports. This demonstrates the pipeline and the relationship's direction — not a production effect size.</a:t>
            </a:r>
            <a:endParaRPr lang="en-US" sz="1200" dirty="0"/>
          </a:p>
        </p:txBody>
      </p:sp>
      <p:sp>
        <p:nvSpPr>
          <p:cNvPr id="16" name="Text 12"/>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243F"/>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algn="l" indent="0" marL="0">
              <a:buNone/>
            </a:pPr>
            <a:r>
              <a:rPr lang="en-US" sz="1200" b="1" spc="300" kern="0" dirty="0">
                <a:solidFill>
                  <a:srgbClr val="00A896"/>
                </a:solidFill>
                <a:latin typeface="Arial" pitchFamily="34" charset="0"/>
                <a:ea typeface="Arial" pitchFamily="34" charset="-122"/>
                <a:cs typeface="Arial" pitchFamily="34" charset="-120"/>
              </a:rPr>
              <a:t>THE HONEST CORE</a:t>
            </a:r>
            <a:endParaRPr lang="en-US" sz="1200" dirty="0"/>
          </a:p>
        </p:txBody>
      </p:sp>
      <p:sp>
        <p:nvSpPr>
          <p:cNvPr id="3" name="Text 1"/>
          <p:cNvSpPr/>
          <p:nvPr/>
        </p:nvSpPr>
        <p:spPr>
          <a:xfrm>
            <a:off x="640080" y="777240"/>
            <a:ext cx="10972800" cy="822960"/>
          </a:xfrm>
          <a:prstGeom prst="rect">
            <a:avLst/>
          </a:prstGeom>
          <a:noFill/>
          <a:ln/>
        </p:spPr>
        <p:txBody>
          <a:bodyPr wrap="square" lIns="0" tIns="0" rIns="0" bIns="0" rtlCol="0" anchor="ctr"/>
          <a:lstStyle/>
          <a:p>
            <a:pPr algn="l" indent="0" marL="0">
              <a:buNone/>
            </a:pPr>
            <a:r>
              <a:rPr lang="en-US" sz="3200" b="1" dirty="0">
                <a:solidFill>
                  <a:srgbClr val="FFFFFF"/>
                </a:solidFill>
                <a:latin typeface="Georgia" pitchFamily="34" charset="0"/>
                <a:ea typeface="Georgia" pitchFamily="34" charset="-122"/>
                <a:cs typeface="Georgia" pitchFamily="34" charset="-120"/>
              </a:rPr>
              <a:t>Earning the word “trust”</a:t>
            </a:r>
            <a:endParaRPr lang="en-US" sz="3200" dirty="0"/>
          </a:p>
        </p:txBody>
      </p:sp>
      <p:sp>
        <p:nvSpPr>
          <p:cNvPr id="4" name="Text 2"/>
          <p:cNvSpPr/>
          <p:nvPr/>
        </p:nvSpPr>
        <p:spPr>
          <a:xfrm>
            <a:off x="640080" y="1554480"/>
            <a:ext cx="10881360" cy="685800"/>
          </a:xfrm>
          <a:prstGeom prst="rect">
            <a:avLst/>
          </a:prstGeom>
          <a:noFill/>
          <a:ln/>
        </p:spPr>
        <p:txBody>
          <a:bodyPr wrap="square" lIns="0" tIns="0" rIns="0" bIns="0" rtlCol="0" anchor="ctr"/>
          <a:lstStyle/>
          <a:p>
            <a:pPr indent="0" marL="0">
              <a:buNone/>
            </a:pPr>
            <a:r>
              <a:rPr lang="en-US" sz="1500" dirty="0">
                <a:solidFill>
                  <a:srgbClr val="C7D6E5"/>
                </a:solidFill>
                <a:latin typeface="Arial" pitchFamily="34" charset="0"/>
                <a:ea typeface="Arial" pitchFamily="34" charset="-122"/>
                <a:cs typeface="Arial" pitchFamily="34" charset="-120"/>
              </a:rPr>
              <a:t>We predict responsiveness well. That alone does not prove we measure trust. Construct validity is the bridge we must build — and we've designed it, not hand-waved it.</a:t>
            </a:r>
            <a:endParaRPr lang="en-US" sz="1500" dirty="0"/>
          </a:p>
        </p:txBody>
      </p:sp>
      <p:sp>
        <p:nvSpPr>
          <p:cNvPr id="5" name="Shape 3"/>
          <p:cNvSpPr/>
          <p:nvPr/>
        </p:nvSpPr>
        <p:spPr>
          <a:xfrm>
            <a:off x="640080" y="2423160"/>
            <a:ext cx="5257800" cy="3246120"/>
          </a:xfrm>
          <a:prstGeom prst="roundRect">
            <a:avLst>
              <a:gd name="adj" fmla="val 2535"/>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6" name="Shape 4"/>
          <p:cNvSpPr/>
          <p:nvPr/>
        </p:nvSpPr>
        <p:spPr>
          <a:xfrm>
            <a:off x="868680" y="2697480"/>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7" name="Image 0" descr="preencoded.png">    </p:cNvPr>
          <p:cNvPicPr>
            <a:picLocks noChangeAspect="1"/>
          </p:cNvPicPr>
          <p:nvPr/>
        </p:nvPicPr>
        <p:blipFill>
          <a:blip r:embed="rId1"/>
          <a:stretch>
            <a:fillRect/>
          </a:stretch>
        </p:blipFill>
        <p:spPr>
          <a:xfrm>
            <a:off x="1011326" y="2840126"/>
            <a:ext cx="263347" cy="263347"/>
          </a:xfrm>
          <a:prstGeom prst="rect">
            <a:avLst/>
          </a:prstGeom>
        </p:spPr>
      </p:pic>
      <p:sp>
        <p:nvSpPr>
          <p:cNvPr id="8" name="Text 5"/>
          <p:cNvSpPr/>
          <p:nvPr/>
        </p:nvSpPr>
        <p:spPr>
          <a:xfrm>
            <a:off x="1600200" y="2807208"/>
            <a:ext cx="411480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The convergent-validity study</a:t>
            </a:r>
            <a:endParaRPr lang="en-US" sz="1600" dirty="0"/>
          </a:p>
        </p:txBody>
      </p:sp>
      <p:sp>
        <p:nvSpPr>
          <p:cNvPr id="9" name="Text 6"/>
          <p:cNvSpPr/>
          <p:nvPr/>
        </p:nvSpPr>
        <p:spPr>
          <a:xfrm>
            <a:off x="914400" y="3383280"/>
            <a:ext cx="4800600" cy="2103120"/>
          </a:xfrm>
          <a:prstGeom prst="rect">
            <a:avLst/>
          </a:prstGeom>
          <a:noFill/>
          <a:ln/>
        </p:spPr>
        <p:txBody>
          <a:bodyPr wrap="square" lIns="0" tIns="0" rIns="0" bIns="0" rtlCol="0" anchor="ctr"/>
          <a:lstStyle/>
          <a:p>
            <a:pPr marL="342900" indent="-342900">
              <a:spcAft>
                <a:spcPts val="900"/>
              </a:spcAft>
              <a:buSzPct val="100000"/>
              <a:buChar char="→"/>
            </a:pPr>
            <a:r>
              <a:rPr lang="en-US" sz="1350" dirty="0">
                <a:solidFill>
                  <a:srgbClr val="DCE8F2"/>
                </a:solidFill>
                <a:latin typeface="Arial" pitchFamily="34" charset="0"/>
                <a:ea typeface="Arial" pitchFamily="34" charset="-122"/>
                <a:cs typeface="Arial" pitchFamily="34" charset="-120"/>
              </a:rPr>
              <a:t>Administer Edmondson’s (1999) psychological-safety scale to the same teams.</a:t>
            </a:r>
            <a:endParaRPr lang="en-US" sz="1350" dirty="0"/>
          </a:p>
          <a:p>
            <a:pPr marL="342900" indent="-342900">
              <a:spcAft>
                <a:spcPts val="900"/>
              </a:spcAft>
              <a:buSzPct val="100000"/>
              <a:buChar char="→"/>
            </a:pPr>
            <a:r>
              <a:rPr lang="en-US" sz="1350" dirty="0">
                <a:solidFill>
                  <a:srgbClr val="DCE8F2"/>
                </a:solidFill>
                <a:latin typeface="Arial" pitchFamily="34" charset="0"/>
                <a:ea typeface="Arial" pitchFamily="34" charset="-122"/>
                <a:cs typeface="Arial" pitchFamily="34" charset="-120"/>
              </a:rPr>
              <a:t>Aggregate OTQ to the same team and window.</a:t>
            </a:r>
            <a:endParaRPr lang="en-US" sz="1350" dirty="0"/>
          </a:p>
          <a:p>
            <a:pPr marL="342900" indent="-342900">
              <a:buSzPct val="100000"/>
              <a:buChar char="→"/>
            </a:pPr>
            <a:r>
              <a:rPr lang="en-US" sz="1350" dirty="0">
                <a:solidFill>
                  <a:srgbClr val="DCE8F2"/>
                </a:solidFill>
                <a:latin typeface="Arial" pitchFamily="34" charset="0"/>
                <a:ea typeface="Arial" pitchFamily="34" charset="-122"/>
                <a:cs typeface="Arial" pitchFamily="34" charset="-120"/>
              </a:rPr>
              <a:t>Correlate, with a pre-registered positive prediction.</a:t>
            </a:r>
            <a:endParaRPr lang="en-US" sz="1350" dirty="0"/>
          </a:p>
        </p:txBody>
      </p:sp>
      <p:sp>
        <p:nvSpPr>
          <p:cNvPr id="10" name="Shape 7"/>
          <p:cNvSpPr/>
          <p:nvPr/>
        </p:nvSpPr>
        <p:spPr>
          <a:xfrm>
            <a:off x="6126480" y="2423160"/>
            <a:ext cx="5394960" cy="3246120"/>
          </a:xfrm>
          <a:prstGeom prst="roundRect">
            <a:avLst>
              <a:gd name="adj" fmla="val 2535"/>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1" name="Shape 8"/>
          <p:cNvSpPr/>
          <p:nvPr/>
        </p:nvSpPr>
        <p:spPr>
          <a:xfrm>
            <a:off x="6355080" y="2697480"/>
            <a:ext cx="548640" cy="548640"/>
          </a:xfrm>
          <a:prstGeom prst="ellipse">
            <a:avLst/>
          </a:prstGeom>
          <a:solidFill>
            <a:srgbClr val="02C39A"/>
          </a:solidFill>
          <a:ln/>
          <a:effectLst>
            <a:outerShdw sx="100000" sy="100000" kx="0" ky="0" algn="bl" rotWithShape="0" blurRad="114300" dist="38100" dir="5400000">
              <a:srgbClr val="0A1A2E">
                <a:alpha val="16000"/>
              </a:srgbClr>
            </a:outerShdw>
          </a:effectLst>
        </p:spPr>
      </p:sp>
      <p:pic>
        <p:nvPicPr>
          <p:cNvPr id="12" name="Image 1" descr="preencoded.png">    </p:cNvPr>
          <p:cNvPicPr>
            <a:picLocks noChangeAspect="1"/>
          </p:cNvPicPr>
          <p:nvPr/>
        </p:nvPicPr>
        <p:blipFill>
          <a:blip r:embed="rId2"/>
          <a:stretch>
            <a:fillRect/>
          </a:stretch>
        </p:blipFill>
        <p:spPr>
          <a:xfrm>
            <a:off x="6497726" y="2840126"/>
            <a:ext cx="263347" cy="263347"/>
          </a:xfrm>
          <a:prstGeom prst="rect">
            <a:avLst/>
          </a:prstGeom>
        </p:spPr>
      </p:pic>
      <p:sp>
        <p:nvSpPr>
          <p:cNvPr id="13" name="Text 9"/>
          <p:cNvSpPr/>
          <p:nvPr/>
        </p:nvSpPr>
        <p:spPr>
          <a:xfrm>
            <a:off x="7086600" y="2807208"/>
            <a:ext cx="420624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Built to stay honest</a:t>
            </a:r>
            <a:endParaRPr lang="en-US" sz="1600" dirty="0"/>
          </a:p>
        </p:txBody>
      </p:sp>
      <p:sp>
        <p:nvSpPr>
          <p:cNvPr id="14" name="Text 10"/>
          <p:cNvSpPr/>
          <p:nvPr/>
        </p:nvSpPr>
        <p:spPr>
          <a:xfrm>
            <a:off x="6400800" y="3383280"/>
            <a:ext cx="4937760" cy="2103120"/>
          </a:xfrm>
          <a:prstGeom prst="rect">
            <a:avLst/>
          </a:prstGeom>
          <a:noFill/>
          <a:ln/>
        </p:spPr>
        <p:txBody>
          <a:bodyPr wrap="square" lIns="0" tIns="0" rIns="0" bIns="0" rtlCol="0" anchor="ctr"/>
          <a:lstStyle/>
          <a:p>
            <a:pPr indent="0" marL="0">
              <a:spcAft>
                <a:spcPts val="700"/>
              </a:spcAft>
              <a:buNone/>
            </a:pPr>
            <a:r>
              <a:rPr lang="en-US" sz="1350" b="1" dirty="0">
                <a:solidFill>
                  <a:srgbClr val="00A896"/>
                </a:solidFill>
                <a:latin typeface="Arial" pitchFamily="34" charset="0"/>
                <a:ea typeface="Arial" pitchFamily="34" charset="-122"/>
                <a:cs typeface="Arial" pitchFamily="34" charset="-120"/>
              </a:rPr>
              <a:t>A scaffold cell is already in the notebook.</a:t>
            </a:r>
            <a:endParaRPr lang="en-US" sz="1350" dirty="0"/>
          </a:p>
          <a:p>
            <a:pPr indent="0" marL="0">
              <a:spcAft>
                <a:spcPts val="700"/>
              </a:spcAft>
              <a:buNone/>
            </a:pPr>
            <a:r>
              <a:rPr lang="en-US" sz="1350" dirty="0">
                <a:solidFill>
                  <a:srgbClr val="DCE8F2"/>
                </a:solidFill>
                <a:latin typeface="Arial" pitchFamily="34" charset="0"/>
                <a:ea typeface="Arial" pitchFamily="34" charset="-122"/>
                <a:cs typeface="Arial" pitchFamily="34" charset="-120"/>
              </a:rPr>
              <a:t>With no survey present, it prints the protocol and fabricates nothing.</a:t>
            </a:r>
            <a:endParaRPr lang="en-US" sz="1350" dirty="0"/>
          </a:p>
          <a:p>
            <a:pPr indent="0" marL="0">
              <a:buNone/>
            </a:pPr>
            <a:r>
              <a:rPr lang="en-US" sz="1350" dirty="0">
                <a:solidFill>
                  <a:srgbClr val="DCE8F2"/>
                </a:solidFill>
                <a:latin typeface="Arial" pitchFamily="34" charset="0"/>
                <a:ea typeface="Arial" pitchFamily="34" charset="-122"/>
                <a:cs typeface="Arial" pitchFamily="34" charset="-120"/>
              </a:rPr>
              <a:t>With real survey data, it computes the OTQ-vs-instrument correlation.</a:t>
            </a:r>
            <a:endParaRPr lang="en-US" sz="1350" dirty="0"/>
          </a:p>
        </p:txBody>
      </p:sp>
      <p:sp>
        <p:nvSpPr>
          <p:cNvPr id="15" name="Text 11"/>
          <p:cNvSpPr/>
          <p:nvPr/>
        </p:nvSpPr>
        <p:spPr>
          <a:xfrm>
            <a:off x="640080" y="5897880"/>
            <a:ext cx="10881360" cy="457200"/>
          </a:xfrm>
          <a:prstGeom prst="rect">
            <a:avLst/>
          </a:prstGeom>
          <a:noFill/>
          <a:ln/>
        </p:spPr>
        <p:txBody>
          <a:bodyPr wrap="square" lIns="0" tIns="0" rIns="0" bIns="0" rtlCol="0" anchor="ctr"/>
          <a:lstStyle/>
          <a:p>
            <a:pPr algn="ctr" indent="0" marL="0">
              <a:buNone/>
            </a:pPr>
            <a:r>
              <a:rPr lang="en-US" sz="1250" i="1" dirty="0">
                <a:solidFill>
                  <a:srgbClr val="9DB2C7"/>
                </a:solidFill>
                <a:latin typeface="Arial" pitchFamily="34" charset="0"/>
                <a:ea typeface="Arial" pitchFamily="34" charset="-122"/>
                <a:cs typeface="Arial" pitchFamily="34" charset="-120"/>
              </a:rPr>
              <a:t>We also name what could inflate the result — common-method variance (Podsakoff et al., 2003) — because predictor and outcome share one data stream.</a:t>
            </a:r>
            <a:endParaRPr lang="en-US" sz="1250" dirty="0"/>
          </a:p>
        </p:txBody>
      </p:sp>
      <p:sp>
        <p:nvSpPr>
          <p:cNvPr id="16" name="Text 12"/>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ETHICS</a:t>
            </a:r>
            <a:endParaRPr lang="en-US" sz="1200" dirty="0"/>
          </a:p>
        </p:txBody>
      </p:sp>
      <p:sp>
        <p:nvSpPr>
          <p:cNvPr id="3" name="Text 1"/>
          <p:cNvSpPr/>
          <p:nvPr/>
        </p:nvSpPr>
        <p:spPr>
          <a:xfrm>
            <a:off x="640080" y="777240"/>
            <a:ext cx="10972800" cy="822960"/>
          </a:xfrm>
          <a:prstGeom prst="rect">
            <a:avLst/>
          </a:prstGeom>
          <a:noFill/>
          <a:ln/>
        </p:spPr>
        <p:txBody>
          <a:bodyPr wrap="square" lIns="0" tIns="0" rIns="0" bIns="0" rtlCol="0" anchor="ctr"/>
          <a:lstStyle/>
          <a:p>
            <a:pPr algn="l" indent="0" marL="0">
              <a:buNone/>
            </a:pPr>
            <a:r>
              <a:rPr lang="en-US" sz="3200" b="1" dirty="0">
                <a:solidFill>
                  <a:srgbClr val="16263B"/>
                </a:solidFill>
                <a:latin typeface="Georgia" pitchFamily="34" charset="0"/>
                <a:ea typeface="Georgia" pitchFamily="34" charset="-122"/>
                <a:cs typeface="Georgia" pitchFamily="34" charset="-120"/>
              </a:rPr>
              <a:t>Privacy by design, not as an afterthought</a:t>
            </a:r>
            <a:endParaRPr lang="en-US" sz="3200" dirty="0"/>
          </a:p>
        </p:txBody>
      </p:sp>
      <p:sp>
        <p:nvSpPr>
          <p:cNvPr id="4" name="Shape 2"/>
          <p:cNvSpPr/>
          <p:nvPr/>
        </p:nvSpPr>
        <p:spPr>
          <a:xfrm>
            <a:off x="640080" y="1783080"/>
            <a:ext cx="5349240" cy="1828800"/>
          </a:xfrm>
          <a:prstGeom prst="roundRect">
            <a:avLst>
              <a:gd name="adj" fmla="val 4500"/>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914400" y="2057400"/>
            <a:ext cx="640080" cy="64008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r>
          <p:cNvPicPr>
            <a:picLocks noChangeAspect="1"/>
          </p:cNvPicPr>
          <p:nvPr/>
        </p:nvPicPr>
        <p:blipFill>
          <a:blip r:embed="rId1"/>
          <a:stretch>
            <a:fillRect/>
          </a:stretch>
        </p:blipFill>
        <p:spPr>
          <a:xfrm>
            <a:off x="1080821" y="2223821"/>
            <a:ext cx="307238" cy="307238"/>
          </a:xfrm>
          <a:prstGeom prst="rect">
            <a:avLst/>
          </a:prstGeom>
        </p:spPr>
      </p:pic>
      <p:sp>
        <p:nvSpPr>
          <p:cNvPr id="7" name="Text 4"/>
          <p:cNvSpPr/>
          <p:nvPr/>
        </p:nvSpPr>
        <p:spPr>
          <a:xfrm>
            <a:off x="1783080" y="2057400"/>
            <a:ext cx="4023360" cy="36576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Metadata only</a:t>
            </a:r>
            <a:endParaRPr lang="en-US" sz="1700" dirty="0"/>
          </a:p>
        </p:txBody>
      </p:sp>
      <p:sp>
        <p:nvSpPr>
          <p:cNvPr id="8" name="Text 5"/>
          <p:cNvSpPr/>
          <p:nvPr/>
        </p:nvSpPr>
        <p:spPr>
          <a:xfrm>
            <a:off x="1783080" y="2496312"/>
            <a:ext cx="4069080" cy="914400"/>
          </a:xfrm>
          <a:prstGeom prst="rect">
            <a:avLst/>
          </a:prstGeom>
          <a:noFill/>
          <a:ln/>
        </p:spPr>
        <p:txBody>
          <a:bodyPr wrap="square" lIns="0" tIns="0" rIns="0" bIns="0" rtlCol="0" anchor="ctr"/>
          <a:lstStyle/>
          <a:p>
            <a:pPr indent="0" marL="0">
              <a:buNone/>
            </a:pPr>
            <a:r>
              <a:rPr lang="en-US" sz="1300" dirty="0">
                <a:solidFill>
                  <a:srgbClr val="5C6B7A"/>
                </a:solidFill>
                <a:latin typeface="Arial" pitchFamily="34" charset="0"/>
                <a:ea typeface="Arial" pitchFamily="34" charset="-122"/>
                <a:cs typeface="Arial" pitchFamily="34" charset="-120"/>
              </a:rPr>
              <a:t>Event type, duration, participant counts, reply latency — not the contents of messages.</a:t>
            </a:r>
            <a:endParaRPr lang="en-US" sz="1300" dirty="0"/>
          </a:p>
        </p:txBody>
      </p:sp>
      <p:sp>
        <p:nvSpPr>
          <p:cNvPr id="9" name="Shape 6"/>
          <p:cNvSpPr/>
          <p:nvPr/>
        </p:nvSpPr>
        <p:spPr>
          <a:xfrm>
            <a:off x="6172200" y="1783080"/>
            <a:ext cx="5349240" cy="1828800"/>
          </a:xfrm>
          <a:prstGeom prst="roundRect">
            <a:avLst>
              <a:gd name="adj" fmla="val 4500"/>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0" name="Shape 7"/>
          <p:cNvSpPr/>
          <p:nvPr/>
        </p:nvSpPr>
        <p:spPr>
          <a:xfrm>
            <a:off x="6446520" y="2057400"/>
            <a:ext cx="640080" cy="64008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1" name="Image 1" descr="preencoded.png">    </p:cNvPr>
          <p:cNvPicPr>
            <a:picLocks noChangeAspect="1"/>
          </p:cNvPicPr>
          <p:nvPr/>
        </p:nvPicPr>
        <p:blipFill>
          <a:blip r:embed="rId2"/>
          <a:stretch>
            <a:fillRect/>
          </a:stretch>
        </p:blipFill>
        <p:spPr>
          <a:xfrm>
            <a:off x="6612941" y="2223821"/>
            <a:ext cx="307238" cy="307238"/>
          </a:xfrm>
          <a:prstGeom prst="rect">
            <a:avLst/>
          </a:prstGeom>
        </p:spPr>
      </p:pic>
      <p:sp>
        <p:nvSpPr>
          <p:cNvPr id="12" name="Text 8"/>
          <p:cNvSpPr/>
          <p:nvPr/>
        </p:nvSpPr>
        <p:spPr>
          <a:xfrm>
            <a:off x="7315200" y="2057400"/>
            <a:ext cx="4023360" cy="36576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Team &amp; daily aggregates</a:t>
            </a:r>
            <a:endParaRPr lang="en-US" sz="1700" dirty="0"/>
          </a:p>
        </p:txBody>
      </p:sp>
      <p:sp>
        <p:nvSpPr>
          <p:cNvPr id="13" name="Text 9"/>
          <p:cNvSpPr/>
          <p:nvPr/>
        </p:nvSpPr>
        <p:spPr>
          <a:xfrm>
            <a:off x="7315200" y="2496312"/>
            <a:ext cx="4069080" cy="914400"/>
          </a:xfrm>
          <a:prstGeom prst="rect">
            <a:avLst/>
          </a:prstGeom>
          <a:noFill/>
          <a:ln/>
        </p:spPr>
        <p:txBody>
          <a:bodyPr wrap="square" lIns="0" tIns="0" rIns="0" bIns="0" rtlCol="0" anchor="ctr"/>
          <a:lstStyle/>
          <a:p>
            <a:pPr indent="0" marL="0">
              <a:buNone/>
            </a:pPr>
            <a:r>
              <a:rPr lang="en-US" sz="1300" dirty="0">
                <a:solidFill>
                  <a:srgbClr val="5C6B7A"/>
                </a:solidFill>
                <a:latin typeface="Arial" pitchFamily="34" charset="0"/>
                <a:ea typeface="Arial" pitchFamily="34" charset="-122"/>
                <a:cs typeface="Arial" pitchFamily="34" charset="-120"/>
              </a:rPr>
              <a:t>The unit of analysis is the team-day, not the individual keystroke.</a:t>
            </a:r>
            <a:endParaRPr lang="en-US" sz="1300" dirty="0"/>
          </a:p>
        </p:txBody>
      </p:sp>
      <p:sp>
        <p:nvSpPr>
          <p:cNvPr id="14" name="Shape 10"/>
          <p:cNvSpPr/>
          <p:nvPr/>
        </p:nvSpPr>
        <p:spPr>
          <a:xfrm>
            <a:off x="640080" y="3840480"/>
            <a:ext cx="5349240" cy="1828800"/>
          </a:xfrm>
          <a:prstGeom prst="roundRect">
            <a:avLst>
              <a:gd name="adj" fmla="val 4500"/>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5" name="Shape 11"/>
          <p:cNvSpPr/>
          <p:nvPr/>
        </p:nvSpPr>
        <p:spPr>
          <a:xfrm>
            <a:off x="914400" y="4114800"/>
            <a:ext cx="640080" cy="64008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6" name="Image 2" descr="preencoded.png">    </p:cNvPr>
          <p:cNvPicPr>
            <a:picLocks noChangeAspect="1"/>
          </p:cNvPicPr>
          <p:nvPr/>
        </p:nvPicPr>
        <p:blipFill>
          <a:blip r:embed="rId3"/>
          <a:stretch>
            <a:fillRect/>
          </a:stretch>
        </p:blipFill>
        <p:spPr>
          <a:xfrm>
            <a:off x="1080821" y="4281221"/>
            <a:ext cx="307238" cy="307238"/>
          </a:xfrm>
          <a:prstGeom prst="rect">
            <a:avLst/>
          </a:prstGeom>
        </p:spPr>
      </p:pic>
      <p:sp>
        <p:nvSpPr>
          <p:cNvPr id="17" name="Text 12"/>
          <p:cNvSpPr/>
          <p:nvPr/>
        </p:nvSpPr>
        <p:spPr>
          <a:xfrm>
            <a:off x="1783080" y="4114800"/>
            <a:ext cx="4023360" cy="36576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Not a performance tool</a:t>
            </a:r>
            <a:endParaRPr lang="en-US" sz="1700" dirty="0"/>
          </a:p>
        </p:txBody>
      </p:sp>
      <p:sp>
        <p:nvSpPr>
          <p:cNvPr id="18" name="Text 13"/>
          <p:cNvSpPr/>
          <p:nvPr/>
        </p:nvSpPr>
        <p:spPr>
          <a:xfrm>
            <a:off x="1783080" y="4553712"/>
            <a:ext cx="4069080" cy="914400"/>
          </a:xfrm>
          <a:prstGeom prst="rect">
            <a:avLst/>
          </a:prstGeom>
          <a:noFill/>
          <a:ln/>
        </p:spPr>
        <p:txBody>
          <a:bodyPr wrap="square" lIns="0" tIns="0" rIns="0" bIns="0" rtlCol="0" anchor="ctr"/>
          <a:lstStyle/>
          <a:p>
            <a:pPr indent="0" marL="0">
              <a:buNone/>
            </a:pPr>
            <a:r>
              <a:rPr lang="en-US" sz="1300" dirty="0">
                <a:solidFill>
                  <a:srgbClr val="5C6B7A"/>
                </a:solidFill>
                <a:latin typeface="Arial" pitchFamily="34" charset="0"/>
                <a:ea typeface="Arial" pitchFamily="34" charset="-122"/>
                <a:cs typeface="Arial" pitchFamily="34" charset="-120"/>
              </a:rPr>
              <a:t>OTQ strengthens teams; it is never input to individual reviews or discipline.</a:t>
            </a:r>
            <a:endParaRPr lang="en-US" sz="1300" dirty="0"/>
          </a:p>
        </p:txBody>
      </p:sp>
      <p:sp>
        <p:nvSpPr>
          <p:cNvPr id="19" name="Shape 14"/>
          <p:cNvSpPr/>
          <p:nvPr/>
        </p:nvSpPr>
        <p:spPr>
          <a:xfrm>
            <a:off x="6172200" y="3840480"/>
            <a:ext cx="5349240" cy="1828800"/>
          </a:xfrm>
          <a:prstGeom prst="roundRect">
            <a:avLst>
              <a:gd name="adj" fmla="val 4500"/>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0" name="Shape 15"/>
          <p:cNvSpPr/>
          <p:nvPr/>
        </p:nvSpPr>
        <p:spPr>
          <a:xfrm>
            <a:off x="6446520" y="4114800"/>
            <a:ext cx="640080" cy="64008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21" name="Image 3" descr="preencoded.png">    </p:cNvPr>
          <p:cNvPicPr>
            <a:picLocks noChangeAspect="1"/>
          </p:cNvPicPr>
          <p:nvPr/>
        </p:nvPicPr>
        <p:blipFill>
          <a:blip r:embed="rId4"/>
          <a:stretch>
            <a:fillRect/>
          </a:stretch>
        </p:blipFill>
        <p:spPr>
          <a:xfrm>
            <a:off x="6612941" y="4281221"/>
            <a:ext cx="307238" cy="307238"/>
          </a:xfrm>
          <a:prstGeom prst="rect">
            <a:avLst/>
          </a:prstGeom>
        </p:spPr>
      </p:pic>
      <p:sp>
        <p:nvSpPr>
          <p:cNvPr id="22" name="Text 16"/>
          <p:cNvSpPr/>
          <p:nvPr/>
        </p:nvSpPr>
        <p:spPr>
          <a:xfrm>
            <a:off x="7315200" y="4114800"/>
            <a:ext cx="4023360" cy="36576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Non-invasive</a:t>
            </a:r>
            <a:endParaRPr lang="en-US" sz="1700" dirty="0"/>
          </a:p>
        </p:txBody>
      </p:sp>
      <p:sp>
        <p:nvSpPr>
          <p:cNvPr id="23" name="Text 17"/>
          <p:cNvSpPr/>
          <p:nvPr/>
        </p:nvSpPr>
        <p:spPr>
          <a:xfrm>
            <a:off x="7315200" y="4553712"/>
            <a:ext cx="4069080" cy="914400"/>
          </a:xfrm>
          <a:prstGeom prst="rect">
            <a:avLst/>
          </a:prstGeom>
          <a:noFill/>
          <a:ln/>
        </p:spPr>
        <p:txBody>
          <a:bodyPr wrap="square" lIns="0" tIns="0" rIns="0" bIns="0" rtlCol="0" anchor="ctr"/>
          <a:lstStyle/>
          <a:p>
            <a:pPr indent="0" marL="0">
              <a:buNone/>
            </a:pPr>
            <a:r>
              <a:rPr lang="en-US" sz="1300" dirty="0">
                <a:solidFill>
                  <a:srgbClr val="5C6B7A"/>
                </a:solidFill>
                <a:latin typeface="Arial" pitchFamily="34" charset="0"/>
                <a:ea typeface="Arial" pitchFamily="34" charset="-122"/>
                <a:cs typeface="Arial" pitchFamily="34" charset="-120"/>
              </a:rPr>
              <a:t>No surveys, no interviews, no observer effect on day-to-day work.</a:t>
            </a:r>
            <a:endParaRPr lang="en-US" sz="1300" dirty="0"/>
          </a:p>
        </p:txBody>
      </p:sp>
      <p:sp>
        <p:nvSpPr>
          <p:cNvPr id="24" name="Text 18"/>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WHAT'S NEXT</a:t>
            </a:r>
            <a:endParaRPr lang="en-US" sz="1200" dirty="0"/>
          </a:p>
        </p:txBody>
      </p:sp>
      <p:sp>
        <p:nvSpPr>
          <p:cNvPr id="3" name="Text 1"/>
          <p:cNvSpPr/>
          <p:nvPr/>
        </p:nvSpPr>
        <p:spPr>
          <a:xfrm>
            <a:off x="640080" y="777240"/>
            <a:ext cx="10972800" cy="822960"/>
          </a:xfrm>
          <a:prstGeom prst="rect">
            <a:avLst/>
          </a:prstGeom>
          <a:noFill/>
          <a:ln/>
        </p:spPr>
        <p:txBody>
          <a:bodyPr wrap="square" lIns="0" tIns="0" rIns="0" bIns="0" rtlCol="0" anchor="ctr"/>
          <a:lstStyle/>
          <a:p>
            <a:pPr algn="l" indent="0" marL="0">
              <a:buNone/>
            </a:pPr>
            <a:r>
              <a:rPr lang="en-US" sz="3200" b="1" dirty="0">
                <a:solidFill>
                  <a:srgbClr val="16263B"/>
                </a:solidFill>
                <a:latin typeface="Georgia" pitchFamily="34" charset="0"/>
                <a:ea typeface="Georgia" pitchFamily="34" charset="-122"/>
                <a:cs typeface="Georgia" pitchFamily="34" charset="-120"/>
              </a:rPr>
              <a:t>From validated pipeline to validated construct</a:t>
            </a:r>
            <a:endParaRPr lang="en-US" sz="3200" dirty="0"/>
          </a:p>
        </p:txBody>
      </p:sp>
      <p:sp>
        <p:nvSpPr>
          <p:cNvPr id="4" name="Shape 2"/>
          <p:cNvSpPr/>
          <p:nvPr/>
        </p:nvSpPr>
        <p:spPr>
          <a:xfrm>
            <a:off x="640080" y="1920240"/>
            <a:ext cx="2697480" cy="3749040"/>
          </a:xfrm>
          <a:prstGeom prst="roundRect">
            <a:avLst>
              <a:gd name="adj" fmla="val 3051"/>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1732788" y="2240280"/>
            <a:ext cx="512064" cy="512064"/>
          </a:xfrm>
          <a:prstGeom prst="ellipse">
            <a:avLst/>
          </a:prstGeom>
          <a:solidFill>
            <a:srgbClr val="028090"/>
          </a:solidFill>
          <a:ln/>
        </p:spPr>
      </p:sp>
      <p:sp>
        <p:nvSpPr>
          <p:cNvPr id="6" name="Text 4"/>
          <p:cNvSpPr/>
          <p:nvPr/>
        </p:nvSpPr>
        <p:spPr>
          <a:xfrm>
            <a:off x="1732788" y="2240280"/>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7" name="Text 5"/>
          <p:cNvSpPr/>
          <p:nvPr/>
        </p:nvSpPr>
        <p:spPr>
          <a:xfrm>
            <a:off x="640080" y="2926080"/>
            <a:ext cx="2697480" cy="274320"/>
          </a:xfrm>
          <a:prstGeom prst="rect">
            <a:avLst/>
          </a:prstGeom>
          <a:noFill/>
          <a:ln/>
        </p:spPr>
        <p:txBody>
          <a:bodyPr wrap="square" lIns="0" tIns="0" rIns="0" bIns="0" rtlCol="0" anchor="ctr"/>
          <a:lstStyle/>
          <a:p>
            <a:pPr algn="ctr" indent="0" marL="0">
              <a:buNone/>
            </a:pPr>
            <a:r>
              <a:rPr lang="en-US" sz="1200" b="1" spc="200" kern="0" dirty="0">
                <a:solidFill>
                  <a:srgbClr val="00A896"/>
                </a:solidFill>
                <a:latin typeface="Arial" pitchFamily="34" charset="0"/>
                <a:ea typeface="Arial" pitchFamily="34" charset="-122"/>
                <a:cs typeface="Arial" pitchFamily="34" charset="-120"/>
              </a:rPr>
              <a:t>NOW</a:t>
            </a:r>
            <a:endParaRPr lang="en-US" sz="1200" dirty="0"/>
          </a:p>
        </p:txBody>
      </p:sp>
      <p:sp>
        <p:nvSpPr>
          <p:cNvPr id="8" name="Text 6"/>
          <p:cNvSpPr/>
          <p:nvPr/>
        </p:nvSpPr>
        <p:spPr>
          <a:xfrm>
            <a:off x="804672" y="3246120"/>
            <a:ext cx="2368296"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Georgia" pitchFamily="34" charset="0"/>
                <a:ea typeface="Georgia" pitchFamily="34" charset="-122"/>
                <a:cs typeface="Georgia" pitchFamily="34" charset="-120"/>
              </a:rPr>
              <a:t>Pipeline &amp; dashboard proven</a:t>
            </a:r>
            <a:endParaRPr lang="en-US" sz="1700" dirty="0"/>
          </a:p>
        </p:txBody>
      </p:sp>
      <p:sp>
        <p:nvSpPr>
          <p:cNvPr id="9" name="Text 7"/>
          <p:cNvSpPr/>
          <p:nvPr/>
        </p:nvSpPr>
        <p:spPr>
          <a:xfrm>
            <a:off x="841248" y="4069080"/>
            <a:ext cx="2295144" cy="1371600"/>
          </a:xfrm>
          <a:prstGeom prst="rect">
            <a:avLst/>
          </a:prstGeom>
          <a:noFill/>
          <a:ln/>
        </p:spPr>
        <p:txBody>
          <a:bodyPr wrap="square" lIns="0" tIns="0" rIns="0" bIns="0" rtlCol="0" anchor="ctr"/>
          <a:lstStyle/>
          <a:p>
            <a:pPr algn="ctr" indent="0" marL="0">
              <a:buNone/>
            </a:pPr>
            <a:r>
              <a:rPr lang="en-US" sz="1200" dirty="0">
                <a:solidFill>
                  <a:srgbClr val="C7D6E5"/>
                </a:solidFill>
                <a:latin typeface="Arial" pitchFamily="34" charset="0"/>
                <a:ea typeface="Arial" pitchFamily="34" charset="-122"/>
                <a:cs typeface="Arial" pitchFamily="34" charset="-120"/>
              </a:rPr>
              <a:t>End-to-end on the synthetic benchmark, with a self-serve web front end.</a:t>
            </a:r>
            <a:endParaRPr lang="en-US" sz="1200" dirty="0"/>
          </a:p>
        </p:txBody>
      </p:sp>
      <p:sp>
        <p:nvSpPr>
          <p:cNvPr id="10" name="Shape 8"/>
          <p:cNvSpPr/>
          <p:nvPr/>
        </p:nvSpPr>
        <p:spPr>
          <a:xfrm>
            <a:off x="3368040" y="1920240"/>
            <a:ext cx="2697480" cy="3749040"/>
          </a:xfrm>
          <a:prstGeom prst="roundRect">
            <a:avLst>
              <a:gd name="adj" fmla="val 305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1" name="Shape 9"/>
          <p:cNvSpPr/>
          <p:nvPr/>
        </p:nvSpPr>
        <p:spPr>
          <a:xfrm>
            <a:off x="4460748" y="2240280"/>
            <a:ext cx="512064" cy="512064"/>
          </a:xfrm>
          <a:prstGeom prst="ellipse">
            <a:avLst/>
          </a:prstGeom>
          <a:solidFill>
            <a:srgbClr val="00A896"/>
          </a:solidFill>
          <a:ln/>
        </p:spPr>
      </p:sp>
      <p:sp>
        <p:nvSpPr>
          <p:cNvPr id="12" name="Text 10"/>
          <p:cNvSpPr/>
          <p:nvPr/>
        </p:nvSpPr>
        <p:spPr>
          <a:xfrm>
            <a:off x="4460748" y="2240280"/>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3368040" y="2926080"/>
            <a:ext cx="2697480" cy="274320"/>
          </a:xfrm>
          <a:prstGeom prst="rect">
            <a:avLst/>
          </a:prstGeom>
          <a:noFill/>
          <a:ln/>
        </p:spPr>
        <p:txBody>
          <a:bodyPr wrap="square" lIns="0" tIns="0" rIns="0" bIns="0" rtlCol="0" anchor="ctr"/>
          <a:lstStyle/>
          <a:p>
            <a:pPr algn="ctr" indent="0" marL="0">
              <a:buNone/>
            </a:pPr>
            <a:r>
              <a:rPr lang="en-US" sz="1200" b="1" spc="200" kern="0" dirty="0">
                <a:solidFill>
                  <a:srgbClr val="00A896"/>
                </a:solidFill>
                <a:latin typeface="Arial" pitchFamily="34" charset="0"/>
                <a:ea typeface="Arial" pitchFamily="34" charset="-122"/>
                <a:cs typeface="Arial" pitchFamily="34" charset="-120"/>
              </a:rPr>
              <a:t>NEXT</a:t>
            </a:r>
            <a:endParaRPr lang="en-US" sz="1200" dirty="0"/>
          </a:p>
        </p:txBody>
      </p:sp>
      <p:sp>
        <p:nvSpPr>
          <p:cNvPr id="14" name="Text 12"/>
          <p:cNvSpPr/>
          <p:nvPr/>
        </p:nvSpPr>
        <p:spPr>
          <a:xfrm>
            <a:off x="3532632" y="3246120"/>
            <a:ext cx="2368296" cy="777240"/>
          </a:xfrm>
          <a:prstGeom prst="rect">
            <a:avLst/>
          </a:prstGeom>
          <a:noFill/>
          <a:ln/>
        </p:spPr>
        <p:txBody>
          <a:bodyPr wrap="square" lIns="0" tIns="0" rIns="0" bIns="0" rtlCol="0" anchor="ctr"/>
          <a:lstStyle/>
          <a:p>
            <a:pPr algn="ctr" indent="0" marL="0">
              <a:buNone/>
            </a:pPr>
            <a:r>
              <a:rPr lang="en-US" sz="1700" b="1" dirty="0">
                <a:solidFill>
                  <a:srgbClr val="16263B"/>
                </a:solidFill>
                <a:latin typeface="Georgia" pitchFamily="34" charset="0"/>
                <a:ea typeface="Georgia" pitchFamily="34" charset="-122"/>
                <a:cs typeface="Georgia" pitchFamily="34" charset="-120"/>
              </a:rPr>
              <a:t>Convergent validation</a:t>
            </a:r>
            <a:endParaRPr lang="en-US" sz="1700" dirty="0"/>
          </a:p>
        </p:txBody>
      </p:sp>
      <p:sp>
        <p:nvSpPr>
          <p:cNvPr id="15" name="Text 13"/>
          <p:cNvSpPr/>
          <p:nvPr/>
        </p:nvSpPr>
        <p:spPr>
          <a:xfrm>
            <a:off x="3569208" y="4069080"/>
            <a:ext cx="2295144" cy="1371600"/>
          </a:xfrm>
          <a:prstGeom prst="rect">
            <a:avLst/>
          </a:prstGeom>
          <a:noFill/>
          <a:ln/>
        </p:spPr>
        <p:txBody>
          <a:bodyPr wrap="square" lIns="0" tIns="0" rIns="0" bIns="0" rtlCol="0" anchor="ctr"/>
          <a:lstStyle/>
          <a:p>
            <a:pPr algn="ctr" indent="0" marL="0">
              <a:buNone/>
            </a:pPr>
            <a:r>
              <a:rPr lang="en-US" sz="1200" dirty="0">
                <a:solidFill>
                  <a:srgbClr val="5C6B7A"/>
                </a:solidFill>
                <a:latin typeface="Arial" pitchFamily="34" charset="0"/>
                <a:ea typeface="Arial" pitchFamily="34" charset="-122"/>
                <a:cs typeface="Arial" pitchFamily="34" charset="-120"/>
              </a:rPr>
              <a:t>Run OTQ against Edmondson’s scale on a real team — the step that earns “trust.”</a:t>
            </a:r>
            <a:endParaRPr lang="en-US" sz="1200" dirty="0"/>
          </a:p>
        </p:txBody>
      </p:sp>
      <p:sp>
        <p:nvSpPr>
          <p:cNvPr id="16" name="Shape 14"/>
          <p:cNvSpPr/>
          <p:nvPr/>
        </p:nvSpPr>
        <p:spPr>
          <a:xfrm>
            <a:off x="6096000" y="1920240"/>
            <a:ext cx="2697480" cy="3749040"/>
          </a:xfrm>
          <a:prstGeom prst="roundRect">
            <a:avLst>
              <a:gd name="adj" fmla="val 305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7" name="Shape 15"/>
          <p:cNvSpPr/>
          <p:nvPr/>
        </p:nvSpPr>
        <p:spPr>
          <a:xfrm>
            <a:off x="7188708" y="2240280"/>
            <a:ext cx="512064" cy="512064"/>
          </a:xfrm>
          <a:prstGeom prst="ellipse">
            <a:avLst/>
          </a:prstGeom>
          <a:solidFill>
            <a:srgbClr val="02C39A"/>
          </a:solidFill>
          <a:ln/>
        </p:spPr>
      </p:sp>
      <p:sp>
        <p:nvSpPr>
          <p:cNvPr id="18" name="Text 16"/>
          <p:cNvSpPr/>
          <p:nvPr/>
        </p:nvSpPr>
        <p:spPr>
          <a:xfrm>
            <a:off x="7188708" y="2240280"/>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19" name="Text 17"/>
          <p:cNvSpPr/>
          <p:nvPr/>
        </p:nvSpPr>
        <p:spPr>
          <a:xfrm>
            <a:off x="6096000" y="2926080"/>
            <a:ext cx="2697480" cy="274320"/>
          </a:xfrm>
          <a:prstGeom prst="rect">
            <a:avLst/>
          </a:prstGeom>
          <a:noFill/>
          <a:ln/>
        </p:spPr>
        <p:txBody>
          <a:bodyPr wrap="square" lIns="0" tIns="0" rIns="0" bIns="0" rtlCol="0" anchor="ctr"/>
          <a:lstStyle/>
          <a:p>
            <a:pPr algn="ctr" indent="0" marL="0">
              <a:buNone/>
            </a:pPr>
            <a:r>
              <a:rPr lang="en-US" sz="1200" b="1" spc="200" kern="0" dirty="0">
                <a:solidFill>
                  <a:srgbClr val="02C39A"/>
                </a:solidFill>
                <a:latin typeface="Arial" pitchFamily="34" charset="0"/>
                <a:ea typeface="Arial" pitchFamily="34" charset="-122"/>
                <a:cs typeface="Arial" pitchFamily="34" charset="-120"/>
              </a:rPr>
              <a:t>THEN</a:t>
            </a:r>
            <a:endParaRPr lang="en-US" sz="1200" dirty="0"/>
          </a:p>
        </p:txBody>
      </p:sp>
      <p:sp>
        <p:nvSpPr>
          <p:cNvPr id="20" name="Text 18"/>
          <p:cNvSpPr/>
          <p:nvPr/>
        </p:nvSpPr>
        <p:spPr>
          <a:xfrm>
            <a:off x="6260592" y="3246120"/>
            <a:ext cx="2368296" cy="777240"/>
          </a:xfrm>
          <a:prstGeom prst="rect">
            <a:avLst/>
          </a:prstGeom>
          <a:noFill/>
          <a:ln/>
        </p:spPr>
        <p:txBody>
          <a:bodyPr wrap="square" lIns="0" tIns="0" rIns="0" bIns="0" rtlCol="0" anchor="ctr"/>
          <a:lstStyle/>
          <a:p>
            <a:pPr algn="ctr" indent="0" marL="0">
              <a:buNone/>
            </a:pPr>
            <a:r>
              <a:rPr lang="en-US" sz="1700" b="1" dirty="0">
                <a:solidFill>
                  <a:srgbClr val="16263B"/>
                </a:solidFill>
                <a:latin typeface="Georgia" pitchFamily="34" charset="0"/>
                <a:ea typeface="Georgia" pitchFamily="34" charset="-122"/>
                <a:cs typeface="Georgia" pitchFamily="34" charset="-120"/>
              </a:rPr>
              <a:t>Real organizational exports</a:t>
            </a:r>
            <a:endParaRPr lang="en-US" sz="1700" dirty="0"/>
          </a:p>
        </p:txBody>
      </p:sp>
      <p:sp>
        <p:nvSpPr>
          <p:cNvPr id="21" name="Text 19"/>
          <p:cNvSpPr/>
          <p:nvPr/>
        </p:nvSpPr>
        <p:spPr>
          <a:xfrm>
            <a:off x="6297168" y="4069080"/>
            <a:ext cx="2295144" cy="1371600"/>
          </a:xfrm>
          <a:prstGeom prst="rect">
            <a:avLst/>
          </a:prstGeom>
          <a:noFill/>
          <a:ln/>
        </p:spPr>
        <p:txBody>
          <a:bodyPr wrap="square" lIns="0" tIns="0" rIns="0" bIns="0" rtlCol="0" anchor="ctr"/>
          <a:lstStyle/>
          <a:p>
            <a:pPr algn="ctr" indent="0" marL="0">
              <a:buNone/>
            </a:pPr>
            <a:r>
              <a:rPr lang="en-US" sz="1200" dirty="0">
                <a:solidFill>
                  <a:srgbClr val="5C6B7A"/>
                </a:solidFill>
                <a:latin typeface="Arial" pitchFamily="34" charset="0"/>
                <a:ea typeface="Arial" pitchFamily="34" charset="-122"/>
                <a:cs typeface="Arial" pitchFamily="34" charset="-120"/>
              </a:rPr>
              <a:t>Replace the response-time proxy with operational KPIs that matter to leaders.</a:t>
            </a:r>
            <a:endParaRPr lang="en-US" sz="1200" dirty="0"/>
          </a:p>
        </p:txBody>
      </p:sp>
      <p:sp>
        <p:nvSpPr>
          <p:cNvPr id="22" name="Shape 20"/>
          <p:cNvSpPr/>
          <p:nvPr/>
        </p:nvSpPr>
        <p:spPr>
          <a:xfrm>
            <a:off x="8823960" y="1920240"/>
            <a:ext cx="2697480" cy="3749040"/>
          </a:xfrm>
          <a:prstGeom prst="roundRect">
            <a:avLst>
              <a:gd name="adj" fmla="val 305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3" name="Shape 21"/>
          <p:cNvSpPr/>
          <p:nvPr/>
        </p:nvSpPr>
        <p:spPr>
          <a:xfrm>
            <a:off x="9916668" y="2240280"/>
            <a:ext cx="512064" cy="512064"/>
          </a:xfrm>
          <a:prstGeom prst="ellipse">
            <a:avLst/>
          </a:prstGeom>
          <a:solidFill>
            <a:srgbClr val="11243F"/>
          </a:solidFill>
          <a:ln/>
        </p:spPr>
      </p:sp>
      <p:sp>
        <p:nvSpPr>
          <p:cNvPr id="24" name="Text 22"/>
          <p:cNvSpPr/>
          <p:nvPr/>
        </p:nvSpPr>
        <p:spPr>
          <a:xfrm>
            <a:off x="9916668" y="2240280"/>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4</a:t>
            </a:r>
            <a:endParaRPr lang="en-US" sz="2000" dirty="0"/>
          </a:p>
        </p:txBody>
      </p:sp>
      <p:sp>
        <p:nvSpPr>
          <p:cNvPr id="25" name="Text 23"/>
          <p:cNvSpPr/>
          <p:nvPr/>
        </p:nvSpPr>
        <p:spPr>
          <a:xfrm>
            <a:off x="8823960" y="2926080"/>
            <a:ext cx="2697480" cy="274320"/>
          </a:xfrm>
          <a:prstGeom prst="rect">
            <a:avLst/>
          </a:prstGeom>
          <a:noFill/>
          <a:ln/>
        </p:spPr>
        <p:txBody>
          <a:bodyPr wrap="square" lIns="0" tIns="0" rIns="0" bIns="0" rtlCol="0" anchor="ctr"/>
          <a:lstStyle/>
          <a:p>
            <a:pPr algn="ctr" indent="0" marL="0">
              <a:buNone/>
            </a:pPr>
            <a:r>
              <a:rPr lang="en-US" sz="1200" b="1" spc="200" kern="0" dirty="0">
                <a:solidFill>
                  <a:srgbClr val="11243F"/>
                </a:solidFill>
                <a:latin typeface="Arial" pitchFamily="34" charset="0"/>
                <a:ea typeface="Arial" pitchFamily="34" charset="-122"/>
                <a:cs typeface="Arial" pitchFamily="34" charset="-120"/>
              </a:rPr>
              <a:t>LATER</a:t>
            </a:r>
            <a:endParaRPr lang="en-US" sz="1200" dirty="0"/>
          </a:p>
        </p:txBody>
      </p:sp>
      <p:sp>
        <p:nvSpPr>
          <p:cNvPr id="26" name="Text 24"/>
          <p:cNvSpPr/>
          <p:nvPr/>
        </p:nvSpPr>
        <p:spPr>
          <a:xfrm>
            <a:off x="8988552" y="3246120"/>
            <a:ext cx="2368296" cy="777240"/>
          </a:xfrm>
          <a:prstGeom prst="rect">
            <a:avLst/>
          </a:prstGeom>
          <a:noFill/>
          <a:ln/>
        </p:spPr>
        <p:txBody>
          <a:bodyPr wrap="square" lIns="0" tIns="0" rIns="0" bIns="0" rtlCol="0" anchor="ctr"/>
          <a:lstStyle/>
          <a:p>
            <a:pPr algn="ctr" indent="0" marL="0">
              <a:buNone/>
            </a:pPr>
            <a:r>
              <a:rPr lang="en-US" sz="1700" b="1" dirty="0">
                <a:solidFill>
                  <a:srgbClr val="16263B"/>
                </a:solidFill>
                <a:latin typeface="Georgia" pitchFamily="34" charset="0"/>
                <a:ea typeface="Georgia" pitchFamily="34" charset="-122"/>
                <a:cs typeface="Georgia" pitchFamily="34" charset="-120"/>
              </a:rPr>
              <a:t>Team &amp; person-level scores</a:t>
            </a:r>
            <a:endParaRPr lang="en-US" sz="1700" dirty="0"/>
          </a:p>
        </p:txBody>
      </p:sp>
      <p:sp>
        <p:nvSpPr>
          <p:cNvPr id="27" name="Text 25"/>
          <p:cNvSpPr/>
          <p:nvPr/>
        </p:nvSpPr>
        <p:spPr>
          <a:xfrm>
            <a:off x="9025128" y="4069080"/>
            <a:ext cx="2295144" cy="1371600"/>
          </a:xfrm>
          <a:prstGeom prst="rect">
            <a:avLst/>
          </a:prstGeom>
          <a:noFill/>
          <a:ln/>
        </p:spPr>
        <p:txBody>
          <a:bodyPr wrap="square" lIns="0" tIns="0" rIns="0" bIns="0" rtlCol="0" anchor="ctr"/>
          <a:lstStyle/>
          <a:p>
            <a:pPr algn="ctr" indent="0" marL="0">
              <a:buNone/>
            </a:pPr>
            <a:r>
              <a:rPr lang="en-US" sz="1200" dirty="0">
                <a:solidFill>
                  <a:srgbClr val="5C6B7A"/>
                </a:solidFill>
                <a:latin typeface="Arial" pitchFamily="34" charset="0"/>
                <a:ea typeface="Arial" pitchFamily="34" charset="-122"/>
                <a:cs typeface="Arial" pitchFamily="34" charset="-120"/>
              </a:rPr>
              <a:t>Move from daily aggregates to richer, composed levels of analysis (Chan, 1998).</a:t>
            </a:r>
            <a:endParaRPr lang="en-US" sz="1200" dirty="0"/>
          </a:p>
        </p:txBody>
      </p:sp>
      <p:sp>
        <p:nvSpPr>
          <p:cNvPr id="28" name="Text 26"/>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243F"/>
        </a:solidFill>
      </p:bgPr>
    </p:bg>
    <p:spTree>
      <p:nvGrpSpPr>
        <p:cNvPr id="1" name=""/>
        <p:cNvGrpSpPr/>
        <p:nvPr/>
      </p:nvGrpSpPr>
      <p:grpSpPr>
        <a:xfrm>
          <a:off x="0" y="0"/>
          <a:ext cx="0" cy="0"/>
          <a:chOff x="0" y="0"/>
          <a:chExt cx="0" cy="0"/>
        </a:xfrm>
      </p:grpSpPr>
      <p:sp>
        <p:nvSpPr>
          <p:cNvPr id="2" name="Shape 0"/>
          <p:cNvSpPr/>
          <p:nvPr/>
        </p:nvSpPr>
        <p:spPr>
          <a:xfrm>
            <a:off x="-1463040" y="3840480"/>
            <a:ext cx="4754880" cy="4754880"/>
          </a:xfrm>
          <a:prstGeom prst="ellipse">
            <a:avLst/>
          </a:prstGeom>
          <a:solidFill>
            <a:srgbClr val="1B3358"/>
          </a:solidFill>
          <a:ln/>
        </p:spPr>
      </p:sp>
      <p:sp>
        <p:nvSpPr>
          <p:cNvPr id="3" name="Shape 1"/>
          <p:cNvSpPr/>
          <p:nvPr/>
        </p:nvSpPr>
        <p:spPr>
          <a:xfrm>
            <a:off x="-640080" y="4663440"/>
            <a:ext cx="3108960" cy="3108960"/>
          </a:xfrm>
          <a:prstGeom prst="ellipse">
            <a:avLst/>
          </a:prstGeom>
          <a:solidFill>
            <a:srgbClr val="028090">
              <a:alpha val="45000"/>
            </a:srgbClr>
          </a:solidFill>
          <a:ln/>
        </p:spPr>
      </p:sp>
      <p:sp>
        <p:nvSpPr>
          <p:cNvPr id="4" name="Text 2"/>
          <p:cNvSpPr/>
          <p:nvPr/>
        </p:nvSpPr>
        <p:spPr>
          <a:xfrm>
            <a:off x="822960" y="1554480"/>
            <a:ext cx="7315200" cy="365760"/>
          </a:xfrm>
          <a:prstGeom prst="rect">
            <a:avLst/>
          </a:prstGeom>
          <a:noFill/>
          <a:ln/>
        </p:spPr>
        <p:txBody>
          <a:bodyPr wrap="square" lIns="0" tIns="0" rIns="0" bIns="0" rtlCol="0" anchor="ctr"/>
          <a:lstStyle/>
          <a:p>
            <a:pPr indent="0" marL="0">
              <a:buNone/>
            </a:pPr>
            <a:r>
              <a:rPr lang="en-US" sz="1400" b="1" spc="400" kern="0" dirty="0">
                <a:solidFill>
                  <a:srgbClr val="00A896"/>
                </a:solidFill>
                <a:latin typeface="Arial" pitchFamily="34" charset="0"/>
                <a:ea typeface="Arial" pitchFamily="34" charset="-122"/>
                <a:cs typeface="Arial" pitchFamily="34" charset="-120"/>
              </a:rPr>
              <a:t>THANK YOU</a:t>
            </a:r>
            <a:endParaRPr lang="en-US" sz="1400" dirty="0"/>
          </a:p>
        </p:txBody>
      </p:sp>
      <p:sp>
        <p:nvSpPr>
          <p:cNvPr id="5" name="Text 3"/>
          <p:cNvSpPr/>
          <p:nvPr/>
        </p:nvSpPr>
        <p:spPr>
          <a:xfrm>
            <a:off x="822960" y="2011680"/>
            <a:ext cx="10241280" cy="1737360"/>
          </a:xfrm>
          <a:prstGeom prst="rect">
            <a:avLst/>
          </a:prstGeom>
          <a:noFill/>
          <a:ln/>
        </p:spPr>
        <p:txBody>
          <a:bodyPr wrap="square" lIns="0" tIns="0" rIns="0" bIns="0" rtlCol="0" anchor="ctr"/>
          <a:lstStyle/>
          <a:p>
            <a:pPr indent="0" marL="0">
              <a:lnSpc>
                <a:spcPct val="102000"/>
              </a:lnSpc>
              <a:buNone/>
            </a:pPr>
            <a:r>
              <a:rPr lang="en-US" sz="3800" b="1" dirty="0">
                <a:solidFill>
                  <a:srgbClr val="FFFFFF"/>
                </a:solidFill>
                <a:latin typeface="Georgia" pitchFamily="34" charset="0"/>
                <a:ea typeface="Georgia" pitchFamily="34" charset="-122"/>
                <a:cs typeface="Georgia" pitchFamily="34" charset="-120"/>
              </a:rPr>
              <a:t>Measure what work leaves behind.</a:t>
            </a:r>
            <a:endParaRPr lang="en-US" sz="3800" dirty="0"/>
          </a:p>
          <a:p>
            <a:pPr indent="0" marL="0">
              <a:lnSpc>
                <a:spcPct val="102000"/>
              </a:lnSpc>
              <a:buNone/>
            </a:pPr>
            <a:r>
              <a:rPr lang="en-US" sz="3800" b="1" dirty="0">
                <a:solidFill>
                  <a:srgbClr val="FFFFFF"/>
                </a:solidFill>
                <a:latin typeface="Georgia" pitchFamily="34" charset="0"/>
                <a:ea typeface="Georgia" pitchFamily="34" charset="-122"/>
                <a:cs typeface="Georgia" pitchFamily="34" charset="-120"/>
              </a:rPr>
              <a:t>Earn the word trust.</a:t>
            </a:r>
            <a:endParaRPr lang="en-US" sz="3800" dirty="0"/>
          </a:p>
        </p:txBody>
      </p:sp>
      <p:sp>
        <p:nvSpPr>
          <p:cNvPr id="6" name="Text 4"/>
          <p:cNvSpPr/>
          <p:nvPr/>
        </p:nvSpPr>
        <p:spPr>
          <a:xfrm>
            <a:off x="822960" y="3794760"/>
            <a:ext cx="8961120" cy="868680"/>
          </a:xfrm>
          <a:prstGeom prst="rect">
            <a:avLst/>
          </a:prstGeom>
          <a:noFill/>
          <a:ln/>
        </p:spPr>
        <p:txBody>
          <a:bodyPr wrap="square" lIns="0" tIns="0" rIns="0" bIns="0" rtlCol="0" anchor="ctr"/>
          <a:lstStyle/>
          <a:p>
            <a:pPr indent="0" marL="0">
              <a:buNone/>
            </a:pPr>
            <a:r>
              <a:rPr lang="en-US" sz="1500" dirty="0">
                <a:solidFill>
                  <a:srgbClr val="C7D6E5"/>
                </a:solidFill>
                <a:latin typeface="Arial" pitchFamily="34" charset="0"/>
                <a:ea typeface="Arial" pitchFamily="34" charset="-122"/>
                <a:cs typeface="Arial" pitchFamily="34" charset="-120"/>
              </a:rPr>
              <a:t>OTQ turns the daily communication stream into a continuous, privacy-respecting read on engagement and responsiveness — with a clear, designed path to validating trust itself.</a:t>
            </a:r>
            <a:endParaRPr lang="en-US" sz="1500" dirty="0"/>
          </a:p>
        </p:txBody>
      </p:sp>
      <p:sp>
        <p:nvSpPr>
          <p:cNvPr id="7" name="Shape 5"/>
          <p:cNvSpPr/>
          <p:nvPr/>
        </p:nvSpPr>
        <p:spPr>
          <a:xfrm>
            <a:off x="841248" y="4892040"/>
            <a:ext cx="3657600" cy="0"/>
          </a:xfrm>
          <a:prstGeom prst="line">
            <a:avLst/>
          </a:prstGeom>
          <a:noFill/>
          <a:ln w="19050">
            <a:solidFill>
              <a:srgbClr val="028090"/>
            </a:solidFill>
            <a:prstDash val="solid"/>
          </a:ln>
        </p:spPr>
      </p:sp>
      <p:sp>
        <p:nvSpPr>
          <p:cNvPr id="8" name="Text 6"/>
          <p:cNvSpPr/>
          <p:nvPr/>
        </p:nvSpPr>
        <p:spPr>
          <a:xfrm>
            <a:off x="822960" y="4983480"/>
            <a:ext cx="10058400" cy="114300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Vernon T. Cox  ·  Srilatha Alla</a:t>
            </a:r>
            <a:endParaRPr lang="en-US" sz="1500" dirty="0"/>
          </a:p>
          <a:p>
            <a:pPr indent="0" marL="0">
              <a:buNone/>
            </a:pPr>
            <a:r>
              <a:rPr lang="en-US" sz="1200" dirty="0">
                <a:solidFill>
                  <a:srgbClr val="9DB2C7"/>
                </a:solidFill>
                <a:latin typeface="Arial" pitchFamily="34" charset="0"/>
                <a:ea typeface="Arial" pitchFamily="34" charset="-122"/>
                <a:cs typeface="Arial" pitchFamily="34" charset="-120"/>
              </a:rPr>
              <a:t>CNM Ingenuity Data Science Bootcamp Capstone</a:t>
            </a:r>
            <a:endParaRPr lang="en-US" sz="1500" dirty="0"/>
          </a:p>
          <a:p>
            <a:pPr indent="0" marL="0">
              <a:buNone/>
            </a:pPr>
            <a:r>
              <a:rPr lang="en-US" sz="1200" dirty="0">
                <a:solidFill>
                  <a:srgbClr val="9DB2C7"/>
                </a:solidFill>
                <a:latin typeface="Arial" pitchFamily="34" charset="0"/>
                <a:ea typeface="Arial" pitchFamily="34" charset="-122"/>
                <a:cs typeface="Arial" pitchFamily="34" charset="-120"/>
              </a:rPr>
              <a:t>Instructor: Robert Citek — Lead Data Science Instructor, CNM Ingenuity</a:t>
            </a:r>
            <a:endParaRPr lang="en-US" sz="1500" dirty="0"/>
          </a:p>
          <a:p>
            <a:pPr indent="0" marL="0">
              <a:buNone/>
            </a:pPr>
            <a:r>
              <a:rPr lang="en-US" sz="1200" dirty="0">
                <a:solidFill>
                  <a:srgbClr val="9DB2C7"/>
                </a:solidFill>
                <a:latin typeface="Arial" pitchFamily="34" charset="0"/>
                <a:ea typeface="Arial" pitchFamily="34" charset="-122"/>
                <a:cs typeface="Arial" pitchFamily="34" charset="-120"/>
              </a:rPr>
              <a:t>SME: Prof. Robert G. DelCampo, Ph.D. — UNM Anderson School of Management</a:t>
            </a:r>
            <a:endParaRPr lang="en-US" sz="1500" dirty="0"/>
          </a:p>
        </p:txBody>
      </p:sp>
      <p:sp>
        <p:nvSpPr>
          <p:cNvPr id="9" name="Text 7"/>
          <p:cNvSpPr/>
          <p:nvPr/>
        </p:nvSpPr>
        <p:spPr>
          <a:xfrm>
            <a:off x="8321040" y="6309360"/>
            <a:ext cx="3291840" cy="365760"/>
          </a:xfrm>
          <a:prstGeom prst="rect">
            <a:avLst/>
          </a:prstGeom>
          <a:noFill/>
          <a:ln/>
        </p:spPr>
        <p:txBody>
          <a:bodyPr wrap="square" lIns="0" tIns="0" rIns="0" bIns="0" rtlCol="0" anchor="ctr"/>
          <a:lstStyle/>
          <a:p>
            <a:pPr algn="r" indent="0" marL="0">
              <a:buNone/>
            </a:pPr>
            <a:r>
              <a:rPr lang="en-US" sz="1300" b="1" dirty="0">
                <a:solidFill>
                  <a:srgbClr val="00A896"/>
                </a:solidFill>
                <a:latin typeface="Georgia" pitchFamily="34" charset="0"/>
                <a:ea typeface="Georgia" pitchFamily="34" charset="-122"/>
                <a:cs typeface="Georgia" pitchFamily="34" charset="-120"/>
              </a:rPr>
              <a:t>Organizational Trust Quotient®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Organizational Trust Quotient (OTQ)</dc:title>
  <dc:subject>PptxGenJS Presentation</dc:subject>
  <dc:creator>Vernon T. Cox</dc:creator>
  <cp:lastModifiedBy>Vernon T. Cox</cp:lastModifiedBy>
  <cp:revision>1</cp:revision>
  <dcterms:created xsi:type="dcterms:W3CDTF">2026-06-15T20:57:59Z</dcterms:created>
  <dcterms:modified xsi:type="dcterms:W3CDTF">2026-06-15T20:57:59Z</dcterms:modified>
</cp:coreProperties>
</file>