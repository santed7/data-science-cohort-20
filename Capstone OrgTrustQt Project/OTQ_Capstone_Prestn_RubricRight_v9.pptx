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63B"/>
                </a:solidFill>
                <a:latin typeface="Arial"/>
              </a:defRPr>
            </a:pPr>
            <a:r>
              <a:rPr sz="1300" b="0" i="0" u="none" strike="noStrike">
                <a:solidFill>
                  <a:srgbClr val="16263B"/>
                </a:solidFill>
                <a:latin typeface="Arial"/>
              </a:rPr>
              <a:t>Starting score by interaction type</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028090"/>
            </a:solidFill>
            <a:effectLst/>
          </c:spPr>
          <c:invertIfNegative val="0"/>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0A896"/>
              </a:solidFill>
              <a:effectLst/>
            </c:spPr>
          </c:dPt>
          <c:dPt>
            <c:idx val="2"/>
            <c:invertIfNegative val="0"/>
            <c:bubble3D val="0"/>
            <c:spPr>
              <a:solidFill>
                <a:srgbClr val="00A896"/>
              </a:solidFill>
              <a:effectLst/>
            </c:spPr>
          </c:dPt>
          <c:dPt>
            <c:idx val="3"/>
            <c:invertIfNegative val="0"/>
            <c:bubble3D val="0"/>
            <c:spPr>
              <a:solidFill>
                <a:srgbClr val="02C39A"/>
              </a:solidFill>
              <a:effectLst/>
            </c:spPr>
          </c:dPt>
          <c:dPt>
            <c:idx val="4"/>
            <c:invertIfNegative val="0"/>
            <c:bubble3D val="0"/>
            <c:spPr>
              <a:solidFill>
                <a:srgbClr val="9DC9CE"/>
              </a:solidFill>
              <a:effectLst/>
            </c:spPr>
          </c:dPt>
          <c:cat>
            <c:multiLvlStrRef>
              <c:f>Sheet1!$A$2:$A$6</c:f>
              <c:multiLvlStrCache>
                <c:ptCount val="5"/>
                <c:lvl>
                  <c:pt idx="0">
                    <c:v>Meeting</c:v>
                  </c:pt>
                  <c:pt idx="1">
                    <c:v>Chat</c:v>
                  </c:pt>
                  <c:pt idx="2">
                    <c:v>Call</c:v>
                  </c:pt>
                  <c:pt idx="3">
                    <c:v>Email</c:v>
                  </c:pt>
                  <c:pt idx="4">
                    <c:v>Other</c:v>
                  </c:pt>
                </c:lvl>
              </c:multiLvlStrCache>
            </c:multiLvlStrRef>
          </c:cat>
          <c:val>
            <c:numRef>
              <c:f>Sheet1!$B$2:$B$6</c:f>
              <c:numCache>
                <c:formatCode>General</c:formatCode>
                <c:ptCount val="5"/>
                <c:pt idx="0">
                  <c:v>24.5</c:v>
                </c:pt>
                <c:pt idx="1">
                  <c:v>9.5</c:v>
                </c:pt>
                <c:pt idx="2">
                  <c:v>8.5</c:v>
                </c:pt>
                <c:pt idx="3">
                  <c:v>6</c:v>
                </c:pt>
                <c:pt idx="4">
                  <c:v>5</c:v>
                </c:pt>
              </c:numCache>
            </c:numRef>
          </c:val>
        </c:ser>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C6B7A"/>
                    </a:solidFill>
                    <a:latin typeface="Arial"/>
                  </a:defRPr>
                </a:pPr>
                <a:r>
                  <a:rPr sz="1100" b="0" i="0" u="none" strike="noStrike">
                    <a:solidFill>
                      <a:srgbClr val="5C6B7A"/>
                    </a:solidFill>
                    <a:latin typeface="Arial"/>
                  </a:rPr>
                  <a:t>Interaction type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6350" cap="flat">
              <a:solidFill>
                <a:srgbClr val="D6E2EA"/>
              </a:solidFill>
              <a:prstDash val="solid"/>
              <a:round/>
            </a:ln>
          </c:spPr>
        </c:majorGridlines>
        <c:title>
          <c:tx>
            <c:rich>
              <a:bodyPr/>
              <a:lstStyle/>
              <a:p>
                <a:pPr>
                  <a:defRPr sz="1100" b="0" i="0" u="none" strike="noStrike">
                    <a:solidFill>
                      <a:srgbClr val="5C6B7A"/>
                    </a:solidFill>
                    <a:latin typeface="Arial"/>
                  </a:defRPr>
                </a:pPr>
                <a:r>
                  <a:rPr sz="1100" b="0" i="0" u="none" strike="noStrike">
                    <a:solidFill>
                      <a:srgbClr val="5C6B7A"/>
                    </a:solidFill>
                    <a:latin typeface="Arial"/>
                  </a:rPr>
                  <a:t>Engagement points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4"/>
        <c:crosses val="autoZero"/>
        <c:crossBetween val="between"/>
      </c:valAx>
      <c:spPr>
        <a:solidFill>
          <a:srgbClr val="EAF2F6"/>
        </a:solidFill>
        <a:ln>
          <a:noFill/>
        </a:ln>
        <a:effectLst/>
      </c:spPr>
    </c:plotArea>
    <c:plotVisOnly val="1"/>
    <c:dispBlanksAs val="span"/>
  </c:chart>
  <c:spPr>
    <a:solidFill>
      <a:srgbClr val="EAF2F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63B"/>
                </a:solidFill>
                <a:latin typeface="Arial"/>
              </a:defRPr>
            </a:pPr>
            <a:r>
              <a:rPr sz="1300" b="0" i="0" u="none" strike="noStrike">
                <a:solidFill>
                  <a:srgbClr val="16263B"/>
                </a:solidFill>
                <a:latin typeface="Arial"/>
              </a:rPr>
              <a:t>How fast people reply: actual vs. our prediction</a:t>
            </a:r>
          </a:p>
        </c:rich>
      </c:tx>
      <c:layout/>
      <c:overlay val="0"/>
    </c:title>
    <c:autoTitleDeleted val="0"/>
    <c:plotArea>
      <c:layout/>
      <c:lineChart>
        <c:varyColors val="0"/>
        <c:ser>
          <c:idx val="0"/>
          <c:order val="0"/>
          <c:tx>
            <c:strRef>
              <c:f>Sheet1!$B$1</c:f>
              <c:strCache>
                <c:ptCount val="1"/>
                <c:pt idx="0">
                  <c:v>Actual</c:v>
                </c:pt>
              </c:strCache>
            </c:strRef>
          </c:tx>
          <c:spPr>
            <a:solidFill>
              <a:srgbClr val="028090"/>
            </a:solidFill>
            <a:ln w="31750" cap="flat">
              <a:solidFill>
                <a:srgbClr val="0280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8090"/>
              </a:solidFill>
              <a:ln w="9525" cap="flat">
                <a:solidFill>
                  <a:srgbClr val="028090"/>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Sheet1!$B$2:$B$11</c:f>
              <c:numCache>
                <c:formatCode>General</c:formatCode>
                <c:ptCount val="10"/>
                <c:pt idx="0">
                  <c:v>42</c:v>
                </c:pt>
                <c:pt idx="1">
                  <c:v>38</c:v>
                </c:pt>
                <c:pt idx="2">
                  <c:v>47</c:v>
                </c:pt>
                <c:pt idx="3">
                  <c:v>35</c:v>
                </c:pt>
                <c:pt idx="4">
                  <c:v>31</c:v>
                </c:pt>
                <c:pt idx="5">
                  <c:v>36</c:v>
                </c:pt>
                <c:pt idx="6">
                  <c:v>29</c:v>
                </c:pt>
                <c:pt idx="7">
                  <c:v>33</c:v>
                </c:pt>
                <c:pt idx="8">
                  <c:v>27</c:v>
                </c:pt>
                <c:pt idx="9">
                  <c:v>30</c:v>
                </c:pt>
              </c:numCache>
            </c:numRef>
          </c:val>
          <c:smooth val="1"/>
        </c:ser>
        <c:ser>
          <c:idx val="1"/>
          <c:order val="1"/>
          <c:tx>
            <c:strRef>
              <c:f>Sheet1!$C$1</c:f>
              <c:strCache>
                <c:ptCount val="1"/>
                <c:pt idx="0">
                  <c:v>Predicted</c:v>
                </c:pt>
              </c:strCache>
            </c:strRef>
          </c:tx>
          <c:spPr>
            <a:solidFill>
              <a:srgbClr val="02C39A"/>
            </a:solidFill>
            <a:ln w="31750" cap="flat">
              <a:solidFill>
                <a:srgbClr val="02C3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C39A"/>
              </a:solidFill>
              <a:ln w="9525" cap="flat">
                <a:solidFill>
                  <a:srgbClr val="02C39A"/>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Sheet1!$C$2:$C$11</c:f>
              <c:numCache>
                <c:formatCode>General</c:formatCode>
                <c:ptCount val="10"/>
                <c:pt idx="0">
                  <c:v>40</c:v>
                </c:pt>
                <c:pt idx="1">
                  <c:v>40</c:v>
                </c:pt>
                <c:pt idx="2">
                  <c:v>44</c:v>
                </c:pt>
                <c:pt idx="3">
                  <c:v>37</c:v>
                </c:pt>
                <c:pt idx="4">
                  <c:v>33</c:v>
                </c:pt>
                <c:pt idx="5">
                  <c:v>34</c:v>
                </c:pt>
                <c:pt idx="6">
                  <c:v>31</c:v>
                </c:pt>
                <c:pt idx="7">
                  <c:v>31</c:v>
                </c:pt>
                <c:pt idx="8">
                  <c:v>29</c:v>
                </c:pt>
                <c:pt idx="9">
                  <c:v>29</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C6B7A"/>
                    </a:solidFill>
                    <a:latin typeface="Arial"/>
                  </a:defRPr>
                </a:pPr>
                <a:r>
                  <a:rPr sz="1100" b="0" i="0" u="none" strike="noStrike">
                    <a:solidFill>
                      <a:srgbClr val="5C6B7A"/>
                    </a:solidFill>
                    <a:latin typeface="Arial"/>
                  </a:rPr>
                  <a:t>Day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6E2EA"/>
              </a:solidFill>
              <a:prstDash val="solid"/>
              <a:round/>
            </a:ln>
          </c:spPr>
        </c:majorGridlines>
        <c:title>
          <c:tx>
            <c:rich>
              <a:bodyPr/>
              <a:lstStyle/>
              <a:p>
                <a:pPr>
                  <a:defRPr sz="1100" b="0" i="0" u="none" strike="noStrike">
                    <a:solidFill>
                      <a:srgbClr val="5C6B7A"/>
                    </a:solidFill>
                    <a:latin typeface="Arial"/>
                  </a:defRPr>
                </a:pPr>
                <a:r>
                  <a:rPr sz="1100" b="0" i="0" u="none" strike="noStrike">
                    <a:solidFill>
                      <a:srgbClr val="5C6B7A"/>
                    </a:solidFill>
                    <a:latin typeface="Arial"/>
                  </a:rPr>
                  <a:t>Reply time (minutes)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4"/>
        <c:crosses val="autoZero"/>
        <c:crossBetween val="between"/>
      </c:valAx>
      <c:spPr>
        <a:solidFill>
          <a:srgbClr val="EAF2F6"/>
        </a:solidFill>
        <a:ln>
          <a:noFill/>
        </a:ln>
        <a:effectLst/>
      </c:spPr>
    </c:plotArea>
    <c:legend>
      <c:legendPos val="b"/>
      <c:overlay val="0"/>
      <c:txPr>
        <a:bodyPr/>
        <a:lstStyle/>
        <a:p>
          <a:pPr>
            <a:defRPr sz="1200">
              <a:solidFill>
                <a:srgbClr val="5C6B7A"/>
              </a:solidFill>
            </a:defRPr>
          </a:pPr>
          <a:endParaRPr lang="en-US"/>
        </a:p>
      </c:txPr>
    </c:legend>
    <c:plotVisOnly val="1"/>
    <c:dispBlanksAs val="span"/>
  </c:chart>
  <c:spPr>
    <a:solidFill>
      <a:srgbClr val="EAF2F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Vernon Cox, with Srilatha Alla. Our project asks a simple question: can the way a team communicates tell us how healthy the team is? We read everyday message patterns — not the words — and turn them into a signal. The QR code opens our notebook runnable in Colab.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'em what we're gonna tell 'em. Five beats: the problem, what we look at, the data plus our scoring, results and the dashboard, then take-homes and next steps.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plain terms. Trust decides whether people speak up early or share half-finished ideas. But we usually only check once a year, with a survey that's slow, biased, and disruptive. Meanwhile teams already produce thousands of signals a day. Our goal: use those, with no extra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actually look at — and our reviewer's key point. We measure engagement (how much people talk and meet), we predict responsiveness (how fast they reply), and trust is the thing underneath that we're really after. We're careful not to overclaim: we don't say we measure trust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data comes from. We pull from the three tools people already use — Slack, Teams, Outlook — and merge them into one table of 106 events. Since we don't have a real company's data yet, we built safe practice data from Bible figures, the apostles, in exactly the same format a real export would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data. Each row is a single interaction with a few plain facts: which tool, what type, who, where, how long, how many people, and a reply-speed clue. Crucially, we keep counts and timing — never the contents of any message. 106 events, 3 sources, about 8 fields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turn interactions into numbers. Every event gets an engagement score: start with the type — meetings count most, email least — then add a little for how long it ran and how many people were involved. Then we add everything up per day to get daily team numbers. All the rules are simple and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in plain terms. It learns the link between engagement and reply speed. Because our clues overlap a lot, we used Ridge regression — a model built to stay steady and stay readable when that happens. And we didn't trust one run: we compared other models, tuned settings, tested on days it had never seen, and ranked which clues mattered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The line shows our prediction tracking the real reply-speed in the practice data. The headline anyone can take away: when a team is more engaged, they reply faster — exactly what we expected. Be honest that this is practice data, so the pattern holds but the exact numbers will move with a real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built beyond the notebook: a simple website. You drop in the files, it runs the whole pipeline for you, and the results and charts come right back — including day-by-day predictions. Someone with no coding background can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'em what you told 'em. Four take-homes: always-on beats once a year; how people talk predicts how fast they reply; we're honest that we measure talk, not trust itself yet; and it's private by design — counts and timing only, never message content. If they remember one slide,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next and questions. The big next step is checking our score against a trusted, validated trust survey on a real team — that's what would let us truly say 'trust.' Then real company data, scores per team and person, and tracking real outcomes. The QR code opens the notebook in Colab. Thank the instructor and SME, and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43F"/>
        </a:solidFill>
      </p:bgPr>
    </p:bg>
    <p:spTree>
      <p:nvGrpSpPr>
        <p:cNvPr id="1" name=""/>
        <p:cNvGrpSpPr/>
        <p:nvPr/>
      </p:nvGrpSpPr>
      <p:grpSpPr>
        <a:xfrm>
          <a:off x="0" y="0"/>
          <a:ext cx="0" cy="0"/>
          <a:chOff x="0" y="0"/>
          <a:chExt cx="0" cy="0"/>
        </a:xfrm>
      </p:grpSpPr>
      <p:sp>
        <p:nvSpPr>
          <p:cNvPr id="2" name="Shape 0"/>
          <p:cNvSpPr/>
          <p:nvPr/>
        </p:nvSpPr>
        <p:spPr>
          <a:xfrm>
            <a:off x="8229600" y="-320040"/>
            <a:ext cx="4206240" cy="4206240"/>
          </a:xfrm>
          <a:prstGeom prst="ellipse">
            <a:avLst/>
          </a:prstGeom>
          <a:solidFill>
            <a:srgbClr val="028090"/>
          </a:solidFill>
          <a:ln/>
        </p:spPr>
      </p:sp>
      <p:pic>
        <p:nvPicPr>
          <p:cNvPr id="3" name="Image 0" descr="/home/claude/team.png">    </p:cNvPr>
          <p:cNvPicPr>
            <a:picLocks noChangeAspect="1"/>
          </p:cNvPicPr>
          <p:nvPr/>
        </p:nvPicPr>
        <p:blipFill>
          <a:blip r:embed="rId1"/>
          <a:stretch>
            <a:fillRect/>
          </a:stretch>
        </p:blipFill>
        <p:spPr>
          <a:xfrm>
            <a:off x="8321040" y="-228600"/>
            <a:ext cx="4023360" cy="4023360"/>
          </a:xfrm>
          <a:prstGeom prst="ellipse">
            <a:avLst/>
          </a:prstGeom>
        </p:spPr>
      </p:pic>
      <p:sp>
        <p:nvSpPr>
          <p:cNvPr id="4" name="Text 1"/>
          <p:cNvSpPr/>
          <p:nvPr/>
        </p:nvSpPr>
        <p:spPr>
          <a:xfrm>
            <a:off x="822960" y="1554480"/>
            <a:ext cx="9144000" cy="365760"/>
          </a:xfrm>
          <a:prstGeom prst="rect">
            <a:avLst/>
          </a:prstGeom>
          <a:noFill/>
          <a:ln/>
        </p:spPr>
        <p:txBody>
          <a:bodyPr wrap="square" lIns="0" tIns="0" rIns="0" bIns="0" rtlCol="0" anchor="ctr"/>
          <a:lstStyle/>
          <a:p>
            <a:pPr indent="0" marL="0">
              <a:buNone/>
            </a:pPr>
            <a:r>
              <a:rPr lang="en-US" sz="1500" b="1" spc="400" kern="0" dirty="0">
                <a:solidFill>
                  <a:srgbClr val="00A896"/>
                </a:solidFill>
                <a:latin typeface="Arial" pitchFamily="34" charset="0"/>
                <a:ea typeface="Arial" pitchFamily="34" charset="-122"/>
                <a:cs typeface="Arial" pitchFamily="34" charset="-120"/>
              </a:rPr>
              <a:t>ORGANIZATIONAL TRUST QUOTIENT®</a:t>
            </a:r>
            <a:endParaRPr lang="en-US" sz="1500" dirty="0"/>
          </a:p>
        </p:txBody>
      </p:sp>
      <p:sp>
        <p:nvSpPr>
          <p:cNvPr id="5" name="Text 2"/>
          <p:cNvSpPr/>
          <p:nvPr/>
        </p:nvSpPr>
        <p:spPr>
          <a:xfrm>
            <a:off x="822960" y="2057400"/>
            <a:ext cx="9875520" cy="1737360"/>
          </a:xfrm>
          <a:prstGeom prst="rect">
            <a:avLst/>
          </a:prstGeom>
          <a:noFill/>
          <a:ln/>
        </p:spPr>
        <p:txBody>
          <a:bodyPr wrap="square" lIns="0" tIns="0" rIns="0" bIns="0" rtlCol="0" anchor="ctr"/>
          <a:lstStyle/>
          <a:p>
            <a:pPr indent="0" marL="0">
              <a:lnSpc>
                <a:spcPct val="100000"/>
              </a:lnSpc>
              <a:buNone/>
            </a:pPr>
            <a:r>
              <a:rPr lang="en-US" sz="4200" b="1" dirty="0">
                <a:solidFill>
                  <a:srgbClr val="FFFFFF"/>
                </a:solidFill>
                <a:latin typeface="Georgia" pitchFamily="34" charset="0"/>
                <a:ea typeface="Georgia" pitchFamily="34" charset="-122"/>
                <a:cs typeface="Georgia" pitchFamily="34" charset="-120"/>
              </a:rPr>
              <a:t>Reading team health</a:t>
            </a:r>
            <a:endParaRPr lang="en-US" sz="4200" dirty="0"/>
          </a:p>
          <a:p>
            <a:pPr indent="0" marL="0">
              <a:lnSpc>
                <a:spcPct val="100000"/>
              </a:lnSpc>
              <a:buNone/>
            </a:pPr>
            <a:r>
              <a:rPr lang="en-US" sz="4200" b="1" dirty="0">
                <a:solidFill>
                  <a:srgbClr val="FFFFFF"/>
                </a:solidFill>
                <a:latin typeface="Georgia" pitchFamily="34" charset="0"/>
                <a:ea typeface="Georgia" pitchFamily="34" charset="-122"/>
                <a:cs typeface="Georgia" pitchFamily="34" charset="-120"/>
              </a:rPr>
              <a:t>from everyday messages</a:t>
            </a:r>
            <a:endParaRPr lang="en-US" sz="4200" dirty="0"/>
          </a:p>
        </p:txBody>
      </p:sp>
      <p:sp>
        <p:nvSpPr>
          <p:cNvPr id="6" name="Text 3"/>
          <p:cNvSpPr/>
          <p:nvPr/>
        </p:nvSpPr>
        <p:spPr>
          <a:xfrm>
            <a:off x="822960" y="3931920"/>
            <a:ext cx="9601200" cy="411480"/>
          </a:xfrm>
          <a:prstGeom prst="rect">
            <a:avLst/>
          </a:prstGeom>
          <a:noFill/>
          <a:ln/>
        </p:spPr>
        <p:txBody>
          <a:bodyPr wrap="square" lIns="0" tIns="0" rIns="0" bIns="0" rtlCol="0" anchor="ctr"/>
          <a:lstStyle/>
          <a:p>
            <a:pPr indent="0" marL="0">
              <a:buNone/>
            </a:pPr>
            <a:r>
              <a:rPr lang="en-US" sz="1700" i="1" dirty="0">
                <a:solidFill>
                  <a:srgbClr val="C7D6E5"/>
                </a:solidFill>
                <a:latin typeface="Arial" pitchFamily="34" charset="0"/>
                <a:ea typeface="Arial" pitchFamily="34" charset="-122"/>
                <a:cs typeface="Arial" pitchFamily="34" charset="-120"/>
              </a:rPr>
              <a:t>How people talk at work → a signal of how the team is doing</a:t>
            </a:r>
            <a:endParaRPr lang="en-US" sz="1700" dirty="0"/>
          </a:p>
        </p:txBody>
      </p:sp>
      <p:sp>
        <p:nvSpPr>
          <p:cNvPr id="7" name="Shape 4"/>
          <p:cNvSpPr/>
          <p:nvPr/>
        </p:nvSpPr>
        <p:spPr>
          <a:xfrm>
            <a:off x="841248" y="4800600"/>
            <a:ext cx="3840480" cy="0"/>
          </a:xfrm>
          <a:prstGeom prst="line">
            <a:avLst/>
          </a:prstGeom>
          <a:noFill/>
          <a:ln w="19050">
            <a:solidFill>
              <a:srgbClr val="028090"/>
            </a:solidFill>
            <a:prstDash val="solid"/>
          </a:ln>
        </p:spPr>
      </p:sp>
      <p:sp>
        <p:nvSpPr>
          <p:cNvPr id="8" name="Text 5"/>
          <p:cNvSpPr/>
          <p:nvPr/>
        </p:nvSpPr>
        <p:spPr>
          <a:xfrm>
            <a:off x="822960" y="4937760"/>
            <a:ext cx="9144000" cy="10972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Vernon T. Cox  ·  Srilatha Alla</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CNM Ingenuity — Data Science Bootcamp Capstone</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Instructor: Robert Citek</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SME: Prof. R. DelCampo — UNM Anderson</a:t>
            </a:r>
            <a:endParaRPr lang="en-US" sz="1500" dirty="0"/>
          </a:p>
        </p:txBody>
      </p:sp>
      <p:sp>
        <p:nvSpPr>
          <p:cNvPr id="9" name="Shape 6"/>
          <p:cNvSpPr/>
          <p:nvPr/>
        </p:nvSpPr>
        <p:spPr>
          <a:xfrm>
            <a:off x="10104120" y="4846320"/>
            <a:ext cx="1600200" cy="1600200"/>
          </a:xfrm>
          <a:prstGeom prst="roundRect">
            <a:avLst>
              <a:gd name="adj" fmla="val 4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0" name="Image 1" descr="/home/claude/qr_colab.png">    </p:cNvPr>
          <p:cNvPicPr>
            <a:picLocks noChangeAspect="1"/>
          </p:cNvPicPr>
          <p:nvPr/>
        </p:nvPicPr>
        <p:blipFill>
          <a:blip r:embed="rId2"/>
          <a:stretch>
            <a:fillRect/>
          </a:stretch>
        </p:blipFill>
        <p:spPr>
          <a:xfrm>
            <a:off x="10264140" y="5006340"/>
            <a:ext cx="1280160" cy="1280160"/>
          </a:xfrm>
          <a:prstGeom prst="rect">
            <a:avLst/>
          </a:prstGeom>
        </p:spPr>
      </p:pic>
      <p:sp>
        <p:nvSpPr>
          <p:cNvPr id="11" name="Text 7"/>
          <p:cNvSpPr/>
          <p:nvPr/>
        </p:nvSpPr>
        <p:spPr>
          <a:xfrm>
            <a:off x="9692640" y="4553712"/>
            <a:ext cx="2423160" cy="256032"/>
          </a:xfrm>
          <a:prstGeom prst="rect">
            <a:avLst/>
          </a:prstGeom>
          <a:noFill/>
          <a:ln/>
        </p:spPr>
        <p:txBody>
          <a:bodyPr wrap="square" lIns="0" tIns="0" rIns="0" bIns="0" rtlCol="0" anchor="ctr"/>
          <a:lstStyle/>
          <a:p>
            <a:pPr algn="ctr" indent="0" marL="0">
              <a:buNone/>
            </a:pPr>
            <a:r>
              <a:rPr lang="en-US" sz="1050" b="1" dirty="0">
                <a:solidFill>
                  <a:srgbClr val="00A896"/>
                </a:solidFill>
                <a:latin typeface="Arial" pitchFamily="34" charset="0"/>
                <a:ea typeface="Arial" pitchFamily="34" charset="-122"/>
                <a:cs typeface="Arial" pitchFamily="34" charset="-120"/>
              </a:rPr>
              <a:t>Scan to open in Colab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PREVIEW — WHAT WE'LL COVER</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The next 8 minutes</a:t>
            </a:r>
            <a:endParaRPr lang="en-US" sz="2900" dirty="0"/>
          </a:p>
        </p:txBody>
      </p:sp>
      <p:sp>
        <p:nvSpPr>
          <p:cNvPr id="4" name="Shape 2"/>
          <p:cNvSpPr/>
          <p:nvPr/>
        </p:nvSpPr>
        <p:spPr>
          <a:xfrm>
            <a:off x="640080" y="17830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18928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6" name="Text 4"/>
          <p:cNvSpPr/>
          <p:nvPr/>
        </p:nvSpPr>
        <p:spPr>
          <a:xfrm>
            <a:off x="914400"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7" name="Shape 5"/>
          <p:cNvSpPr/>
          <p:nvPr/>
        </p:nvSpPr>
        <p:spPr>
          <a:xfrm>
            <a:off x="1783080" y="19065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8" name="Image 0" descr="preencoded.png">    </p:cNvPr>
          <p:cNvPicPr>
            <a:picLocks noChangeAspect="1"/>
          </p:cNvPicPr>
          <p:nvPr/>
        </p:nvPicPr>
        <p:blipFill>
          <a:blip r:embed="rId1"/>
          <a:stretch>
            <a:fillRect/>
          </a:stretch>
        </p:blipFill>
        <p:spPr>
          <a:xfrm>
            <a:off x="1920972" y="2044416"/>
            <a:ext cx="254569" cy="254569"/>
          </a:xfrm>
          <a:prstGeom prst="rect">
            <a:avLst/>
          </a:prstGeom>
        </p:spPr>
      </p:pic>
      <p:sp>
        <p:nvSpPr>
          <p:cNvPr id="9" name="Text 6"/>
          <p:cNvSpPr/>
          <p:nvPr/>
        </p:nvSpPr>
        <p:spPr>
          <a:xfrm>
            <a:off x="2606040" y="17830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The problem we set out to solve</a:t>
            </a:r>
            <a:endParaRPr lang="en-US" sz="1900" dirty="0"/>
          </a:p>
        </p:txBody>
      </p:sp>
      <p:sp>
        <p:nvSpPr>
          <p:cNvPr id="10" name="Shape 7"/>
          <p:cNvSpPr/>
          <p:nvPr/>
        </p:nvSpPr>
        <p:spPr>
          <a:xfrm>
            <a:off x="640080" y="26974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8"/>
          <p:cNvSpPr/>
          <p:nvPr/>
        </p:nvSpPr>
        <p:spPr>
          <a:xfrm>
            <a:off x="914400" y="28072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12" name="Text 9"/>
          <p:cNvSpPr/>
          <p:nvPr/>
        </p:nvSpPr>
        <p:spPr>
          <a:xfrm>
            <a:off x="914400" y="28072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3" name="Shape 10"/>
          <p:cNvSpPr/>
          <p:nvPr/>
        </p:nvSpPr>
        <p:spPr>
          <a:xfrm>
            <a:off x="1783080" y="28209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14" name="Image 1" descr="preencoded.png">    </p:cNvPr>
          <p:cNvPicPr>
            <a:picLocks noChangeAspect="1"/>
          </p:cNvPicPr>
          <p:nvPr/>
        </p:nvPicPr>
        <p:blipFill>
          <a:blip r:embed="rId2"/>
          <a:stretch>
            <a:fillRect/>
          </a:stretch>
        </p:blipFill>
        <p:spPr>
          <a:xfrm>
            <a:off x="1920972" y="2958816"/>
            <a:ext cx="254569" cy="254569"/>
          </a:xfrm>
          <a:prstGeom prst="rect">
            <a:avLst/>
          </a:prstGeom>
        </p:spPr>
      </p:pic>
      <p:sp>
        <p:nvSpPr>
          <p:cNvPr id="15" name="Text 11"/>
          <p:cNvSpPr/>
          <p:nvPr/>
        </p:nvSpPr>
        <p:spPr>
          <a:xfrm>
            <a:off x="2606040" y="26974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What OTQ looks at</a:t>
            </a:r>
            <a:endParaRPr lang="en-US" sz="1900" dirty="0"/>
          </a:p>
        </p:txBody>
      </p:sp>
      <p:sp>
        <p:nvSpPr>
          <p:cNvPr id="16" name="Shape 12"/>
          <p:cNvSpPr/>
          <p:nvPr/>
        </p:nvSpPr>
        <p:spPr>
          <a:xfrm>
            <a:off x="640080" y="36118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7" name="Shape 13"/>
          <p:cNvSpPr/>
          <p:nvPr/>
        </p:nvSpPr>
        <p:spPr>
          <a:xfrm>
            <a:off x="914400" y="37216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18" name="Text 14"/>
          <p:cNvSpPr/>
          <p:nvPr/>
        </p:nvSpPr>
        <p:spPr>
          <a:xfrm>
            <a:off x="914400" y="37216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9" name="Shape 15"/>
          <p:cNvSpPr/>
          <p:nvPr/>
        </p:nvSpPr>
        <p:spPr>
          <a:xfrm>
            <a:off x="1783080" y="37353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0" name="Image 2" descr="preencoded.png">    </p:cNvPr>
          <p:cNvPicPr>
            <a:picLocks noChangeAspect="1"/>
          </p:cNvPicPr>
          <p:nvPr/>
        </p:nvPicPr>
        <p:blipFill>
          <a:blip r:embed="rId3"/>
          <a:stretch>
            <a:fillRect/>
          </a:stretch>
        </p:blipFill>
        <p:spPr>
          <a:xfrm>
            <a:off x="1920972" y="3873216"/>
            <a:ext cx="254569" cy="254569"/>
          </a:xfrm>
          <a:prstGeom prst="rect">
            <a:avLst/>
          </a:prstGeom>
        </p:spPr>
      </p:pic>
      <p:sp>
        <p:nvSpPr>
          <p:cNvPr id="21" name="Text 16"/>
          <p:cNvSpPr/>
          <p:nvPr/>
        </p:nvSpPr>
        <p:spPr>
          <a:xfrm>
            <a:off x="2606040" y="36118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The data — and how we score it</a:t>
            </a:r>
            <a:endParaRPr lang="en-US" sz="1900" dirty="0"/>
          </a:p>
        </p:txBody>
      </p:sp>
      <p:sp>
        <p:nvSpPr>
          <p:cNvPr id="22" name="Shape 17"/>
          <p:cNvSpPr/>
          <p:nvPr/>
        </p:nvSpPr>
        <p:spPr>
          <a:xfrm>
            <a:off x="640080" y="45262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3" name="Shape 18"/>
          <p:cNvSpPr/>
          <p:nvPr/>
        </p:nvSpPr>
        <p:spPr>
          <a:xfrm>
            <a:off x="914400" y="46360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24" name="Text 19"/>
          <p:cNvSpPr/>
          <p:nvPr/>
        </p:nvSpPr>
        <p:spPr>
          <a:xfrm>
            <a:off x="914400" y="46360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5" name="Shape 20"/>
          <p:cNvSpPr/>
          <p:nvPr/>
        </p:nvSpPr>
        <p:spPr>
          <a:xfrm>
            <a:off x="1783080" y="46497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6" name="Image 3" descr="preencoded.png">    </p:cNvPr>
          <p:cNvPicPr>
            <a:picLocks noChangeAspect="1"/>
          </p:cNvPicPr>
          <p:nvPr/>
        </p:nvPicPr>
        <p:blipFill>
          <a:blip r:embed="rId4"/>
          <a:stretch>
            <a:fillRect/>
          </a:stretch>
        </p:blipFill>
        <p:spPr>
          <a:xfrm>
            <a:off x="1920972" y="4787616"/>
            <a:ext cx="254569" cy="254569"/>
          </a:xfrm>
          <a:prstGeom prst="rect">
            <a:avLst/>
          </a:prstGeom>
        </p:spPr>
      </p:pic>
      <p:sp>
        <p:nvSpPr>
          <p:cNvPr id="27" name="Text 21"/>
          <p:cNvSpPr/>
          <p:nvPr/>
        </p:nvSpPr>
        <p:spPr>
          <a:xfrm>
            <a:off x="2606040" y="45262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Results &amp; the dashboard we built</a:t>
            </a:r>
            <a:endParaRPr lang="en-US" sz="1900" dirty="0"/>
          </a:p>
        </p:txBody>
      </p:sp>
      <p:sp>
        <p:nvSpPr>
          <p:cNvPr id="28" name="Shape 22"/>
          <p:cNvSpPr/>
          <p:nvPr/>
        </p:nvSpPr>
        <p:spPr>
          <a:xfrm>
            <a:off x="640080" y="54406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9" name="Shape 23"/>
          <p:cNvSpPr/>
          <p:nvPr/>
        </p:nvSpPr>
        <p:spPr>
          <a:xfrm>
            <a:off x="914400" y="5550408"/>
            <a:ext cx="548640" cy="548640"/>
          </a:xfrm>
          <a:prstGeom prst="ellipse">
            <a:avLst/>
          </a:prstGeom>
          <a:solidFill>
            <a:srgbClr val="02C39A"/>
          </a:solidFill>
          <a:ln/>
          <a:effectLst>
            <a:outerShdw sx="100000" sy="100000" kx="0" ky="0" algn="bl" rotWithShape="0" blurRad="114300" dist="38100" dir="5400000">
              <a:srgbClr val="0A1A2E">
                <a:alpha val="16000"/>
              </a:srgbClr>
            </a:outerShdw>
          </a:effectLst>
        </p:spPr>
      </p:sp>
      <p:sp>
        <p:nvSpPr>
          <p:cNvPr id="30" name="Text 24"/>
          <p:cNvSpPr/>
          <p:nvPr/>
        </p:nvSpPr>
        <p:spPr>
          <a:xfrm>
            <a:off x="914400" y="55504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31" name="Shape 25"/>
          <p:cNvSpPr/>
          <p:nvPr/>
        </p:nvSpPr>
        <p:spPr>
          <a:xfrm>
            <a:off x="1783080" y="55641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32" name="Image 4" descr="preencoded.png">    </p:cNvPr>
          <p:cNvPicPr>
            <a:picLocks noChangeAspect="1"/>
          </p:cNvPicPr>
          <p:nvPr/>
        </p:nvPicPr>
        <p:blipFill>
          <a:blip r:embed="rId5"/>
          <a:stretch>
            <a:fillRect/>
          </a:stretch>
        </p:blipFill>
        <p:spPr>
          <a:xfrm>
            <a:off x="1920972" y="5702016"/>
            <a:ext cx="254569" cy="254569"/>
          </a:xfrm>
          <a:prstGeom prst="rect">
            <a:avLst/>
          </a:prstGeom>
        </p:spPr>
      </p:pic>
      <p:sp>
        <p:nvSpPr>
          <p:cNvPr id="33" name="Text 26"/>
          <p:cNvSpPr/>
          <p:nvPr/>
        </p:nvSpPr>
        <p:spPr>
          <a:xfrm>
            <a:off x="2606040" y="54406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Take-homes &amp; what's next</a:t>
            </a:r>
            <a:endParaRPr lang="en-US" sz="1900" dirty="0"/>
          </a:p>
        </p:txBody>
      </p:sp>
      <p:sp>
        <p:nvSpPr>
          <p:cNvPr id="34" name="Shape 27"/>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5" name="Image 5" descr="/home/claude/qr_colab.png">    </p:cNvPr>
          <p:cNvPicPr>
            <a:picLocks noChangeAspect="1"/>
          </p:cNvPicPr>
          <p:nvPr/>
        </p:nvPicPr>
        <p:blipFill>
          <a:blip r:embed="rId6"/>
          <a:stretch>
            <a:fillRect/>
          </a:stretch>
        </p:blipFill>
        <p:spPr>
          <a:xfrm>
            <a:off x="10808208" y="384048"/>
            <a:ext cx="877824" cy="877824"/>
          </a:xfrm>
          <a:prstGeom prst="rect">
            <a:avLst/>
          </a:prstGeom>
        </p:spPr>
      </p:pic>
      <p:sp>
        <p:nvSpPr>
          <p:cNvPr id="36" name="Text 28"/>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37" name="Text 29"/>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Trust is hard to see — until it's gone</a:t>
            </a:r>
            <a:endParaRPr lang="en-US" sz="2900" dirty="0"/>
          </a:p>
        </p:txBody>
      </p:sp>
      <p:sp>
        <p:nvSpPr>
          <p:cNvPr id="4" name="Shape 2"/>
          <p:cNvSpPr/>
          <p:nvPr/>
        </p:nvSpPr>
        <p:spPr>
          <a:xfrm>
            <a:off x="640080" y="1783080"/>
            <a:ext cx="5852160" cy="4023360"/>
          </a:xfrm>
          <a:prstGeom prst="roundRect">
            <a:avLst>
              <a:gd name="adj" fmla="val 204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057400"/>
            <a:ext cx="566928" cy="56692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61801" y="2204801"/>
            <a:ext cx="272125" cy="272125"/>
          </a:xfrm>
          <a:prstGeom prst="rect">
            <a:avLst/>
          </a:prstGeom>
        </p:spPr>
      </p:pic>
      <p:sp>
        <p:nvSpPr>
          <p:cNvPr id="7" name="Text 4"/>
          <p:cNvSpPr/>
          <p:nvPr/>
        </p:nvSpPr>
        <p:spPr>
          <a:xfrm>
            <a:off x="1691640" y="2121408"/>
            <a:ext cx="4663440" cy="41148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The usual way: a yearly survey</a:t>
            </a:r>
            <a:endParaRPr lang="en-US" sz="1700" dirty="0"/>
          </a:p>
        </p:txBody>
      </p:sp>
      <p:sp>
        <p:nvSpPr>
          <p:cNvPr id="8" name="Text 5"/>
          <p:cNvSpPr/>
          <p:nvPr/>
        </p:nvSpPr>
        <p:spPr>
          <a:xfrm>
            <a:off x="914400" y="2926080"/>
            <a:ext cx="5394960" cy="2743200"/>
          </a:xfrm>
          <a:prstGeom prst="rect">
            <a:avLst/>
          </a:prstGeom>
          <a:noFill/>
          <a:ln/>
        </p:spPr>
        <p:txBody>
          <a:bodyPr wrap="square" lIns="0" tIns="0" rIns="0" bIns="0" rtlCol="0" anchor="t"/>
          <a:lstStyle/>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Only once a year — misses problems as they build</a:t>
            </a:r>
            <a:endParaRPr lang="en-US" sz="1600" dirty="0"/>
          </a:p>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People answer how they “should”</a:t>
            </a:r>
            <a:endParaRPr lang="en-US" sz="1600" dirty="0"/>
          </a:p>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Takes time away from work</a:t>
            </a:r>
            <a:endParaRPr lang="en-US" sz="1600" dirty="0"/>
          </a:p>
        </p:txBody>
      </p:sp>
      <p:sp>
        <p:nvSpPr>
          <p:cNvPr id="9" name="Shape 6"/>
          <p:cNvSpPr/>
          <p:nvPr/>
        </p:nvSpPr>
        <p:spPr>
          <a:xfrm>
            <a:off x="914400" y="4572000"/>
            <a:ext cx="566928" cy="566928"/>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10" name="Image 1" descr="preencoded.png">    </p:cNvPr>
          <p:cNvPicPr>
            <a:picLocks noChangeAspect="1"/>
          </p:cNvPicPr>
          <p:nvPr/>
        </p:nvPicPr>
        <p:blipFill>
          <a:blip r:embed="rId2"/>
          <a:stretch>
            <a:fillRect/>
          </a:stretch>
        </p:blipFill>
        <p:spPr>
          <a:xfrm>
            <a:off x="1061801" y="4719401"/>
            <a:ext cx="272125" cy="272125"/>
          </a:xfrm>
          <a:prstGeom prst="rect">
            <a:avLst/>
          </a:prstGeom>
        </p:spPr>
      </p:pic>
      <p:sp>
        <p:nvSpPr>
          <p:cNvPr id="11" name="Text 7"/>
          <p:cNvSpPr/>
          <p:nvPr/>
        </p:nvSpPr>
        <p:spPr>
          <a:xfrm>
            <a:off x="1691640" y="4681728"/>
            <a:ext cx="4663440" cy="822960"/>
          </a:xfrm>
          <a:prstGeom prst="rect">
            <a:avLst/>
          </a:prstGeom>
          <a:noFill/>
          <a:ln/>
        </p:spPr>
        <p:txBody>
          <a:bodyPr wrap="square" lIns="0" tIns="0" rIns="0" bIns="0" rtlCol="0" anchor="ctr"/>
          <a:lstStyle/>
          <a:p>
            <a:pPr indent="0" marL="0">
              <a:buNone/>
            </a:pPr>
            <a:r>
              <a:rPr lang="en-US" sz="1600" b="1" dirty="0">
                <a:solidFill>
                  <a:srgbClr val="028090"/>
                </a:solidFill>
                <a:latin typeface="Arial" pitchFamily="34" charset="0"/>
                <a:ea typeface="Arial" pitchFamily="34" charset="-122"/>
                <a:cs typeface="Arial" pitchFamily="34" charset="-120"/>
              </a:rPr>
              <a:t>Our goal:  </a:t>
            </a:r>
            <a:pPr indent="0" marL="0">
              <a:buNone/>
            </a:pPr>
            <a:r>
              <a:rPr lang="en-US" sz="1600" b="1" dirty="0">
                <a:solidFill>
                  <a:srgbClr val="16263B"/>
                </a:solidFill>
                <a:latin typeface="Arial" pitchFamily="34" charset="0"/>
                <a:ea typeface="Arial" pitchFamily="34" charset="-122"/>
                <a:cs typeface="Arial" pitchFamily="34" charset="-120"/>
              </a:rPr>
              <a:t>an always-on read — with no extra work</a:t>
            </a:r>
            <a:endParaRPr lang="en-US" sz="1600" dirty="0"/>
          </a:p>
        </p:txBody>
      </p:sp>
      <p:sp>
        <p:nvSpPr>
          <p:cNvPr id="12" name="Shape 8"/>
          <p:cNvSpPr/>
          <p:nvPr/>
        </p:nvSpPr>
        <p:spPr>
          <a:xfrm>
            <a:off x="6720840" y="1783080"/>
            <a:ext cx="4800600" cy="4023360"/>
          </a:xfrm>
          <a:prstGeom prst="roundRect">
            <a:avLst>
              <a:gd name="adj" fmla="val 204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3" name="Text 9"/>
          <p:cNvSpPr/>
          <p:nvPr/>
        </p:nvSpPr>
        <p:spPr>
          <a:xfrm>
            <a:off x="6720840" y="2148840"/>
            <a:ext cx="480060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DAYS BETWEEN CHECK-INS</a:t>
            </a:r>
            <a:endParaRPr lang="en-US" sz="1200" dirty="0"/>
          </a:p>
        </p:txBody>
      </p:sp>
      <p:sp>
        <p:nvSpPr>
          <p:cNvPr id="14" name="Text 10"/>
          <p:cNvSpPr/>
          <p:nvPr/>
        </p:nvSpPr>
        <p:spPr>
          <a:xfrm>
            <a:off x="6720840" y="2514600"/>
            <a:ext cx="4800600" cy="1188720"/>
          </a:xfrm>
          <a:prstGeom prst="rect">
            <a:avLst/>
          </a:prstGeom>
          <a:noFill/>
          <a:ln/>
        </p:spPr>
        <p:txBody>
          <a:bodyPr wrap="square" lIns="0" tIns="0" rIns="0" bIns="0" rtlCol="0" anchor="ctr"/>
          <a:lstStyle/>
          <a:p>
            <a:pPr algn="ctr" indent="0" marL="0">
              <a:buNone/>
            </a:pPr>
            <a:r>
              <a:rPr lang="en-US" sz="9600" b="1" dirty="0">
                <a:solidFill>
                  <a:srgbClr val="FFFFFF"/>
                </a:solidFill>
                <a:latin typeface="Georgia" pitchFamily="34" charset="0"/>
                <a:ea typeface="Georgia" pitchFamily="34" charset="-122"/>
                <a:cs typeface="Georgia" pitchFamily="34" charset="-120"/>
              </a:rPr>
              <a:t>365</a:t>
            </a:r>
            <a:endParaRPr lang="en-US" sz="9600" dirty="0"/>
          </a:p>
        </p:txBody>
      </p:sp>
      <p:sp>
        <p:nvSpPr>
          <p:cNvPr id="15" name="Shape 11"/>
          <p:cNvSpPr/>
          <p:nvPr/>
        </p:nvSpPr>
        <p:spPr>
          <a:xfrm>
            <a:off x="7406640" y="3977640"/>
            <a:ext cx="3429000" cy="0"/>
          </a:xfrm>
          <a:prstGeom prst="line">
            <a:avLst/>
          </a:prstGeom>
          <a:noFill/>
          <a:ln w="12700">
            <a:solidFill>
              <a:srgbClr val="1B3358"/>
            </a:solidFill>
            <a:prstDash val="solid"/>
          </a:ln>
        </p:spPr>
      </p:sp>
      <p:sp>
        <p:nvSpPr>
          <p:cNvPr id="16" name="Text 12"/>
          <p:cNvSpPr/>
          <p:nvPr/>
        </p:nvSpPr>
        <p:spPr>
          <a:xfrm>
            <a:off x="6720840" y="4206240"/>
            <a:ext cx="4800600" cy="1280160"/>
          </a:xfrm>
          <a:prstGeom prst="rect">
            <a:avLst/>
          </a:prstGeom>
          <a:noFill/>
          <a:ln/>
        </p:spPr>
        <p:txBody>
          <a:bodyPr wrap="square" lIns="0" tIns="0" rIns="0" bIns="0" rtlCol="0" anchor="ctr"/>
          <a:lstStyle/>
          <a:p>
            <a:pPr algn="ctr" indent="0" marL="0">
              <a:buNone/>
            </a:pPr>
            <a:r>
              <a:rPr lang="en-US" sz="1700" i="1" dirty="0">
                <a:solidFill>
                  <a:srgbClr val="DCE8F2"/>
                </a:solidFill>
                <a:latin typeface="Arial" pitchFamily="34" charset="0"/>
                <a:ea typeface="Arial" pitchFamily="34" charset="-122"/>
                <a:cs typeface="Arial" pitchFamily="34" charset="-120"/>
              </a:rPr>
              <a:t>Teams send thousands of</a:t>
            </a:r>
            <a:endParaRPr lang="en-US" sz="1700" dirty="0"/>
          </a:p>
          <a:p>
            <a:pPr algn="ctr" indent="0" marL="0">
              <a:buNone/>
            </a:pPr>
            <a:r>
              <a:rPr lang="en-US" sz="1700" i="1" dirty="0">
                <a:solidFill>
                  <a:srgbClr val="DCE8F2"/>
                </a:solidFill>
                <a:latin typeface="Arial" pitchFamily="34" charset="0"/>
                <a:ea typeface="Arial" pitchFamily="34" charset="-122"/>
                <a:cs typeface="Arial" pitchFamily="34" charset="-120"/>
              </a:rPr>
              <a:t>messages a day — unused</a:t>
            </a:r>
            <a:endParaRPr lang="en-US" sz="1700" dirty="0"/>
          </a:p>
        </p:txBody>
      </p:sp>
      <p:sp>
        <p:nvSpPr>
          <p:cNvPr id="17" name="Shape 13"/>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8" name="Image 2" descr="/home/claude/qr_colab.png">    </p:cNvPr>
          <p:cNvPicPr>
            <a:picLocks noChangeAspect="1"/>
          </p:cNvPicPr>
          <p:nvPr/>
        </p:nvPicPr>
        <p:blipFill>
          <a:blip r:embed="rId3"/>
          <a:stretch>
            <a:fillRect/>
          </a:stretch>
        </p:blipFill>
        <p:spPr>
          <a:xfrm>
            <a:off x="10808208" y="384048"/>
            <a:ext cx="877824" cy="877824"/>
          </a:xfrm>
          <a:prstGeom prst="rect">
            <a:avLst/>
          </a:prstGeom>
        </p:spPr>
      </p:pic>
      <p:sp>
        <p:nvSpPr>
          <p:cNvPr id="19" name="Text 14"/>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20" name="Text 15"/>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 OTQ LOOKS AT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From “how people talk” to “how the team is doing”</a:t>
            </a:r>
            <a:endParaRPr lang="en-US" sz="2900" dirty="0"/>
          </a:p>
        </p:txBody>
      </p:sp>
      <p:sp>
        <p:nvSpPr>
          <p:cNvPr id="4" name="Shape 2"/>
          <p:cNvSpPr/>
          <p:nvPr/>
        </p:nvSpPr>
        <p:spPr>
          <a:xfrm>
            <a:off x="64008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947672" y="2103120"/>
            <a:ext cx="768096" cy="768096"/>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2147377" y="2302825"/>
            <a:ext cx="368686" cy="368686"/>
          </a:xfrm>
          <a:prstGeom prst="rect">
            <a:avLst/>
          </a:prstGeom>
        </p:spPr>
      </p:pic>
      <p:sp>
        <p:nvSpPr>
          <p:cNvPr id="7" name="Text 4"/>
          <p:cNvSpPr/>
          <p:nvPr/>
        </p:nvSpPr>
        <p:spPr>
          <a:xfrm>
            <a:off x="64008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28090"/>
                </a:solidFill>
                <a:latin typeface="Arial" pitchFamily="34" charset="0"/>
                <a:ea typeface="Arial" pitchFamily="34" charset="-122"/>
                <a:cs typeface="Arial" pitchFamily="34" charset="-120"/>
              </a:rPr>
              <a:t>WE MEASURE</a:t>
            </a:r>
            <a:endParaRPr lang="en-US" sz="1200" dirty="0"/>
          </a:p>
        </p:txBody>
      </p:sp>
      <p:sp>
        <p:nvSpPr>
          <p:cNvPr id="8" name="Text 5"/>
          <p:cNvSpPr/>
          <p:nvPr/>
        </p:nvSpPr>
        <p:spPr>
          <a:xfrm>
            <a:off x="82296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Engagement</a:t>
            </a:r>
            <a:endParaRPr lang="en-US" sz="2400" dirty="0"/>
          </a:p>
        </p:txBody>
      </p:sp>
      <p:sp>
        <p:nvSpPr>
          <p:cNvPr id="9" name="Text 6"/>
          <p:cNvSpPr/>
          <p:nvPr/>
        </p:nvSpPr>
        <p:spPr>
          <a:xfrm>
            <a:off x="86868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how much people talk &amp; meet</a:t>
            </a:r>
            <a:endParaRPr lang="en-US" sz="1350" dirty="0"/>
          </a:p>
        </p:txBody>
      </p:sp>
      <p:sp>
        <p:nvSpPr>
          <p:cNvPr id="10" name="Text 7"/>
          <p:cNvSpPr/>
          <p:nvPr/>
        </p:nvSpPr>
        <p:spPr>
          <a:xfrm>
            <a:off x="3977640" y="2743200"/>
            <a:ext cx="457200" cy="548640"/>
          </a:xfrm>
          <a:prstGeom prst="rect">
            <a:avLst/>
          </a:prstGeom>
          <a:noFill/>
          <a:ln/>
        </p:spPr>
        <p:txBody>
          <a:bodyPr wrap="square" lIns="0" tIns="0" rIns="0" bIns="0" rtlCol="0" anchor="ctr"/>
          <a:lstStyle/>
          <a:p>
            <a:pPr algn="ctr" indent="0" marL="0">
              <a:buNone/>
            </a:pPr>
            <a:r>
              <a:rPr lang="en-US" sz="3200" b="1" dirty="0">
                <a:solidFill>
                  <a:srgbClr val="028090"/>
                </a:solidFill>
                <a:latin typeface="Arial" pitchFamily="34" charset="0"/>
                <a:ea typeface="Arial" pitchFamily="34" charset="-122"/>
                <a:cs typeface="Arial" pitchFamily="34" charset="-120"/>
              </a:rPr>
              <a:t>→</a:t>
            </a:r>
            <a:endParaRPr lang="en-US" sz="3200" dirty="0"/>
          </a:p>
        </p:txBody>
      </p:sp>
      <p:sp>
        <p:nvSpPr>
          <p:cNvPr id="11" name="Shape 8"/>
          <p:cNvSpPr/>
          <p:nvPr/>
        </p:nvSpPr>
        <p:spPr>
          <a:xfrm>
            <a:off x="438912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9"/>
          <p:cNvSpPr/>
          <p:nvPr/>
        </p:nvSpPr>
        <p:spPr>
          <a:xfrm>
            <a:off x="5696712" y="2103120"/>
            <a:ext cx="768096" cy="768096"/>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3" name="Image 1" descr="preencoded.png">    </p:cNvPr>
          <p:cNvPicPr>
            <a:picLocks noChangeAspect="1"/>
          </p:cNvPicPr>
          <p:nvPr/>
        </p:nvPicPr>
        <p:blipFill>
          <a:blip r:embed="rId2"/>
          <a:stretch>
            <a:fillRect/>
          </a:stretch>
        </p:blipFill>
        <p:spPr>
          <a:xfrm>
            <a:off x="5896417" y="2302825"/>
            <a:ext cx="368686" cy="368686"/>
          </a:xfrm>
          <a:prstGeom prst="rect">
            <a:avLst/>
          </a:prstGeom>
        </p:spPr>
      </p:pic>
      <p:sp>
        <p:nvSpPr>
          <p:cNvPr id="14" name="Text 10"/>
          <p:cNvSpPr/>
          <p:nvPr/>
        </p:nvSpPr>
        <p:spPr>
          <a:xfrm>
            <a:off x="438912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WE PREDICT</a:t>
            </a:r>
            <a:endParaRPr lang="en-US" sz="1200" dirty="0"/>
          </a:p>
        </p:txBody>
      </p:sp>
      <p:sp>
        <p:nvSpPr>
          <p:cNvPr id="15" name="Text 11"/>
          <p:cNvSpPr/>
          <p:nvPr/>
        </p:nvSpPr>
        <p:spPr>
          <a:xfrm>
            <a:off x="457200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Responsiveness</a:t>
            </a:r>
            <a:endParaRPr lang="en-US" sz="2400" dirty="0"/>
          </a:p>
        </p:txBody>
      </p:sp>
      <p:sp>
        <p:nvSpPr>
          <p:cNvPr id="16" name="Text 12"/>
          <p:cNvSpPr/>
          <p:nvPr/>
        </p:nvSpPr>
        <p:spPr>
          <a:xfrm>
            <a:off x="461772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how fast they reply</a:t>
            </a:r>
            <a:endParaRPr lang="en-US" sz="1350" dirty="0"/>
          </a:p>
        </p:txBody>
      </p:sp>
      <p:sp>
        <p:nvSpPr>
          <p:cNvPr id="17" name="Text 13"/>
          <p:cNvSpPr/>
          <p:nvPr/>
        </p:nvSpPr>
        <p:spPr>
          <a:xfrm>
            <a:off x="7726680" y="2743200"/>
            <a:ext cx="457200" cy="548640"/>
          </a:xfrm>
          <a:prstGeom prst="rect">
            <a:avLst/>
          </a:prstGeom>
          <a:noFill/>
          <a:ln/>
        </p:spPr>
        <p:txBody>
          <a:bodyPr wrap="square" lIns="0" tIns="0" rIns="0" bIns="0" rtlCol="0" anchor="ctr"/>
          <a:lstStyle/>
          <a:p>
            <a:pPr algn="ctr" indent="0" marL="0">
              <a:buNone/>
            </a:pPr>
            <a:r>
              <a:rPr lang="en-US" sz="3200" b="1" dirty="0">
                <a:solidFill>
                  <a:srgbClr val="028090"/>
                </a:solidFill>
                <a:latin typeface="Arial" pitchFamily="34" charset="0"/>
                <a:ea typeface="Arial" pitchFamily="34" charset="-122"/>
                <a:cs typeface="Arial" pitchFamily="34" charset="-120"/>
              </a:rPr>
              <a:t>→</a:t>
            </a:r>
            <a:endParaRPr lang="en-US" sz="3200" dirty="0"/>
          </a:p>
        </p:txBody>
      </p:sp>
      <p:sp>
        <p:nvSpPr>
          <p:cNvPr id="18" name="Shape 14"/>
          <p:cNvSpPr/>
          <p:nvPr/>
        </p:nvSpPr>
        <p:spPr>
          <a:xfrm>
            <a:off x="8138160" y="1828800"/>
            <a:ext cx="3383280" cy="3200400"/>
          </a:xfrm>
          <a:prstGeom prst="roundRect">
            <a:avLst>
              <a:gd name="adj" fmla="val 2571"/>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9" name="Shape 15"/>
          <p:cNvSpPr/>
          <p:nvPr/>
        </p:nvSpPr>
        <p:spPr>
          <a:xfrm>
            <a:off x="9445752" y="2103120"/>
            <a:ext cx="768096" cy="768096"/>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0" name="Image 2" descr="preencoded.png">    </p:cNvPr>
          <p:cNvPicPr>
            <a:picLocks noChangeAspect="1"/>
          </p:cNvPicPr>
          <p:nvPr/>
        </p:nvPicPr>
        <p:blipFill>
          <a:blip r:embed="rId3"/>
          <a:stretch>
            <a:fillRect/>
          </a:stretch>
        </p:blipFill>
        <p:spPr>
          <a:xfrm>
            <a:off x="9645457" y="2302825"/>
            <a:ext cx="368686" cy="368686"/>
          </a:xfrm>
          <a:prstGeom prst="rect">
            <a:avLst/>
          </a:prstGeom>
        </p:spPr>
      </p:pic>
      <p:sp>
        <p:nvSpPr>
          <p:cNvPr id="21" name="Text 16"/>
          <p:cNvSpPr/>
          <p:nvPr/>
        </p:nvSpPr>
        <p:spPr>
          <a:xfrm>
            <a:off x="813816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WE'RE AFTER</a:t>
            </a:r>
            <a:endParaRPr lang="en-US" sz="1200" dirty="0"/>
          </a:p>
        </p:txBody>
      </p:sp>
      <p:sp>
        <p:nvSpPr>
          <p:cNvPr id="22" name="Text 17"/>
          <p:cNvSpPr/>
          <p:nvPr/>
        </p:nvSpPr>
        <p:spPr>
          <a:xfrm>
            <a:off x="8321040" y="3310128"/>
            <a:ext cx="30175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Trust</a:t>
            </a:r>
            <a:endParaRPr lang="en-US" sz="2400" dirty="0"/>
          </a:p>
        </p:txBody>
      </p:sp>
      <p:sp>
        <p:nvSpPr>
          <p:cNvPr id="23" name="Text 18"/>
          <p:cNvSpPr/>
          <p:nvPr/>
        </p:nvSpPr>
        <p:spPr>
          <a:xfrm>
            <a:off x="8366760" y="3931920"/>
            <a:ext cx="2926080" cy="822960"/>
          </a:xfrm>
          <a:prstGeom prst="rect">
            <a:avLst/>
          </a:prstGeom>
          <a:noFill/>
          <a:ln/>
        </p:spPr>
        <p:txBody>
          <a:bodyPr wrap="square" lIns="0" tIns="0" rIns="0" bIns="0" rtlCol="0" anchor="ctr"/>
          <a:lstStyle/>
          <a:p>
            <a:pPr algn="ctr" indent="0" marL="0">
              <a:buNone/>
            </a:pPr>
            <a:r>
              <a:rPr lang="en-US" sz="1350" dirty="0">
                <a:solidFill>
                  <a:srgbClr val="C7D6E5"/>
                </a:solidFill>
                <a:latin typeface="Arial" pitchFamily="34" charset="0"/>
                <a:ea typeface="Arial" pitchFamily="34" charset="-122"/>
                <a:cs typeface="Arial" pitchFamily="34" charset="-120"/>
              </a:rPr>
              <a:t>the thing underneath — inferred</a:t>
            </a:r>
            <a:endParaRPr lang="en-US" sz="1350" dirty="0"/>
          </a:p>
        </p:txBody>
      </p:sp>
      <p:sp>
        <p:nvSpPr>
          <p:cNvPr id="24" name="Shape 19"/>
          <p:cNvSpPr/>
          <p:nvPr/>
        </p:nvSpPr>
        <p:spPr>
          <a:xfrm>
            <a:off x="640080" y="5257800"/>
            <a:ext cx="10881360" cy="731520"/>
          </a:xfrm>
          <a:prstGeom prst="roundRect">
            <a:avLst>
              <a:gd name="adj" fmla="val 11250"/>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Text 20"/>
          <p:cNvSpPr/>
          <p:nvPr/>
        </p:nvSpPr>
        <p:spPr>
          <a:xfrm>
            <a:off x="914400" y="5257800"/>
            <a:ext cx="10332720" cy="731520"/>
          </a:xfrm>
          <a:prstGeom prst="rect">
            <a:avLst/>
          </a:prstGeom>
          <a:noFill/>
          <a:ln/>
        </p:spPr>
        <p:txBody>
          <a:bodyPr wrap="square" lIns="0" tIns="0" rIns="0" bIns="0" rtlCol="0" anchor="ctr"/>
          <a:lstStyle/>
          <a:p>
            <a:pPr indent="0" marL="0">
              <a:buNone/>
            </a:pPr>
            <a:r>
              <a:rPr lang="en-US" sz="1400" b="1" dirty="0">
                <a:solidFill>
                  <a:srgbClr val="028090"/>
                </a:solidFill>
                <a:latin typeface="Arial" pitchFamily="34" charset="0"/>
                <a:ea typeface="Arial" pitchFamily="34" charset="-122"/>
                <a:cs typeface="Arial" pitchFamily="34" charset="-120"/>
              </a:rPr>
              <a:t>Being honest:  </a:t>
            </a:r>
            <a:pPr indent="0" marL="0">
              <a:buNone/>
            </a:pPr>
            <a:r>
              <a:rPr lang="en-US" sz="1400" dirty="0">
                <a:solidFill>
                  <a:srgbClr val="16263B"/>
                </a:solidFill>
                <a:latin typeface="Arial" pitchFamily="34" charset="0"/>
                <a:ea typeface="Arial" pitchFamily="34" charset="-122"/>
                <a:cs typeface="Arial" pitchFamily="34" charset="-120"/>
              </a:rPr>
              <a:t>we measure talk and predict replies. Trust is what we believe sits underneath — we don't claim to measure it directly.</a:t>
            </a:r>
            <a:endParaRPr lang="en-US" sz="1400" dirty="0"/>
          </a:p>
        </p:txBody>
      </p:sp>
      <p:sp>
        <p:nvSpPr>
          <p:cNvPr id="26" name="Shape 2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7" name="Image 3" descr="/home/claude/qr_colab.png">    </p:cNvPr>
          <p:cNvPicPr>
            <a:picLocks noChangeAspect="1"/>
          </p:cNvPicPr>
          <p:nvPr/>
        </p:nvPicPr>
        <p:blipFill>
          <a:blip r:embed="rId4"/>
          <a:stretch>
            <a:fillRect/>
          </a:stretch>
        </p:blipFill>
        <p:spPr>
          <a:xfrm>
            <a:off x="10808208" y="384048"/>
            <a:ext cx="877824" cy="877824"/>
          </a:xfrm>
          <a:prstGeom prst="rect">
            <a:avLst/>
          </a:prstGeom>
        </p:spPr>
      </p:pic>
      <p:sp>
        <p:nvSpPr>
          <p:cNvPr id="28" name="Text 2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29" name="Text 2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WHERE IT COMES FROM</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Three everyday tools, one combined table</a:t>
            </a:r>
            <a:endParaRPr lang="en-US" sz="2900" dirty="0"/>
          </a:p>
        </p:txBody>
      </p:sp>
      <p:sp>
        <p:nvSpPr>
          <p:cNvPr id="4" name="Shape 2"/>
          <p:cNvSpPr/>
          <p:nvPr/>
        </p:nvSpPr>
        <p:spPr>
          <a:xfrm>
            <a:off x="6400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6230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825142" y="2305202"/>
            <a:ext cx="373075" cy="373075"/>
          </a:xfrm>
          <a:prstGeom prst="rect">
            <a:avLst/>
          </a:prstGeom>
        </p:spPr>
      </p:pic>
      <p:sp>
        <p:nvSpPr>
          <p:cNvPr id="7" name="Text 4"/>
          <p:cNvSpPr/>
          <p:nvPr/>
        </p:nvSpPr>
        <p:spPr>
          <a:xfrm>
            <a:off x="6400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Slack</a:t>
            </a:r>
            <a:endParaRPr lang="en-US" sz="1800" dirty="0"/>
          </a:p>
        </p:txBody>
      </p:sp>
      <p:sp>
        <p:nvSpPr>
          <p:cNvPr id="8" name="Text 5"/>
          <p:cNvSpPr/>
          <p:nvPr/>
        </p:nvSpPr>
        <p:spPr>
          <a:xfrm>
            <a:off x="6400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56 chat messages</a:t>
            </a:r>
            <a:endParaRPr lang="en-US" sz="1300" dirty="0"/>
          </a:p>
        </p:txBody>
      </p:sp>
      <p:sp>
        <p:nvSpPr>
          <p:cNvPr id="9" name="Shape 6"/>
          <p:cNvSpPr/>
          <p:nvPr/>
        </p:nvSpPr>
        <p:spPr>
          <a:xfrm>
            <a:off x="36118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45948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1" name="Image 1" descr="preencoded.png">    </p:cNvPr>
          <p:cNvPicPr>
            <a:picLocks noChangeAspect="1"/>
          </p:cNvPicPr>
          <p:nvPr/>
        </p:nvPicPr>
        <p:blipFill>
          <a:blip r:embed="rId2"/>
          <a:stretch>
            <a:fillRect/>
          </a:stretch>
        </p:blipFill>
        <p:spPr>
          <a:xfrm>
            <a:off x="4796942" y="2305202"/>
            <a:ext cx="373075" cy="373075"/>
          </a:xfrm>
          <a:prstGeom prst="rect">
            <a:avLst/>
          </a:prstGeom>
        </p:spPr>
      </p:pic>
      <p:sp>
        <p:nvSpPr>
          <p:cNvPr id="12" name="Text 8"/>
          <p:cNvSpPr/>
          <p:nvPr/>
        </p:nvSpPr>
        <p:spPr>
          <a:xfrm>
            <a:off x="36118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Teams</a:t>
            </a:r>
            <a:endParaRPr lang="en-US" sz="1800" dirty="0"/>
          </a:p>
        </p:txBody>
      </p:sp>
      <p:sp>
        <p:nvSpPr>
          <p:cNvPr id="13" name="Text 9"/>
          <p:cNvSpPr/>
          <p:nvPr/>
        </p:nvSpPr>
        <p:spPr>
          <a:xfrm>
            <a:off x="36118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30 meetings</a:t>
            </a:r>
            <a:endParaRPr lang="en-US" sz="1300" dirty="0"/>
          </a:p>
        </p:txBody>
      </p:sp>
      <p:sp>
        <p:nvSpPr>
          <p:cNvPr id="14" name="Shape 10"/>
          <p:cNvSpPr/>
          <p:nvPr/>
        </p:nvSpPr>
        <p:spPr>
          <a:xfrm>
            <a:off x="65836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75666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r>
          <p:cNvPicPr>
            <a:picLocks noChangeAspect="1"/>
          </p:cNvPicPr>
          <p:nvPr/>
        </p:nvPicPr>
        <p:blipFill>
          <a:blip r:embed="rId3"/>
          <a:stretch>
            <a:fillRect/>
          </a:stretch>
        </p:blipFill>
        <p:spPr>
          <a:xfrm>
            <a:off x="7768742" y="2305202"/>
            <a:ext cx="373075" cy="373075"/>
          </a:xfrm>
          <a:prstGeom prst="rect">
            <a:avLst/>
          </a:prstGeom>
        </p:spPr>
      </p:pic>
      <p:sp>
        <p:nvSpPr>
          <p:cNvPr id="17" name="Text 12"/>
          <p:cNvSpPr/>
          <p:nvPr/>
        </p:nvSpPr>
        <p:spPr>
          <a:xfrm>
            <a:off x="65836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Outlook</a:t>
            </a:r>
            <a:endParaRPr lang="en-US" sz="1800" dirty="0"/>
          </a:p>
        </p:txBody>
      </p:sp>
      <p:sp>
        <p:nvSpPr>
          <p:cNvPr id="18" name="Text 13"/>
          <p:cNvSpPr/>
          <p:nvPr/>
        </p:nvSpPr>
        <p:spPr>
          <a:xfrm>
            <a:off x="65836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20 calendar invites</a:t>
            </a:r>
            <a:endParaRPr lang="en-US" sz="1300" dirty="0"/>
          </a:p>
        </p:txBody>
      </p:sp>
      <p:sp>
        <p:nvSpPr>
          <p:cNvPr id="19" name="Text 14"/>
          <p:cNvSpPr/>
          <p:nvPr/>
        </p:nvSpPr>
        <p:spPr>
          <a:xfrm>
            <a:off x="9144000" y="2542032"/>
            <a:ext cx="640080" cy="731520"/>
          </a:xfrm>
          <a:prstGeom prst="rect">
            <a:avLst/>
          </a:prstGeom>
          <a:noFill/>
          <a:ln/>
        </p:spPr>
        <p:txBody>
          <a:bodyPr wrap="square" lIns="0" tIns="0" rIns="0" bIns="0" rtlCol="0" anchor="ctr"/>
          <a:lstStyle/>
          <a:p>
            <a:pPr algn="ctr" indent="0" marL="0">
              <a:buNone/>
            </a:pPr>
            <a:r>
              <a:rPr lang="en-US" sz="4000" b="1" dirty="0">
                <a:solidFill>
                  <a:srgbClr val="028090"/>
                </a:solidFill>
                <a:latin typeface="Arial" pitchFamily="34" charset="0"/>
                <a:ea typeface="Arial" pitchFamily="34" charset="-122"/>
                <a:cs typeface="Arial" pitchFamily="34" charset="-120"/>
              </a:rPr>
              <a:t>→</a:t>
            </a:r>
            <a:endParaRPr lang="en-US" sz="4000" dirty="0"/>
          </a:p>
        </p:txBody>
      </p:sp>
      <p:sp>
        <p:nvSpPr>
          <p:cNvPr id="20" name="Shape 15"/>
          <p:cNvSpPr/>
          <p:nvPr/>
        </p:nvSpPr>
        <p:spPr>
          <a:xfrm>
            <a:off x="9829800" y="1828800"/>
            <a:ext cx="1691640" cy="2148840"/>
          </a:xfrm>
          <a:prstGeom prst="roundRect">
            <a:avLst>
              <a:gd name="adj" fmla="val 48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1" name="Shape 16"/>
          <p:cNvSpPr/>
          <p:nvPr/>
        </p:nvSpPr>
        <p:spPr>
          <a:xfrm>
            <a:off x="10309860" y="2103120"/>
            <a:ext cx="731520" cy="73152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2" name="Image 3" descr="preencoded.png">    </p:cNvPr>
          <p:cNvPicPr>
            <a:picLocks noChangeAspect="1"/>
          </p:cNvPicPr>
          <p:nvPr/>
        </p:nvPicPr>
        <p:blipFill>
          <a:blip r:embed="rId4"/>
          <a:stretch>
            <a:fillRect/>
          </a:stretch>
        </p:blipFill>
        <p:spPr>
          <a:xfrm>
            <a:off x="10500055" y="2293315"/>
            <a:ext cx="351130" cy="351130"/>
          </a:xfrm>
          <a:prstGeom prst="rect">
            <a:avLst/>
          </a:prstGeom>
        </p:spPr>
      </p:pic>
      <p:sp>
        <p:nvSpPr>
          <p:cNvPr id="23" name="Text 17"/>
          <p:cNvSpPr/>
          <p:nvPr/>
        </p:nvSpPr>
        <p:spPr>
          <a:xfrm>
            <a:off x="9829800" y="3035808"/>
            <a:ext cx="16916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106 events</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in one table</a:t>
            </a:r>
            <a:endParaRPr lang="en-US" sz="1400" dirty="0"/>
          </a:p>
        </p:txBody>
      </p:sp>
      <p:sp>
        <p:nvSpPr>
          <p:cNvPr id="24" name="Shape 18"/>
          <p:cNvSpPr/>
          <p:nvPr/>
        </p:nvSpPr>
        <p:spPr>
          <a:xfrm>
            <a:off x="640080" y="4251960"/>
            <a:ext cx="10881360" cy="1417320"/>
          </a:xfrm>
          <a:prstGeom prst="roundRect">
            <a:avLst>
              <a:gd name="adj" fmla="val 5806"/>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Shape 19"/>
          <p:cNvSpPr/>
          <p:nvPr/>
        </p:nvSpPr>
        <p:spPr>
          <a:xfrm>
            <a:off x="914400" y="4526280"/>
            <a:ext cx="640080" cy="64008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6" name="Image 4" descr="preencoded.png">    </p:cNvPr>
          <p:cNvPicPr>
            <a:picLocks noChangeAspect="1"/>
          </p:cNvPicPr>
          <p:nvPr/>
        </p:nvPicPr>
        <p:blipFill>
          <a:blip r:embed="rId5"/>
          <a:stretch>
            <a:fillRect/>
          </a:stretch>
        </p:blipFill>
        <p:spPr>
          <a:xfrm>
            <a:off x="1080821" y="4692701"/>
            <a:ext cx="307238" cy="307238"/>
          </a:xfrm>
          <a:prstGeom prst="rect">
            <a:avLst/>
          </a:prstGeom>
        </p:spPr>
      </p:pic>
      <p:sp>
        <p:nvSpPr>
          <p:cNvPr id="27" name="Text 20"/>
          <p:cNvSpPr/>
          <p:nvPr/>
        </p:nvSpPr>
        <p:spPr>
          <a:xfrm>
            <a:off x="1783080" y="4480560"/>
            <a:ext cx="9509760" cy="36576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Practice data: the “Apostles” dataset</a:t>
            </a:r>
            <a:endParaRPr lang="en-US" sz="1600" dirty="0"/>
          </a:p>
        </p:txBody>
      </p:sp>
      <p:sp>
        <p:nvSpPr>
          <p:cNvPr id="28" name="Text 21"/>
          <p:cNvSpPr/>
          <p:nvPr/>
        </p:nvSpPr>
        <p:spPr>
          <a:xfrm>
            <a:off x="1783080" y="4864608"/>
            <a:ext cx="9509760" cy="731520"/>
          </a:xfrm>
          <a:prstGeom prst="rect">
            <a:avLst/>
          </a:prstGeom>
          <a:noFill/>
          <a:ln/>
        </p:spPr>
        <p:txBody>
          <a:bodyPr wrap="square" lIns="0" tIns="0" rIns="0" bIns="0" rtlCol="0" anchor="ctr"/>
          <a:lstStyle/>
          <a:p>
            <a:pPr indent="0" marL="0">
              <a:buNone/>
            </a:pPr>
            <a:r>
              <a:rPr lang="en-US" sz="1350" dirty="0">
                <a:solidFill>
                  <a:srgbClr val="5C6B7A"/>
                </a:solidFill>
                <a:latin typeface="Arial" pitchFamily="34" charset="0"/>
                <a:ea typeface="Arial" pitchFamily="34" charset="-122"/>
                <a:cs typeface="Arial" pitchFamily="34" charset="-120"/>
              </a:rPr>
              <a:t>No real company yet — so we built safe stand-in data from Bible figures (the apostles). Same shape as real Slack / Teams / Outlook exports, so the code is ready for the real thing.</a:t>
            </a:r>
            <a:endParaRPr lang="en-US" sz="1350" dirty="0"/>
          </a:p>
        </p:txBody>
      </p:sp>
      <p:sp>
        <p:nvSpPr>
          <p:cNvPr id="29" name="Shape 22"/>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0" name="Image 5" descr="/home/claude/qr_colab.png">    </p:cNvPr>
          <p:cNvPicPr>
            <a:picLocks noChangeAspect="1"/>
          </p:cNvPicPr>
          <p:nvPr/>
        </p:nvPicPr>
        <p:blipFill>
          <a:blip r:embed="rId6"/>
          <a:stretch>
            <a:fillRect/>
          </a:stretch>
        </p:blipFill>
        <p:spPr>
          <a:xfrm>
            <a:off x="10808208" y="384048"/>
            <a:ext cx="877824" cy="877824"/>
          </a:xfrm>
          <a:prstGeom prst="rect">
            <a:avLst/>
          </a:prstGeom>
        </p:spPr>
      </p:pic>
      <p:sp>
        <p:nvSpPr>
          <p:cNvPr id="31" name="Text 23"/>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32" name="Text 24"/>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WHAT'S IN IT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Each row is one interaction — counts, not words</a:t>
            </a:r>
            <a:endParaRPr lang="en-US" sz="2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7406640" cy="914400"/>
        </p:xfrm>
        <a:graphic>
          <a:graphicData uri="http://schemas.openxmlformats.org/drawingml/2006/table">
            <a:tbl>
              <a:tblPr/>
              <a:tblGrid>
                <a:gridCol w="1051560"/>
                <a:gridCol w="1051560"/>
                <a:gridCol w="1097280"/>
                <a:gridCol w="1691640"/>
                <a:gridCol w="777240"/>
                <a:gridCol w="868680"/>
                <a:gridCol w="868680"/>
              </a:tblGrid>
              <a:tr h="457200">
                <a:tc>
                  <a:txBody>
                    <a:bodyPr/>
                    <a:lstStyle/>
                    <a:p>
                      <a:pPr algn="ctr" indent="0" marL="0">
                        <a:buNone/>
                      </a:pPr>
                      <a:r>
                        <a:rPr lang="en-US" sz="1200" b="1" dirty="0">
                          <a:solidFill>
                            <a:srgbClr val="FFFFFF"/>
                          </a:solidFill>
                        </a:rPr>
                        <a:t>Source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Type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Who</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Channel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Min</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People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Score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r>
              <a:tr h="457200">
                <a:tc>
                  <a:txBody>
                    <a:bodyPr/>
                    <a:lstStyle/>
                    <a:p>
                      <a:pPr algn="ctr" indent="0" marL="0">
                        <a:buNone/>
                      </a:pPr>
                      <a:r>
                        <a:rPr lang="en-US" sz="1200" dirty="0">
                          <a:solidFill>
                            <a:srgbClr val="16263B"/>
                          </a:solidFill>
                        </a:rPr>
                        <a:t>Teams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meeting</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Peter</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63B"/>
                          </a:solidFill>
                        </a:rPr>
                        <a:t>council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60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12</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28090"/>
                          </a:solidFill>
                        </a:rPr>
                        <a:t>30.9</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6263B"/>
                          </a:solidFill>
                        </a:rPr>
                        <a:t>Slack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chat</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Paul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l" indent="0" marL="0">
                        <a:buNone/>
                      </a:pPr>
                      <a:r>
                        <a:rPr lang="en-US" sz="1200" dirty="0">
                          <a:solidFill>
                            <a:srgbClr val="16263B"/>
                          </a:solidFill>
                        </a:rPr>
                        <a:t>epistles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2</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028090"/>
                          </a:solidFill>
                        </a:rPr>
                        <a:t>11.0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r>
              <a:tr h="457200">
                <a:tc>
                  <a:txBody>
                    <a:bodyPr/>
                    <a:lstStyle/>
                    <a:p>
                      <a:pPr algn="ctr" indent="0" marL="0">
                        <a:buNone/>
                      </a:pPr>
                      <a:r>
                        <a:rPr lang="en-US" sz="1200" dirty="0">
                          <a:solidFill>
                            <a:srgbClr val="16263B"/>
                          </a:solidFill>
                        </a:rPr>
                        <a:t>Outlook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meeting</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James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63B"/>
                          </a:solidFill>
                        </a:rPr>
                        <a:t>assembly</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90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8</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28090"/>
                          </a:solidFill>
                        </a:rPr>
                        <a:t>30.5</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6263B"/>
                          </a:solidFill>
                        </a:rPr>
                        <a:t>Slack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chat</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John</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l" indent="0" marL="0">
                        <a:buNone/>
                      </a:pPr>
                      <a:r>
                        <a:rPr lang="en-US" sz="1200" dirty="0">
                          <a:solidFill>
                            <a:srgbClr val="16263B"/>
                          </a:solidFill>
                        </a:rPr>
                        <a:t>acts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4</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028090"/>
                          </a:solidFill>
                        </a:rPr>
                        <a:t>12.5</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r>
            </a:tbl>
          </a:graphicData>
        </a:graphic>
      </p:graphicFrame>
      <p:sp>
        <p:nvSpPr>
          <p:cNvPr id="5" name="Text 2"/>
          <p:cNvSpPr/>
          <p:nvPr/>
        </p:nvSpPr>
        <p:spPr>
          <a:xfrm>
            <a:off x="640080" y="4434840"/>
            <a:ext cx="7406640" cy="457200"/>
          </a:xfrm>
          <a:prstGeom prst="rect">
            <a:avLst/>
          </a:prstGeom>
          <a:noFill/>
          <a:ln/>
        </p:spPr>
        <p:txBody>
          <a:bodyPr wrap="square" lIns="0" tIns="0" rIns="0" bIns="0" rtlCol="0" anchor="ctr"/>
          <a:lstStyle/>
          <a:p>
            <a:pPr indent="0" marL="0">
              <a:buNone/>
            </a:pPr>
            <a:r>
              <a:rPr lang="en-US" sz="1150" i="1" dirty="0">
                <a:solidFill>
                  <a:srgbClr val="5C6B7A"/>
                </a:solidFill>
                <a:latin typeface="Arial" pitchFamily="34" charset="0"/>
                <a:ea typeface="Arial" pitchFamily="34" charset="-122"/>
                <a:cs typeface="Arial" pitchFamily="34" charset="-120"/>
              </a:rPr>
              <a:t>Sample rows from the combined table. Names/channels are labels in the data — never message content.</a:t>
            </a:r>
            <a:endParaRPr lang="en-US" sz="1150" dirty="0"/>
          </a:p>
        </p:txBody>
      </p:sp>
      <p:sp>
        <p:nvSpPr>
          <p:cNvPr id="6" name="Shape 3"/>
          <p:cNvSpPr/>
          <p:nvPr/>
        </p:nvSpPr>
        <p:spPr>
          <a:xfrm>
            <a:off x="8229600" y="1965960"/>
            <a:ext cx="3291840" cy="2331720"/>
          </a:xfrm>
          <a:prstGeom prst="roundRect">
            <a:avLst>
              <a:gd name="adj" fmla="val 352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7" name="Shape 4"/>
          <p:cNvSpPr/>
          <p:nvPr/>
        </p:nvSpPr>
        <p:spPr>
          <a:xfrm>
            <a:off x="8458200" y="219456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8" name="Image 0" descr="preencoded.png">    </p:cNvPr>
          <p:cNvPicPr>
            <a:picLocks noChangeAspect="1"/>
          </p:cNvPicPr>
          <p:nvPr/>
        </p:nvPicPr>
        <p:blipFill>
          <a:blip r:embed="rId1"/>
          <a:stretch>
            <a:fillRect/>
          </a:stretch>
        </p:blipFill>
        <p:spPr>
          <a:xfrm>
            <a:off x="8588959" y="2325319"/>
            <a:ext cx="241402" cy="241402"/>
          </a:xfrm>
          <a:prstGeom prst="rect">
            <a:avLst/>
          </a:prstGeom>
        </p:spPr>
      </p:pic>
      <p:sp>
        <p:nvSpPr>
          <p:cNvPr id="9" name="Text 5"/>
          <p:cNvSpPr/>
          <p:nvPr/>
        </p:nvSpPr>
        <p:spPr>
          <a:xfrm>
            <a:off x="9098280" y="2249424"/>
            <a:ext cx="2286000" cy="320040"/>
          </a:xfrm>
          <a:prstGeom prst="rect">
            <a:avLst/>
          </a:prstGeom>
          <a:noFill/>
          <a:ln/>
        </p:spPr>
        <p:txBody>
          <a:bodyPr wrap="square" lIns="0" tIns="0" rIns="0" bIns="0" rtlCol="0" anchor="ctr"/>
          <a:lstStyle/>
          <a:p>
            <a:pPr indent="0" marL="0">
              <a:buNone/>
            </a:pPr>
            <a:r>
              <a:rPr lang="en-US" sz="1400" b="1" dirty="0">
                <a:solidFill>
                  <a:srgbClr val="16263B"/>
                </a:solidFill>
                <a:latin typeface="Arial" pitchFamily="34" charset="0"/>
                <a:ea typeface="Arial" pitchFamily="34" charset="-122"/>
                <a:cs typeface="Arial" pitchFamily="34" charset="-120"/>
              </a:rPr>
              <a:t>What we keep</a:t>
            </a:r>
            <a:endParaRPr lang="en-US" sz="1400" dirty="0"/>
          </a:p>
        </p:txBody>
      </p:sp>
      <p:sp>
        <p:nvSpPr>
          <p:cNvPr id="10" name="Text 6"/>
          <p:cNvSpPr/>
          <p:nvPr/>
        </p:nvSpPr>
        <p:spPr>
          <a:xfrm>
            <a:off x="8503920" y="2788920"/>
            <a:ext cx="2834640" cy="27432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Who &amp; where</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How long</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How many people</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A reply-speed clue</a:t>
            </a:r>
            <a:endParaRPr lang="en-US" sz="1300" dirty="0"/>
          </a:p>
        </p:txBody>
      </p:sp>
      <p:sp>
        <p:nvSpPr>
          <p:cNvPr id="11" name="Shape 7"/>
          <p:cNvSpPr/>
          <p:nvPr/>
        </p:nvSpPr>
        <p:spPr>
          <a:xfrm>
            <a:off x="8229600"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Text 8"/>
          <p:cNvSpPr/>
          <p:nvPr/>
        </p:nvSpPr>
        <p:spPr>
          <a:xfrm>
            <a:off x="8229600"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106</a:t>
            </a:r>
            <a:endParaRPr lang="en-US" sz="2600" dirty="0"/>
          </a:p>
        </p:txBody>
      </p:sp>
      <p:sp>
        <p:nvSpPr>
          <p:cNvPr id="13" name="Text 9"/>
          <p:cNvSpPr/>
          <p:nvPr/>
        </p:nvSpPr>
        <p:spPr>
          <a:xfrm>
            <a:off x="8229600"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events</a:t>
            </a:r>
            <a:endParaRPr lang="en-US" sz="1050" dirty="0"/>
          </a:p>
        </p:txBody>
      </p:sp>
      <p:sp>
        <p:nvSpPr>
          <p:cNvPr id="14" name="Shape 10"/>
          <p:cNvSpPr/>
          <p:nvPr/>
        </p:nvSpPr>
        <p:spPr>
          <a:xfrm>
            <a:off x="9358884"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Text 11"/>
          <p:cNvSpPr/>
          <p:nvPr/>
        </p:nvSpPr>
        <p:spPr>
          <a:xfrm>
            <a:off x="9358884"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3</a:t>
            </a:r>
            <a:endParaRPr lang="en-US" sz="2600" dirty="0"/>
          </a:p>
        </p:txBody>
      </p:sp>
      <p:sp>
        <p:nvSpPr>
          <p:cNvPr id="16" name="Text 12"/>
          <p:cNvSpPr/>
          <p:nvPr/>
        </p:nvSpPr>
        <p:spPr>
          <a:xfrm>
            <a:off x="9358884"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sources</a:t>
            </a:r>
            <a:endParaRPr lang="en-US" sz="1050" dirty="0"/>
          </a:p>
        </p:txBody>
      </p:sp>
      <p:sp>
        <p:nvSpPr>
          <p:cNvPr id="17" name="Shape 13"/>
          <p:cNvSpPr/>
          <p:nvPr/>
        </p:nvSpPr>
        <p:spPr>
          <a:xfrm>
            <a:off x="10488168"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8" name="Text 14"/>
          <p:cNvSpPr/>
          <p:nvPr/>
        </p:nvSpPr>
        <p:spPr>
          <a:xfrm>
            <a:off x="10488168"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8</a:t>
            </a:r>
            <a:endParaRPr lang="en-US" sz="2600" dirty="0"/>
          </a:p>
        </p:txBody>
      </p:sp>
      <p:sp>
        <p:nvSpPr>
          <p:cNvPr id="19" name="Text 15"/>
          <p:cNvSpPr/>
          <p:nvPr/>
        </p:nvSpPr>
        <p:spPr>
          <a:xfrm>
            <a:off x="10488168"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fields each</a:t>
            </a:r>
            <a:endParaRPr lang="en-US" sz="1050" dirty="0"/>
          </a:p>
        </p:txBody>
      </p:sp>
      <p:sp>
        <p:nvSpPr>
          <p:cNvPr id="20" name="Shape 16"/>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1" name="Image 1" descr="/home/claude/qr_colab.png">    </p:cNvPr>
          <p:cNvPicPr>
            <a:picLocks noChangeAspect="1"/>
          </p:cNvPicPr>
          <p:nvPr/>
        </p:nvPicPr>
        <p:blipFill>
          <a:blip r:embed="rId2"/>
          <a:stretch>
            <a:fillRect/>
          </a:stretch>
        </p:blipFill>
        <p:spPr>
          <a:xfrm>
            <a:off x="10808208" y="384048"/>
            <a:ext cx="877824" cy="877824"/>
          </a:xfrm>
          <a:prstGeom prst="rect">
            <a:avLst/>
          </a:prstGeom>
        </p:spPr>
      </p:pic>
      <p:sp>
        <p:nvSpPr>
          <p:cNvPr id="22" name="Text 17"/>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23" name="Text 1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HOW WE SCORE IT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Give every interaction a score</a:t>
            </a:r>
            <a:endParaRPr lang="en-US" sz="2900" dirty="0"/>
          </a:p>
        </p:txBody>
      </p:sp>
      <p:sp>
        <p:nvSpPr>
          <p:cNvPr id="4" name="Text 2"/>
          <p:cNvSpPr/>
          <p:nvPr/>
        </p:nvSpPr>
        <p:spPr>
          <a:xfrm>
            <a:off x="640080" y="1645920"/>
            <a:ext cx="10881360" cy="457200"/>
          </a:xfrm>
          <a:prstGeom prst="rect">
            <a:avLst/>
          </a:prstGeom>
          <a:noFill/>
          <a:ln/>
        </p:spPr>
        <p:txBody>
          <a:bodyPr wrap="square" lIns="0" tIns="0" rIns="0" bIns="0" rtlCol="0" anchor="ctr"/>
          <a:lstStyle/>
          <a:p>
            <a:pPr indent="0" marL="0">
              <a:buNone/>
            </a:pPr>
            <a:r>
              <a:rPr lang="en-US" sz="1500" dirty="0">
                <a:solidFill>
                  <a:srgbClr val="5C6B7A"/>
                </a:solidFill>
                <a:latin typeface="Arial" pitchFamily="34" charset="0"/>
                <a:ea typeface="Arial" pitchFamily="34" charset="-122"/>
                <a:cs typeface="Arial" pitchFamily="34" charset="-120"/>
              </a:rPr>
              <a:t>Bigger score = more engagement. Meetings count more than emails; longer and more people count more.</a:t>
            </a:r>
            <a:endParaRPr lang="en-US" sz="1500" dirty="0"/>
          </a:p>
        </p:txBody>
      </p:sp>
      <p:graphicFrame>
        <p:nvGraphicFramePr>
          <p:cNvPr id="5" name="Chart 0" descr=""/>
          <p:cNvGraphicFramePr/>
          <p:nvPr/>
        </p:nvGraphicFramePr>
        <p:xfrm>
          <a:off x="502920" y="224028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2240280"/>
            <a:ext cx="4663440" cy="1600200"/>
          </a:xfrm>
          <a:prstGeom prst="roundRect">
            <a:avLst>
              <a:gd name="adj" fmla="val 514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7" name="Shape 4"/>
          <p:cNvSpPr/>
          <p:nvPr/>
        </p:nvSpPr>
        <p:spPr>
          <a:xfrm>
            <a:off x="7086600" y="251460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8" name="Image 0" descr="preencoded.png">    </p:cNvPr>
          <p:cNvPicPr>
            <a:picLocks noChangeAspect="1"/>
          </p:cNvPicPr>
          <p:nvPr/>
        </p:nvPicPr>
        <p:blipFill>
          <a:blip r:embed="rId2"/>
          <a:stretch>
            <a:fillRect/>
          </a:stretch>
        </p:blipFill>
        <p:spPr>
          <a:xfrm>
            <a:off x="7217359" y="2645359"/>
            <a:ext cx="241402" cy="241402"/>
          </a:xfrm>
          <a:prstGeom prst="rect">
            <a:avLst/>
          </a:prstGeom>
        </p:spPr>
      </p:pic>
      <p:sp>
        <p:nvSpPr>
          <p:cNvPr id="9" name="Text 5"/>
          <p:cNvSpPr/>
          <p:nvPr/>
        </p:nvSpPr>
        <p:spPr>
          <a:xfrm>
            <a:off x="7772400" y="2560320"/>
            <a:ext cx="35661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Score one event</a:t>
            </a:r>
            <a:endParaRPr lang="en-US" sz="1500" dirty="0"/>
          </a:p>
        </p:txBody>
      </p:sp>
      <p:sp>
        <p:nvSpPr>
          <p:cNvPr id="10" name="Text 6"/>
          <p:cNvSpPr/>
          <p:nvPr/>
        </p:nvSpPr>
        <p:spPr>
          <a:xfrm>
            <a:off x="7772400" y="2926080"/>
            <a:ext cx="3566160" cy="27432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Start: type of interaction</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Add: how long it ran</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Add: how many people</a:t>
            </a:r>
            <a:endParaRPr lang="en-US" sz="1300" dirty="0"/>
          </a:p>
        </p:txBody>
      </p:sp>
      <p:sp>
        <p:nvSpPr>
          <p:cNvPr id="11" name="Shape 7"/>
          <p:cNvSpPr/>
          <p:nvPr/>
        </p:nvSpPr>
        <p:spPr>
          <a:xfrm>
            <a:off x="6858000" y="4069080"/>
            <a:ext cx="4663440" cy="1737360"/>
          </a:xfrm>
          <a:prstGeom prst="roundRect">
            <a:avLst>
              <a:gd name="adj" fmla="val 4737"/>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8"/>
          <p:cNvSpPr/>
          <p:nvPr/>
        </p:nvSpPr>
        <p:spPr>
          <a:xfrm>
            <a:off x="7086600" y="4315968"/>
            <a:ext cx="502920" cy="50292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3" name="Image 1" descr="preencoded.png">    </p:cNvPr>
          <p:cNvPicPr>
            <a:picLocks noChangeAspect="1"/>
          </p:cNvPicPr>
          <p:nvPr/>
        </p:nvPicPr>
        <p:blipFill>
          <a:blip r:embed="rId3"/>
          <a:stretch>
            <a:fillRect/>
          </a:stretch>
        </p:blipFill>
        <p:spPr>
          <a:xfrm>
            <a:off x="7217359" y="4446727"/>
            <a:ext cx="241402" cy="241402"/>
          </a:xfrm>
          <a:prstGeom prst="rect">
            <a:avLst/>
          </a:prstGeom>
        </p:spPr>
      </p:pic>
      <p:sp>
        <p:nvSpPr>
          <p:cNvPr id="14" name="Text 9"/>
          <p:cNvSpPr/>
          <p:nvPr/>
        </p:nvSpPr>
        <p:spPr>
          <a:xfrm>
            <a:off x="7772400" y="4361688"/>
            <a:ext cx="35661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Add up each day</a:t>
            </a:r>
            <a:endParaRPr lang="en-US" sz="1500" dirty="0"/>
          </a:p>
        </p:txBody>
      </p:sp>
      <p:sp>
        <p:nvSpPr>
          <p:cNvPr id="15" name="Text 10"/>
          <p:cNvSpPr/>
          <p:nvPr/>
        </p:nvSpPr>
        <p:spPr>
          <a:xfrm>
            <a:off x="7772400" y="4709160"/>
            <a:ext cx="3566160" cy="27432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Total score &amp; # of events</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Avg people &amp; length</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How much was written</a:t>
            </a:r>
            <a:endParaRPr lang="en-US" sz="1300" dirty="0"/>
          </a:p>
        </p:txBody>
      </p:sp>
      <p:sp>
        <p:nvSpPr>
          <p:cNvPr id="16" name="Shape 1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7" name="Image 2" descr="/home/claude/qr_colab.png">    </p:cNvPr>
          <p:cNvPicPr>
            <a:picLocks noChangeAspect="1"/>
          </p:cNvPicPr>
          <p:nvPr/>
        </p:nvPicPr>
        <p:blipFill>
          <a:blip r:embed="rId4"/>
          <a:stretch>
            <a:fillRect/>
          </a:stretch>
        </p:blipFill>
        <p:spPr>
          <a:xfrm>
            <a:off x="10808208" y="384048"/>
            <a:ext cx="877824" cy="877824"/>
          </a:xfrm>
          <a:prstGeom prst="rect">
            <a:avLst/>
          </a:prstGeom>
        </p:spPr>
      </p:pic>
      <p:sp>
        <p:nvSpPr>
          <p:cNvPr id="18" name="Text 1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19" name="Text 1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MODEL</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A steady model that connects the dots</a:t>
            </a:r>
            <a:endParaRPr lang="en-US" sz="2900" dirty="0"/>
          </a:p>
        </p:txBody>
      </p:sp>
      <p:sp>
        <p:nvSpPr>
          <p:cNvPr id="4" name="Shape 2"/>
          <p:cNvSpPr/>
          <p:nvPr/>
        </p:nvSpPr>
        <p:spPr>
          <a:xfrm>
            <a:off x="640080" y="1828800"/>
            <a:ext cx="5257800" cy="3977640"/>
          </a:xfrm>
          <a:prstGeom prst="roundRect">
            <a:avLst>
              <a:gd name="adj" fmla="val 206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68680" y="210312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11326" y="2245766"/>
            <a:ext cx="263347" cy="263347"/>
          </a:xfrm>
          <a:prstGeom prst="rect">
            <a:avLst/>
          </a:prstGeom>
        </p:spPr>
      </p:pic>
      <p:sp>
        <p:nvSpPr>
          <p:cNvPr id="7" name="Text 4"/>
          <p:cNvSpPr/>
          <p:nvPr/>
        </p:nvSpPr>
        <p:spPr>
          <a:xfrm>
            <a:off x="1645920" y="2212848"/>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What it does</a:t>
            </a:r>
            <a:endParaRPr lang="en-US" sz="1700" dirty="0"/>
          </a:p>
        </p:txBody>
      </p:sp>
      <p:sp>
        <p:nvSpPr>
          <p:cNvPr id="8" name="Text 5"/>
          <p:cNvSpPr/>
          <p:nvPr/>
        </p:nvSpPr>
        <p:spPr>
          <a:xfrm>
            <a:off x="960120" y="2971800"/>
            <a:ext cx="4663440" cy="2743200"/>
          </a:xfrm>
          <a:prstGeom prst="rect">
            <a:avLst/>
          </a:prstGeom>
          <a:noFill/>
          <a:ln/>
        </p:spPr>
        <p:txBody>
          <a:bodyPr wrap="square" lIns="0" tIns="0" rIns="0" bIns="0" rtlCol="0" anchor="t"/>
          <a:lstStyle/>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Learns: engagement → reply speed</a:t>
            </a:r>
            <a:endParaRPr lang="en-US" sz="1500" dirty="0"/>
          </a:p>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Our clues overlap — needs to stay steady</a:t>
            </a:r>
            <a:endParaRPr lang="en-US" sz="1500" dirty="0"/>
          </a:p>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Ridge regression keeps it stable &amp; readable</a:t>
            </a:r>
            <a:endParaRPr lang="en-US" sz="1500" dirty="0"/>
          </a:p>
        </p:txBody>
      </p:sp>
      <p:sp>
        <p:nvSpPr>
          <p:cNvPr id="9" name="Shape 6"/>
          <p:cNvSpPr/>
          <p:nvPr/>
        </p:nvSpPr>
        <p:spPr>
          <a:xfrm>
            <a:off x="6263640" y="1828800"/>
            <a:ext cx="5257800" cy="3977640"/>
          </a:xfrm>
          <a:prstGeom prst="roundRect">
            <a:avLst>
              <a:gd name="adj" fmla="val 2069"/>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92240" y="2103120"/>
            <a:ext cx="548640" cy="54864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1" name="Image 1" descr="preencoded.png">    </p:cNvPr>
          <p:cNvPicPr>
            <a:picLocks noChangeAspect="1"/>
          </p:cNvPicPr>
          <p:nvPr/>
        </p:nvPicPr>
        <p:blipFill>
          <a:blip r:embed="rId2"/>
          <a:stretch>
            <a:fillRect/>
          </a:stretch>
        </p:blipFill>
        <p:spPr>
          <a:xfrm>
            <a:off x="6634886" y="2245766"/>
            <a:ext cx="263347" cy="263347"/>
          </a:xfrm>
          <a:prstGeom prst="rect">
            <a:avLst/>
          </a:prstGeom>
        </p:spPr>
      </p:pic>
      <p:sp>
        <p:nvSpPr>
          <p:cNvPr id="12" name="Text 8"/>
          <p:cNvSpPr/>
          <p:nvPr/>
        </p:nvSpPr>
        <p:spPr>
          <a:xfrm>
            <a:off x="7269480" y="2212848"/>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How we checked it</a:t>
            </a:r>
            <a:endParaRPr lang="en-US" sz="1700" dirty="0"/>
          </a:p>
        </p:txBody>
      </p:sp>
      <p:sp>
        <p:nvSpPr>
          <p:cNvPr id="13" name="Text 9"/>
          <p:cNvSpPr/>
          <p:nvPr/>
        </p:nvSpPr>
        <p:spPr>
          <a:xfrm>
            <a:off x="6583680" y="2971800"/>
            <a:ext cx="4663440" cy="2743200"/>
          </a:xfrm>
          <a:prstGeom prst="rect">
            <a:avLst/>
          </a:prstGeom>
          <a:noFill/>
          <a:ln/>
        </p:spPr>
        <p:txBody>
          <a:bodyPr wrap="square" lIns="0" tIns="0" rIns="0" bIns="0" rtlCol="0" anchor="t"/>
          <a:lstStyle/>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Compared against other models</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Tuned the settings carefully</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Tested on days it never saw</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Ranked which clues matter most</a:t>
            </a:r>
            <a:endParaRPr lang="en-US" sz="1500" dirty="0"/>
          </a:p>
        </p:txBody>
      </p:sp>
      <p:sp>
        <p:nvSpPr>
          <p:cNvPr id="14" name="Shape 10"/>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5" name="Image 2" descr="/home/claude/qr_colab.png">    </p:cNvPr>
          <p:cNvPicPr>
            <a:picLocks noChangeAspect="1"/>
          </p:cNvPicPr>
          <p:nvPr/>
        </p:nvPicPr>
        <p:blipFill>
          <a:blip r:embed="rId3"/>
          <a:stretch>
            <a:fillRect/>
          </a:stretch>
        </p:blipFill>
        <p:spPr>
          <a:xfrm>
            <a:off x="10808208" y="384048"/>
            <a:ext cx="877824" cy="877824"/>
          </a:xfrm>
          <a:prstGeom prst="rect">
            <a:avLst/>
          </a:prstGeom>
        </p:spPr>
      </p:pic>
      <p:sp>
        <p:nvSpPr>
          <p:cNvPr id="16" name="Text 11"/>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17" name="Text 1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RESULTS</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More engagement → faster replies</a:t>
            </a:r>
            <a:endParaRPr lang="en-US" sz="2900" dirty="0"/>
          </a:p>
        </p:txBody>
      </p:sp>
      <p:graphicFrame>
        <p:nvGraphicFramePr>
          <p:cNvPr id="4" name="Chart 0" descr=""/>
          <p:cNvGraphicFramePr/>
          <p:nvPr/>
        </p:nvGraphicFramePr>
        <p:xfrm>
          <a:off x="502920" y="178308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26680" y="1920240"/>
            <a:ext cx="3794760" cy="1828800"/>
          </a:xfrm>
          <a:prstGeom prst="roundRect">
            <a:avLst>
              <a:gd name="adj" fmla="val 4500"/>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Text 3"/>
          <p:cNvSpPr/>
          <p:nvPr/>
        </p:nvSpPr>
        <p:spPr>
          <a:xfrm>
            <a:off x="7955280" y="2148840"/>
            <a:ext cx="338328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Arial" pitchFamily="34" charset="0"/>
                <a:ea typeface="Arial" pitchFamily="34" charset="-122"/>
                <a:cs typeface="Arial" pitchFamily="34" charset="-120"/>
              </a:rPr>
              <a:t>THE HEADLINE</a:t>
            </a:r>
            <a:endParaRPr lang="en-US" sz="1200" dirty="0"/>
          </a:p>
        </p:txBody>
      </p:sp>
      <p:sp>
        <p:nvSpPr>
          <p:cNvPr id="7" name="Text 4"/>
          <p:cNvSpPr/>
          <p:nvPr/>
        </p:nvSpPr>
        <p:spPr>
          <a:xfrm>
            <a:off x="7955280" y="2514600"/>
            <a:ext cx="3383280" cy="10972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When a team is more engaged,
</a:t>
            </a:r>
            <a:pPr indent="0" marL="0">
              <a:buNone/>
            </a:pPr>
            <a:r>
              <a:rPr lang="en-US" sz="1500" b="1" dirty="0">
                <a:solidFill>
                  <a:srgbClr val="02C39A"/>
                </a:solidFill>
                <a:latin typeface="Arial" pitchFamily="34" charset="0"/>
                <a:ea typeface="Arial" pitchFamily="34" charset="-122"/>
                <a:cs typeface="Arial" pitchFamily="34" charset="-120"/>
              </a:rPr>
              <a:t>they reply faster</a:t>
            </a:r>
            <a:pPr indent="0" marL="0">
              <a:buNone/>
            </a:pPr>
            <a:r>
              <a:rPr lang="en-US" sz="1500" b="1" dirty="0">
                <a:solidFill>
                  <a:srgbClr val="FFFFFF"/>
                </a:solidFill>
                <a:latin typeface="Arial" pitchFamily="34" charset="0"/>
                <a:ea typeface="Arial" pitchFamily="34" charset="-122"/>
                <a:cs typeface="Arial" pitchFamily="34" charset="-120"/>
              </a:rPr>
              <a:t> — just as we expected.</a:t>
            </a:r>
            <a:endParaRPr lang="en-US" sz="1500" dirty="0"/>
          </a:p>
        </p:txBody>
      </p:sp>
      <p:sp>
        <p:nvSpPr>
          <p:cNvPr id="8" name="Shape 5"/>
          <p:cNvSpPr/>
          <p:nvPr/>
        </p:nvSpPr>
        <p:spPr>
          <a:xfrm>
            <a:off x="7726680" y="3931920"/>
            <a:ext cx="3794760" cy="1371600"/>
          </a:xfrm>
          <a:prstGeom prst="roundRect">
            <a:avLst>
              <a:gd name="adj" fmla="val 6000"/>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9" name="Shape 6"/>
          <p:cNvSpPr/>
          <p:nvPr/>
        </p:nvSpPr>
        <p:spPr>
          <a:xfrm>
            <a:off x="7955280" y="416052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0" name="Image 0" descr="preencoded.png">    </p:cNvPr>
          <p:cNvPicPr>
            <a:picLocks noChangeAspect="1"/>
          </p:cNvPicPr>
          <p:nvPr/>
        </p:nvPicPr>
        <p:blipFill>
          <a:blip r:embed="rId2"/>
          <a:stretch>
            <a:fillRect/>
          </a:stretch>
        </p:blipFill>
        <p:spPr>
          <a:xfrm>
            <a:off x="8086039" y="4291279"/>
            <a:ext cx="241402" cy="241402"/>
          </a:xfrm>
          <a:prstGeom prst="rect">
            <a:avLst/>
          </a:prstGeom>
        </p:spPr>
      </p:pic>
      <p:sp>
        <p:nvSpPr>
          <p:cNvPr id="11" name="Text 7"/>
          <p:cNvSpPr/>
          <p:nvPr/>
        </p:nvSpPr>
        <p:spPr>
          <a:xfrm>
            <a:off x="8641080" y="4114800"/>
            <a:ext cx="2743200" cy="1005840"/>
          </a:xfrm>
          <a:prstGeom prst="rect">
            <a:avLst/>
          </a:prstGeom>
          <a:noFill/>
          <a:ln/>
        </p:spPr>
        <p:txBody>
          <a:bodyPr wrap="square" lIns="0" tIns="0" rIns="0" bIns="0" rtlCol="0" anchor="ctr"/>
          <a:lstStyle/>
          <a:p>
            <a:pPr indent="0" marL="0">
              <a:buNone/>
            </a:pPr>
            <a:r>
              <a:rPr lang="en-US" sz="1200" dirty="0">
                <a:solidFill>
                  <a:srgbClr val="5C6B7A"/>
                </a:solidFill>
                <a:latin typeface="Arial" pitchFamily="34" charset="0"/>
                <a:ea typeface="Arial" pitchFamily="34" charset="-122"/>
                <a:cs typeface="Arial" pitchFamily="34" charset="-120"/>
              </a:rPr>
              <a:t>Practice data — the pattern is real; exact numbers will change with a real company</a:t>
            </a:r>
            <a:endParaRPr lang="en-US" sz="1200" dirty="0"/>
          </a:p>
        </p:txBody>
      </p:sp>
      <p:sp>
        <p:nvSpPr>
          <p:cNvPr id="12" name="Shape 8"/>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3" name="Image 1" descr="/home/claude/qr_colab.png">    </p:cNvPr>
          <p:cNvPicPr>
            <a:picLocks noChangeAspect="1"/>
          </p:cNvPicPr>
          <p:nvPr/>
        </p:nvPicPr>
        <p:blipFill>
          <a:blip r:embed="rId3"/>
          <a:stretch>
            <a:fillRect/>
          </a:stretch>
        </p:blipFill>
        <p:spPr>
          <a:xfrm>
            <a:off x="10808208" y="384048"/>
            <a:ext cx="877824" cy="877824"/>
          </a:xfrm>
          <a:prstGeom prst="rect">
            <a:avLst/>
          </a:prstGeom>
        </p:spPr>
      </p:pic>
      <p:sp>
        <p:nvSpPr>
          <p:cNvPr id="14" name="Text 9"/>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15" name="Text 10"/>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 WE BUILT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A website that runs the whole thing</a:t>
            </a:r>
            <a:endParaRPr lang="en-US" sz="2900" dirty="0"/>
          </a:p>
        </p:txBody>
      </p:sp>
      <p:sp>
        <p:nvSpPr>
          <p:cNvPr id="4" name="Shape 2"/>
          <p:cNvSpPr/>
          <p:nvPr/>
        </p:nvSpPr>
        <p:spPr>
          <a:xfrm>
            <a:off x="640080" y="1828800"/>
            <a:ext cx="6035040" cy="3931920"/>
          </a:xfrm>
          <a:prstGeom prst="roundRect">
            <a:avLst>
              <a:gd name="adj" fmla="val 209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640080" y="1828800"/>
            <a:ext cx="6035040" cy="457200"/>
          </a:xfrm>
          <a:prstGeom prst="roundRect">
            <a:avLst>
              <a:gd name="adj" fmla="val 12000"/>
            </a:avLst>
          </a:prstGeom>
          <a:solidFill>
            <a:srgbClr val="11243F"/>
          </a:solidFill>
          <a:ln/>
        </p:spPr>
      </p:sp>
      <p:sp>
        <p:nvSpPr>
          <p:cNvPr id="6" name="Shape 4"/>
          <p:cNvSpPr/>
          <p:nvPr/>
        </p:nvSpPr>
        <p:spPr>
          <a:xfrm>
            <a:off x="841248" y="1993392"/>
            <a:ext cx="128016" cy="128016"/>
          </a:xfrm>
          <a:prstGeom prst="ellipse">
            <a:avLst/>
          </a:prstGeom>
          <a:solidFill>
            <a:srgbClr val="F96167"/>
          </a:solidFill>
          <a:ln/>
        </p:spPr>
      </p:sp>
      <p:sp>
        <p:nvSpPr>
          <p:cNvPr id="7" name="Shape 5"/>
          <p:cNvSpPr/>
          <p:nvPr/>
        </p:nvSpPr>
        <p:spPr>
          <a:xfrm>
            <a:off x="1042416" y="1993392"/>
            <a:ext cx="128016" cy="128016"/>
          </a:xfrm>
          <a:prstGeom prst="ellipse">
            <a:avLst/>
          </a:prstGeom>
          <a:solidFill>
            <a:srgbClr val="F9E795"/>
          </a:solidFill>
          <a:ln/>
        </p:spPr>
      </p:sp>
      <p:sp>
        <p:nvSpPr>
          <p:cNvPr id="8" name="Shape 6"/>
          <p:cNvSpPr/>
          <p:nvPr/>
        </p:nvSpPr>
        <p:spPr>
          <a:xfrm>
            <a:off x="1243584" y="1993392"/>
            <a:ext cx="128016" cy="128016"/>
          </a:xfrm>
          <a:prstGeom prst="ellipse">
            <a:avLst/>
          </a:prstGeom>
          <a:solidFill>
            <a:srgbClr val="00A896"/>
          </a:solidFill>
          <a:ln/>
        </p:spPr>
      </p:sp>
      <p:sp>
        <p:nvSpPr>
          <p:cNvPr id="9" name="Text 7"/>
          <p:cNvSpPr/>
          <p:nvPr/>
        </p:nvSpPr>
        <p:spPr>
          <a:xfrm>
            <a:off x="1554480" y="1920240"/>
            <a:ext cx="4937760" cy="274320"/>
          </a:xfrm>
          <a:prstGeom prst="rect">
            <a:avLst/>
          </a:prstGeom>
          <a:noFill/>
          <a:ln/>
        </p:spPr>
        <p:txBody>
          <a:bodyPr wrap="square" lIns="0" tIns="0" rIns="0" bIns="0" rtlCol="0" anchor="ctr"/>
          <a:lstStyle/>
          <a:p>
            <a:pPr indent="0" marL="0">
              <a:buNone/>
            </a:pPr>
            <a:r>
              <a:rPr lang="en-US" sz="1100" dirty="0">
                <a:solidFill>
                  <a:srgbClr val="C7D6E5"/>
                </a:solidFill>
                <a:latin typeface="Arial" pitchFamily="34" charset="0"/>
                <a:ea typeface="Arial" pitchFamily="34" charset="-122"/>
                <a:cs typeface="Arial" pitchFamily="34" charset="-120"/>
              </a:rPr>
              <a:t>organizationaltrustquotient.com</a:t>
            </a:r>
            <a:endParaRPr lang="en-US" sz="1100" dirty="0"/>
          </a:p>
        </p:txBody>
      </p:sp>
      <p:sp>
        <p:nvSpPr>
          <p:cNvPr id="10" name="Shape 8"/>
          <p:cNvSpPr/>
          <p:nvPr/>
        </p:nvSpPr>
        <p:spPr>
          <a:xfrm>
            <a:off x="914400" y="2514600"/>
            <a:ext cx="5486400" cy="1188720"/>
          </a:xfrm>
          <a:prstGeom prst="roundRect">
            <a:avLst>
              <a:gd name="adj" fmla="val 4615"/>
            </a:avLst>
          </a:prstGeom>
          <a:solidFill>
            <a:srgbClr val="F4F9FB"/>
          </a:solidFill>
          <a:ln w="19050">
            <a:solidFill>
              <a:srgbClr val="028090"/>
            </a:solidFill>
            <a:prstDash val="dash"/>
          </a:ln>
        </p:spPr>
      </p:sp>
      <p:sp>
        <p:nvSpPr>
          <p:cNvPr id="11" name="Shape 9"/>
          <p:cNvSpPr/>
          <p:nvPr/>
        </p:nvSpPr>
        <p:spPr>
          <a:xfrm>
            <a:off x="3520440" y="269748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2" name="Image 0" descr="preencoded.png">    </p:cNvPr>
          <p:cNvPicPr>
            <a:picLocks noChangeAspect="1"/>
          </p:cNvPicPr>
          <p:nvPr/>
        </p:nvPicPr>
        <p:blipFill>
          <a:blip r:embed="rId1"/>
          <a:stretch>
            <a:fillRect/>
          </a:stretch>
        </p:blipFill>
        <p:spPr>
          <a:xfrm>
            <a:off x="3651199" y="2828239"/>
            <a:ext cx="241402" cy="241402"/>
          </a:xfrm>
          <a:prstGeom prst="rect">
            <a:avLst/>
          </a:prstGeom>
        </p:spPr>
      </p:pic>
      <p:sp>
        <p:nvSpPr>
          <p:cNvPr id="13" name="Text 10"/>
          <p:cNvSpPr/>
          <p:nvPr/>
        </p:nvSpPr>
        <p:spPr>
          <a:xfrm>
            <a:off x="1005840" y="3246120"/>
            <a:ext cx="5303520" cy="320040"/>
          </a:xfrm>
          <a:prstGeom prst="rect">
            <a:avLst/>
          </a:prstGeom>
          <a:noFill/>
          <a:ln/>
        </p:spPr>
        <p:txBody>
          <a:bodyPr wrap="square" lIns="0" tIns="0" rIns="0" bIns="0" rtlCol="0" anchor="ctr"/>
          <a:lstStyle/>
          <a:p>
            <a:pPr algn="ctr" indent="0" marL="0">
              <a:buNone/>
            </a:pPr>
            <a:r>
              <a:rPr lang="en-US" sz="1300" b="1" dirty="0">
                <a:solidFill>
                  <a:srgbClr val="16263B"/>
                </a:solidFill>
                <a:latin typeface="Arial" pitchFamily="34" charset="0"/>
                <a:ea typeface="Arial" pitchFamily="34" charset="-122"/>
                <a:cs typeface="Arial" pitchFamily="34" charset="-120"/>
              </a:rPr>
              <a:t>Drop in the files</a:t>
            </a:r>
            <a:endParaRPr lang="en-US" sz="1300" dirty="0"/>
          </a:p>
        </p:txBody>
      </p:sp>
      <p:sp>
        <p:nvSpPr>
          <p:cNvPr id="14" name="Shape 11"/>
          <p:cNvSpPr/>
          <p:nvPr/>
        </p:nvSpPr>
        <p:spPr>
          <a:xfrm>
            <a:off x="914400" y="3931920"/>
            <a:ext cx="1737360" cy="566928"/>
          </a:xfrm>
          <a:prstGeom prst="roundRect">
            <a:avLst>
              <a:gd name="adj" fmla="val 12903"/>
            </a:avLst>
          </a:prstGeom>
          <a:solidFill>
            <a:srgbClr val="028090"/>
          </a:solidFill>
          <a:ln/>
        </p:spPr>
      </p:sp>
      <p:sp>
        <p:nvSpPr>
          <p:cNvPr id="15" name="Text 12"/>
          <p:cNvSpPr/>
          <p:nvPr/>
        </p:nvSpPr>
        <p:spPr>
          <a:xfrm>
            <a:off x="914400" y="3931920"/>
            <a:ext cx="17373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Accuracy</a:t>
            </a:r>
            <a:endParaRPr lang="en-US" sz="1200" dirty="0"/>
          </a:p>
        </p:txBody>
      </p:sp>
      <p:sp>
        <p:nvSpPr>
          <p:cNvPr id="16" name="Shape 13"/>
          <p:cNvSpPr/>
          <p:nvPr/>
        </p:nvSpPr>
        <p:spPr>
          <a:xfrm>
            <a:off x="2788920" y="3931920"/>
            <a:ext cx="1737360" cy="566928"/>
          </a:xfrm>
          <a:prstGeom prst="roundRect">
            <a:avLst>
              <a:gd name="adj" fmla="val 12903"/>
            </a:avLst>
          </a:prstGeom>
          <a:solidFill>
            <a:srgbClr val="00A896"/>
          </a:solidFill>
          <a:ln/>
        </p:spPr>
      </p:sp>
      <p:sp>
        <p:nvSpPr>
          <p:cNvPr id="17" name="Text 14"/>
          <p:cNvSpPr/>
          <p:nvPr/>
        </p:nvSpPr>
        <p:spPr>
          <a:xfrm>
            <a:off x="2788920" y="3931920"/>
            <a:ext cx="17373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Reply time</a:t>
            </a:r>
            <a:endParaRPr lang="en-US" sz="1200" dirty="0"/>
          </a:p>
        </p:txBody>
      </p:sp>
      <p:sp>
        <p:nvSpPr>
          <p:cNvPr id="18" name="Shape 15"/>
          <p:cNvSpPr/>
          <p:nvPr/>
        </p:nvSpPr>
        <p:spPr>
          <a:xfrm>
            <a:off x="4663440" y="3931920"/>
            <a:ext cx="1737360" cy="566928"/>
          </a:xfrm>
          <a:prstGeom prst="roundRect">
            <a:avLst>
              <a:gd name="adj" fmla="val 12903"/>
            </a:avLst>
          </a:prstGeom>
          <a:solidFill>
            <a:srgbClr val="02C39A"/>
          </a:solidFill>
          <a:ln/>
        </p:spPr>
      </p:sp>
      <p:sp>
        <p:nvSpPr>
          <p:cNvPr id="19" name="Text 16"/>
          <p:cNvSpPr/>
          <p:nvPr/>
        </p:nvSpPr>
        <p:spPr>
          <a:xfrm>
            <a:off x="4663440" y="3931920"/>
            <a:ext cx="17373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Top clues</a:t>
            </a:r>
            <a:endParaRPr lang="en-US" sz="1200" dirty="0"/>
          </a:p>
        </p:txBody>
      </p:sp>
      <p:sp>
        <p:nvSpPr>
          <p:cNvPr id="20" name="Shape 17"/>
          <p:cNvSpPr/>
          <p:nvPr/>
        </p:nvSpPr>
        <p:spPr>
          <a:xfrm>
            <a:off x="914400" y="4663440"/>
            <a:ext cx="5486400" cy="777240"/>
          </a:xfrm>
          <a:prstGeom prst="roundRect">
            <a:avLst>
              <a:gd name="adj" fmla="val 7059"/>
            </a:avLst>
          </a:prstGeom>
          <a:solidFill>
            <a:srgbClr val="F4F9FB"/>
          </a:solidFill>
          <a:ln/>
        </p:spPr>
      </p:sp>
      <p:sp>
        <p:nvSpPr>
          <p:cNvPr id="21" name="Text 18"/>
          <p:cNvSpPr/>
          <p:nvPr/>
        </p:nvSpPr>
        <p:spPr>
          <a:xfrm>
            <a:off x="914400" y="4663440"/>
            <a:ext cx="5486400" cy="777240"/>
          </a:xfrm>
          <a:prstGeom prst="rect">
            <a:avLst/>
          </a:prstGeom>
          <a:noFill/>
          <a:ln/>
        </p:spPr>
        <p:txBody>
          <a:bodyPr wrap="square" lIns="0" tIns="0" rIns="0" bIns="0" rtlCol="0" anchor="ctr"/>
          <a:lstStyle/>
          <a:p>
            <a:pPr algn="ctr" indent="0" marL="0">
              <a:buNone/>
            </a:pPr>
            <a:r>
              <a:rPr lang="en-US" sz="1200" i="1" dirty="0">
                <a:solidFill>
                  <a:srgbClr val="5C6B7A"/>
                </a:solidFill>
                <a:latin typeface="Arial" pitchFamily="34" charset="0"/>
                <a:ea typeface="Arial" pitchFamily="34" charset="-122"/>
                <a:cs typeface="Arial" pitchFamily="34" charset="-120"/>
              </a:rPr>
              <a:t>charts come back automatically</a:t>
            </a:r>
            <a:endParaRPr lang="en-US" sz="1200" dirty="0"/>
          </a:p>
        </p:txBody>
      </p:sp>
      <p:sp>
        <p:nvSpPr>
          <p:cNvPr id="22" name="Shape 19"/>
          <p:cNvSpPr/>
          <p:nvPr/>
        </p:nvSpPr>
        <p:spPr>
          <a:xfrm>
            <a:off x="6903720" y="182880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3" name="Shape 20"/>
          <p:cNvSpPr/>
          <p:nvPr/>
        </p:nvSpPr>
        <p:spPr>
          <a:xfrm>
            <a:off x="7114032" y="199339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4" name="Image 1" descr="preencoded.png">    </p:cNvPr>
          <p:cNvPicPr>
            <a:picLocks noChangeAspect="1"/>
          </p:cNvPicPr>
          <p:nvPr/>
        </p:nvPicPr>
        <p:blipFill>
          <a:blip r:embed="rId2"/>
          <a:stretch>
            <a:fillRect/>
          </a:stretch>
        </p:blipFill>
        <p:spPr>
          <a:xfrm>
            <a:off x="7251924" y="2131284"/>
            <a:ext cx="254569" cy="254569"/>
          </a:xfrm>
          <a:prstGeom prst="rect">
            <a:avLst/>
          </a:prstGeom>
        </p:spPr>
      </p:pic>
      <p:sp>
        <p:nvSpPr>
          <p:cNvPr id="25" name="Text 21"/>
          <p:cNvSpPr/>
          <p:nvPr/>
        </p:nvSpPr>
        <p:spPr>
          <a:xfrm>
            <a:off x="7863840" y="182880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Upload the files</a:t>
            </a:r>
            <a:endParaRPr lang="en-US" sz="1500" dirty="0"/>
          </a:p>
        </p:txBody>
      </p:sp>
      <p:sp>
        <p:nvSpPr>
          <p:cNvPr id="26" name="Shape 22"/>
          <p:cNvSpPr/>
          <p:nvPr/>
        </p:nvSpPr>
        <p:spPr>
          <a:xfrm>
            <a:off x="6903720" y="283464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7" name="Shape 23"/>
          <p:cNvSpPr/>
          <p:nvPr/>
        </p:nvSpPr>
        <p:spPr>
          <a:xfrm>
            <a:off x="7114032" y="299923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8" name="Image 2" descr="preencoded.png">    </p:cNvPr>
          <p:cNvPicPr>
            <a:picLocks noChangeAspect="1"/>
          </p:cNvPicPr>
          <p:nvPr/>
        </p:nvPicPr>
        <p:blipFill>
          <a:blip r:embed="rId3"/>
          <a:stretch>
            <a:fillRect/>
          </a:stretch>
        </p:blipFill>
        <p:spPr>
          <a:xfrm>
            <a:off x="7251924" y="3137124"/>
            <a:ext cx="254569" cy="254569"/>
          </a:xfrm>
          <a:prstGeom prst="rect">
            <a:avLst/>
          </a:prstGeom>
        </p:spPr>
      </p:pic>
      <p:sp>
        <p:nvSpPr>
          <p:cNvPr id="29" name="Text 24"/>
          <p:cNvSpPr/>
          <p:nvPr/>
        </p:nvSpPr>
        <p:spPr>
          <a:xfrm>
            <a:off x="7863840" y="283464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It runs everything for you</a:t>
            </a:r>
            <a:endParaRPr lang="en-US" sz="1500" dirty="0"/>
          </a:p>
        </p:txBody>
      </p:sp>
      <p:sp>
        <p:nvSpPr>
          <p:cNvPr id="30" name="Shape 25"/>
          <p:cNvSpPr/>
          <p:nvPr/>
        </p:nvSpPr>
        <p:spPr>
          <a:xfrm>
            <a:off x="6903720" y="384048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1" name="Shape 26"/>
          <p:cNvSpPr/>
          <p:nvPr/>
        </p:nvSpPr>
        <p:spPr>
          <a:xfrm>
            <a:off x="7114032" y="400507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2" name="Image 3" descr="preencoded.png">    </p:cNvPr>
          <p:cNvPicPr>
            <a:picLocks noChangeAspect="1"/>
          </p:cNvPicPr>
          <p:nvPr/>
        </p:nvPicPr>
        <p:blipFill>
          <a:blip r:embed="rId4"/>
          <a:stretch>
            <a:fillRect/>
          </a:stretch>
        </p:blipFill>
        <p:spPr>
          <a:xfrm>
            <a:off x="7251924" y="4142964"/>
            <a:ext cx="254569" cy="254569"/>
          </a:xfrm>
          <a:prstGeom prst="rect">
            <a:avLst/>
          </a:prstGeom>
        </p:spPr>
      </p:pic>
      <p:sp>
        <p:nvSpPr>
          <p:cNvPr id="33" name="Text 27"/>
          <p:cNvSpPr/>
          <p:nvPr/>
        </p:nvSpPr>
        <p:spPr>
          <a:xfrm>
            <a:off x="7863840" y="384048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See results &amp; charts</a:t>
            </a:r>
            <a:endParaRPr lang="en-US" sz="1500" dirty="0"/>
          </a:p>
        </p:txBody>
      </p:sp>
      <p:sp>
        <p:nvSpPr>
          <p:cNvPr id="34" name="Shape 28"/>
          <p:cNvSpPr/>
          <p:nvPr/>
        </p:nvSpPr>
        <p:spPr>
          <a:xfrm>
            <a:off x="6903720" y="484632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5" name="Shape 29"/>
          <p:cNvSpPr/>
          <p:nvPr/>
        </p:nvSpPr>
        <p:spPr>
          <a:xfrm>
            <a:off x="7114032" y="501091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6" name="Image 4" descr="preencoded.png">    </p:cNvPr>
          <p:cNvPicPr>
            <a:picLocks noChangeAspect="1"/>
          </p:cNvPicPr>
          <p:nvPr/>
        </p:nvPicPr>
        <p:blipFill>
          <a:blip r:embed="rId5"/>
          <a:stretch>
            <a:fillRect/>
          </a:stretch>
        </p:blipFill>
        <p:spPr>
          <a:xfrm>
            <a:off x="7251924" y="5148804"/>
            <a:ext cx="254569" cy="254569"/>
          </a:xfrm>
          <a:prstGeom prst="rect">
            <a:avLst/>
          </a:prstGeom>
        </p:spPr>
      </p:pic>
      <p:sp>
        <p:nvSpPr>
          <p:cNvPr id="37" name="Text 30"/>
          <p:cNvSpPr/>
          <p:nvPr/>
        </p:nvSpPr>
        <p:spPr>
          <a:xfrm>
            <a:off x="7863840" y="484632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Day-by-day predictions</a:t>
            </a:r>
            <a:endParaRPr lang="en-US" sz="1500" dirty="0"/>
          </a:p>
        </p:txBody>
      </p:sp>
      <p:sp>
        <p:nvSpPr>
          <p:cNvPr id="38" name="Shape 3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9" name="Image 5" descr="/home/claude/qr_colab.png">    </p:cNvPr>
          <p:cNvPicPr>
            <a:picLocks noChangeAspect="1"/>
          </p:cNvPicPr>
          <p:nvPr/>
        </p:nvPicPr>
        <p:blipFill>
          <a:blip r:embed="rId6"/>
          <a:stretch>
            <a:fillRect/>
          </a:stretch>
        </p:blipFill>
        <p:spPr>
          <a:xfrm>
            <a:off x="10808208" y="384048"/>
            <a:ext cx="877824" cy="877824"/>
          </a:xfrm>
          <a:prstGeom prst="rect">
            <a:avLst/>
          </a:prstGeom>
        </p:spPr>
      </p:pic>
      <p:sp>
        <p:nvSpPr>
          <p:cNvPr id="40" name="Text 3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41" name="Text 3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243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0A896"/>
                </a:solidFill>
                <a:latin typeface="Arial" pitchFamily="34" charset="0"/>
                <a:ea typeface="Arial" pitchFamily="34" charset="-122"/>
                <a:cs typeface="Arial" pitchFamily="34" charset="-120"/>
              </a:rPr>
              <a:t>TAKE-HOME POINTS</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FFFFFF"/>
                </a:solidFill>
                <a:latin typeface="Georgia" pitchFamily="34" charset="0"/>
                <a:ea typeface="Georgia" pitchFamily="34" charset="-122"/>
                <a:cs typeface="Georgia" pitchFamily="34" charset="-120"/>
              </a:rPr>
              <a:t>What to remember</a:t>
            </a:r>
            <a:endParaRPr lang="en-US" sz="2900" dirty="0"/>
          </a:p>
        </p:txBody>
      </p:sp>
      <p:sp>
        <p:nvSpPr>
          <p:cNvPr id="4" name="Shape 2"/>
          <p:cNvSpPr/>
          <p:nvPr/>
        </p:nvSpPr>
        <p:spPr>
          <a:xfrm>
            <a:off x="640080" y="18745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14884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r>
          <p:cNvPicPr>
            <a:picLocks noChangeAspect="1"/>
          </p:cNvPicPr>
          <p:nvPr/>
        </p:nvPicPr>
        <p:blipFill>
          <a:blip r:embed="rId1"/>
          <a:stretch>
            <a:fillRect/>
          </a:stretch>
        </p:blipFill>
        <p:spPr>
          <a:xfrm>
            <a:off x="1080821" y="2315261"/>
            <a:ext cx="307238" cy="307238"/>
          </a:xfrm>
          <a:prstGeom prst="rect">
            <a:avLst/>
          </a:prstGeom>
        </p:spPr>
      </p:pic>
      <p:sp>
        <p:nvSpPr>
          <p:cNvPr id="7" name="Text 4"/>
          <p:cNvSpPr/>
          <p:nvPr/>
        </p:nvSpPr>
        <p:spPr>
          <a:xfrm>
            <a:off x="1737360" y="21671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Always-on beats once a year</a:t>
            </a:r>
            <a:endParaRPr lang="en-US" sz="1700" dirty="0"/>
          </a:p>
        </p:txBody>
      </p:sp>
      <p:sp>
        <p:nvSpPr>
          <p:cNvPr id="8" name="Text 5"/>
          <p:cNvSpPr/>
          <p:nvPr/>
        </p:nvSpPr>
        <p:spPr>
          <a:xfrm>
            <a:off x="1737360" y="28346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a live read, not an annual survey</a:t>
            </a:r>
            <a:endParaRPr lang="en-US" sz="1300" dirty="0"/>
          </a:p>
        </p:txBody>
      </p:sp>
      <p:sp>
        <p:nvSpPr>
          <p:cNvPr id="9" name="Shape 6"/>
          <p:cNvSpPr/>
          <p:nvPr/>
        </p:nvSpPr>
        <p:spPr>
          <a:xfrm>
            <a:off x="6172200" y="18745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46520" y="2148840"/>
            <a:ext cx="640080" cy="64008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1" name="Image 1" descr="preencoded.png">    </p:cNvPr>
          <p:cNvPicPr>
            <a:picLocks noChangeAspect="1"/>
          </p:cNvPicPr>
          <p:nvPr/>
        </p:nvPicPr>
        <p:blipFill>
          <a:blip r:embed="rId2"/>
          <a:stretch>
            <a:fillRect/>
          </a:stretch>
        </p:blipFill>
        <p:spPr>
          <a:xfrm>
            <a:off x="6612941" y="2315261"/>
            <a:ext cx="307238" cy="307238"/>
          </a:xfrm>
          <a:prstGeom prst="rect">
            <a:avLst/>
          </a:prstGeom>
        </p:spPr>
      </p:pic>
      <p:sp>
        <p:nvSpPr>
          <p:cNvPr id="12" name="Text 8"/>
          <p:cNvSpPr/>
          <p:nvPr/>
        </p:nvSpPr>
        <p:spPr>
          <a:xfrm>
            <a:off x="7269480" y="21671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Talk predicts replies</a:t>
            </a:r>
            <a:endParaRPr lang="en-US" sz="1700" dirty="0"/>
          </a:p>
        </p:txBody>
      </p:sp>
      <p:sp>
        <p:nvSpPr>
          <p:cNvPr id="13" name="Text 9"/>
          <p:cNvSpPr/>
          <p:nvPr/>
        </p:nvSpPr>
        <p:spPr>
          <a:xfrm>
            <a:off x="7269480" y="28346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more engaged teams answer faster</a:t>
            </a:r>
            <a:endParaRPr lang="en-US" sz="1300" dirty="0"/>
          </a:p>
        </p:txBody>
      </p:sp>
      <p:sp>
        <p:nvSpPr>
          <p:cNvPr id="14" name="Shape 10"/>
          <p:cNvSpPr/>
          <p:nvPr/>
        </p:nvSpPr>
        <p:spPr>
          <a:xfrm>
            <a:off x="640080" y="39319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914400" y="420624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r>
          <p:cNvPicPr>
            <a:picLocks noChangeAspect="1"/>
          </p:cNvPicPr>
          <p:nvPr/>
        </p:nvPicPr>
        <p:blipFill>
          <a:blip r:embed="rId3"/>
          <a:stretch>
            <a:fillRect/>
          </a:stretch>
        </p:blipFill>
        <p:spPr>
          <a:xfrm>
            <a:off x="1080821" y="4372661"/>
            <a:ext cx="307238" cy="307238"/>
          </a:xfrm>
          <a:prstGeom prst="rect">
            <a:avLst/>
          </a:prstGeom>
        </p:spPr>
      </p:pic>
      <p:sp>
        <p:nvSpPr>
          <p:cNvPr id="17" name="Text 12"/>
          <p:cNvSpPr/>
          <p:nvPr/>
        </p:nvSpPr>
        <p:spPr>
          <a:xfrm>
            <a:off x="1737360" y="42245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We're honest about it</a:t>
            </a:r>
            <a:endParaRPr lang="en-US" sz="1700" dirty="0"/>
          </a:p>
        </p:txBody>
      </p:sp>
      <p:sp>
        <p:nvSpPr>
          <p:cNvPr id="18" name="Text 13"/>
          <p:cNvSpPr/>
          <p:nvPr/>
        </p:nvSpPr>
        <p:spPr>
          <a:xfrm>
            <a:off x="1737360" y="48920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we measure talk, not trust itself — yet</a:t>
            </a:r>
            <a:endParaRPr lang="en-US" sz="1300" dirty="0"/>
          </a:p>
        </p:txBody>
      </p:sp>
      <p:sp>
        <p:nvSpPr>
          <p:cNvPr id="19" name="Shape 14"/>
          <p:cNvSpPr/>
          <p:nvPr/>
        </p:nvSpPr>
        <p:spPr>
          <a:xfrm>
            <a:off x="6172200" y="39319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0" name="Shape 15"/>
          <p:cNvSpPr/>
          <p:nvPr/>
        </p:nvSpPr>
        <p:spPr>
          <a:xfrm>
            <a:off x="6446520" y="4206240"/>
            <a:ext cx="640080" cy="64008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21" name="Image 3" descr="preencoded.png">    </p:cNvPr>
          <p:cNvPicPr>
            <a:picLocks noChangeAspect="1"/>
          </p:cNvPicPr>
          <p:nvPr/>
        </p:nvPicPr>
        <p:blipFill>
          <a:blip r:embed="rId4"/>
          <a:stretch>
            <a:fillRect/>
          </a:stretch>
        </p:blipFill>
        <p:spPr>
          <a:xfrm>
            <a:off x="6612941" y="4372661"/>
            <a:ext cx="307238" cy="307238"/>
          </a:xfrm>
          <a:prstGeom prst="rect">
            <a:avLst/>
          </a:prstGeom>
        </p:spPr>
      </p:pic>
      <p:sp>
        <p:nvSpPr>
          <p:cNvPr id="22" name="Text 16"/>
          <p:cNvSpPr/>
          <p:nvPr/>
        </p:nvSpPr>
        <p:spPr>
          <a:xfrm>
            <a:off x="7269480" y="42245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Private by design</a:t>
            </a:r>
            <a:endParaRPr lang="en-US" sz="1700" dirty="0"/>
          </a:p>
        </p:txBody>
      </p:sp>
      <p:sp>
        <p:nvSpPr>
          <p:cNvPr id="23" name="Text 17"/>
          <p:cNvSpPr/>
          <p:nvPr/>
        </p:nvSpPr>
        <p:spPr>
          <a:xfrm>
            <a:off x="7269480" y="48920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counts &amp; timing only, no message content</a:t>
            </a:r>
            <a:endParaRPr lang="en-US" sz="1300" dirty="0"/>
          </a:p>
        </p:txBody>
      </p:sp>
      <p:sp>
        <p:nvSpPr>
          <p:cNvPr id="24" name="Shape 18"/>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5" name="Image 4" descr="/home/claude/qr_colab.png">    </p:cNvPr>
          <p:cNvPicPr>
            <a:picLocks noChangeAspect="1"/>
          </p:cNvPicPr>
          <p:nvPr/>
        </p:nvPicPr>
        <p:blipFill>
          <a:blip r:embed="rId5"/>
          <a:stretch>
            <a:fillRect/>
          </a:stretch>
        </p:blipFill>
        <p:spPr>
          <a:xfrm>
            <a:off x="10808208" y="384048"/>
            <a:ext cx="877824" cy="877824"/>
          </a:xfrm>
          <a:prstGeom prst="rect">
            <a:avLst/>
          </a:prstGeom>
        </p:spPr>
      </p:pic>
      <p:sp>
        <p:nvSpPr>
          <p:cNvPr id="26" name="Text 19"/>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Colab</a:t>
            </a:r>
            <a:endParaRPr lang="en-US" sz="850" dirty="0"/>
          </a:p>
        </p:txBody>
      </p:sp>
      <p:sp>
        <p:nvSpPr>
          <p:cNvPr id="27" name="Text 20"/>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WHAT'S NEXT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Next steps &amp; questions</a:t>
            </a:r>
            <a:endParaRPr lang="en-US" sz="2900" dirty="0"/>
          </a:p>
        </p:txBody>
      </p:sp>
      <p:pic>
        <p:nvPicPr>
          <p:cNvPr id="4" name="Image 0" descr="preencoded.png">    </p:cNvPr>
          <p:cNvPicPr>
            <a:picLocks noChangeAspect="1"/>
          </p:cNvPicPr>
          <p:nvPr/>
        </p:nvPicPr>
        <p:blipFill>
          <a:blip r:embed="rId1"/>
          <a:stretch>
            <a:fillRect/>
          </a:stretch>
        </p:blipFill>
        <p:spPr>
          <a:xfrm>
            <a:off x="10469880" y="228600"/>
            <a:ext cx="1554480" cy="1554480"/>
          </a:xfrm>
          <a:prstGeom prst="rect">
            <a:avLst/>
          </a:prstGeom>
        </p:spPr>
      </p:pic>
      <p:sp>
        <p:nvSpPr>
          <p:cNvPr id="5" name="Shape 2"/>
          <p:cNvSpPr/>
          <p:nvPr/>
        </p:nvSpPr>
        <p:spPr>
          <a:xfrm>
            <a:off x="640080" y="1828800"/>
            <a:ext cx="5760720" cy="3977640"/>
          </a:xfrm>
          <a:prstGeom prst="roundRect">
            <a:avLst>
              <a:gd name="adj" fmla="val 206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3"/>
          <p:cNvSpPr/>
          <p:nvPr/>
        </p:nvSpPr>
        <p:spPr>
          <a:xfrm>
            <a:off x="868680" y="210312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1" descr="preencoded.png">    </p:cNvPr>
          <p:cNvPicPr>
            <a:picLocks noChangeAspect="1"/>
          </p:cNvPicPr>
          <p:nvPr/>
        </p:nvPicPr>
        <p:blipFill>
          <a:blip r:embed="rId2"/>
          <a:stretch>
            <a:fillRect/>
          </a:stretch>
        </p:blipFill>
        <p:spPr>
          <a:xfrm>
            <a:off x="1011326" y="2245766"/>
            <a:ext cx="263347" cy="263347"/>
          </a:xfrm>
          <a:prstGeom prst="rect">
            <a:avLst/>
          </a:prstGeom>
        </p:spPr>
      </p:pic>
      <p:sp>
        <p:nvSpPr>
          <p:cNvPr id="8" name="Text 4"/>
          <p:cNvSpPr/>
          <p:nvPr/>
        </p:nvSpPr>
        <p:spPr>
          <a:xfrm>
            <a:off x="1645920" y="2212848"/>
            <a:ext cx="438912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Where we go from here</a:t>
            </a:r>
            <a:endParaRPr lang="en-US" sz="1700" dirty="0"/>
          </a:p>
        </p:txBody>
      </p:sp>
      <p:sp>
        <p:nvSpPr>
          <p:cNvPr id="9" name="Text 5"/>
          <p:cNvSpPr/>
          <p:nvPr/>
        </p:nvSpPr>
        <p:spPr>
          <a:xfrm>
            <a:off x="960120" y="2971800"/>
            <a:ext cx="5212080" cy="2743200"/>
          </a:xfrm>
          <a:prstGeom prst="rect">
            <a:avLst/>
          </a:prstGeom>
          <a:noFill/>
          <a:ln/>
        </p:spPr>
        <p:txBody>
          <a:bodyPr wrap="square" lIns="0" tIns="0" rIns="0" bIns="0" rtlCol="0" anchor="t"/>
          <a:lstStyle/>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Check our score against a trusted trust survey</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Use a real company's data</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Give each team &amp; person their own score</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Track real outcomes (deadlines, tickets)</a:t>
            </a:r>
            <a:endParaRPr lang="en-US" sz="1550" dirty="0"/>
          </a:p>
        </p:txBody>
      </p:sp>
      <p:sp>
        <p:nvSpPr>
          <p:cNvPr id="10" name="Text 6"/>
          <p:cNvSpPr/>
          <p:nvPr/>
        </p:nvSpPr>
        <p:spPr>
          <a:xfrm>
            <a:off x="6675120" y="2377440"/>
            <a:ext cx="4846320" cy="640080"/>
          </a:xfrm>
          <a:prstGeom prst="rect">
            <a:avLst/>
          </a:prstGeom>
          <a:noFill/>
          <a:ln/>
        </p:spPr>
        <p:txBody>
          <a:bodyPr wrap="square" lIns="0" tIns="0" rIns="0" bIns="0" rtlCol="0" anchor="ctr"/>
          <a:lstStyle/>
          <a:p>
            <a:pPr algn="ctr" indent="0" marL="0">
              <a:buNone/>
            </a:pPr>
            <a:r>
              <a:rPr lang="en-US" sz="3600" b="1" dirty="0">
                <a:solidFill>
                  <a:srgbClr val="16263B"/>
                </a:solidFill>
                <a:latin typeface="Georgia" pitchFamily="34" charset="0"/>
                <a:ea typeface="Georgia" pitchFamily="34" charset="-122"/>
                <a:cs typeface="Georgia" pitchFamily="34" charset="-120"/>
              </a:rPr>
              <a:t>Questions?</a:t>
            </a:r>
            <a:endParaRPr lang="en-US" sz="3600" dirty="0"/>
          </a:p>
        </p:txBody>
      </p:sp>
      <p:sp>
        <p:nvSpPr>
          <p:cNvPr id="11" name="Text 7"/>
          <p:cNvSpPr/>
          <p:nvPr/>
        </p:nvSpPr>
        <p:spPr>
          <a:xfrm>
            <a:off x="6675120" y="3291840"/>
            <a:ext cx="4846320" cy="1005840"/>
          </a:xfrm>
          <a:prstGeom prst="rect">
            <a:avLst/>
          </a:prstGeom>
          <a:noFill/>
          <a:ln/>
        </p:spPr>
        <p:txBody>
          <a:bodyPr wrap="square" lIns="0" tIns="0" rIns="0" bIns="0" rtlCol="0" anchor="ctr"/>
          <a:lstStyle/>
          <a:p>
            <a:pPr algn="ctr" indent="0" marL="0">
              <a:buNone/>
            </a:pPr>
            <a:r>
              <a:rPr lang="en-US" sz="1400" b="1" dirty="0">
                <a:solidFill>
                  <a:srgbClr val="16263B"/>
                </a:solidFill>
                <a:latin typeface="Arial" pitchFamily="34" charset="0"/>
                <a:ea typeface="Arial" pitchFamily="34" charset="-122"/>
                <a:cs typeface="Arial" pitchFamily="34" charset="-120"/>
              </a:rPr>
              <a:t>Vernon T. Cox  ·  Srilatha Alla</a:t>
            </a:r>
            <a:endParaRPr lang="en-US" sz="1400" dirty="0"/>
          </a:p>
          <a:p>
            <a:pPr algn="ctr" indent="0" marL="0">
              <a:buNone/>
            </a:pPr>
            <a:r>
              <a:rPr lang="en-US" sz="1200" dirty="0">
                <a:solidFill>
                  <a:srgbClr val="5C6B7A"/>
                </a:solidFill>
                <a:latin typeface="Arial" pitchFamily="34" charset="0"/>
                <a:ea typeface="Arial" pitchFamily="34" charset="-122"/>
                <a:cs typeface="Arial" pitchFamily="34" charset="-120"/>
              </a:rPr>
              <a:t>Instructor: Robert Citek — CNM Ingenuity</a:t>
            </a:r>
            <a:endParaRPr lang="en-US" sz="1400" dirty="0"/>
          </a:p>
          <a:p>
            <a:pPr algn="ctr" indent="0" marL="0">
              <a:buNone/>
            </a:pPr>
            <a:r>
              <a:rPr lang="en-US" sz="1200" dirty="0">
                <a:solidFill>
                  <a:srgbClr val="5C6B7A"/>
                </a:solidFill>
                <a:latin typeface="Arial" pitchFamily="34" charset="0"/>
                <a:ea typeface="Arial" pitchFamily="34" charset="-122"/>
                <a:cs typeface="Arial" pitchFamily="34" charset="-120"/>
              </a:rPr>
              <a:t>SME: Prof. R. DelCampo — UNM Anderson</a:t>
            </a:r>
            <a:endParaRPr lang="en-US" sz="1400" dirty="0"/>
          </a:p>
        </p:txBody>
      </p:sp>
      <p:sp>
        <p:nvSpPr>
          <p:cNvPr id="12" name="Shape 8"/>
          <p:cNvSpPr/>
          <p:nvPr/>
        </p:nvSpPr>
        <p:spPr>
          <a:xfrm>
            <a:off x="10104120" y="4846320"/>
            <a:ext cx="1600200" cy="1600200"/>
          </a:xfrm>
          <a:prstGeom prst="roundRect">
            <a:avLst>
              <a:gd name="adj" fmla="val 4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3" name="Image 2" descr="/home/claude/qr_colab.png">    </p:cNvPr>
          <p:cNvPicPr>
            <a:picLocks noChangeAspect="1"/>
          </p:cNvPicPr>
          <p:nvPr/>
        </p:nvPicPr>
        <p:blipFill>
          <a:blip r:embed="rId3"/>
          <a:stretch>
            <a:fillRect/>
          </a:stretch>
        </p:blipFill>
        <p:spPr>
          <a:xfrm>
            <a:off x="10264140" y="5006340"/>
            <a:ext cx="1280160" cy="1280160"/>
          </a:xfrm>
          <a:prstGeom prst="rect">
            <a:avLst/>
          </a:prstGeom>
        </p:spPr>
      </p:pic>
      <p:sp>
        <p:nvSpPr>
          <p:cNvPr id="14" name="Text 9"/>
          <p:cNvSpPr/>
          <p:nvPr/>
        </p:nvSpPr>
        <p:spPr>
          <a:xfrm>
            <a:off x="9692640" y="4553712"/>
            <a:ext cx="2423160" cy="256032"/>
          </a:xfrm>
          <a:prstGeom prst="rect">
            <a:avLst/>
          </a:prstGeom>
          <a:noFill/>
          <a:ln/>
        </p:spPr>
        <p:txBody>
          <a:bodyPr wrap="square" lIns="0" tIns="0" rIns="0" bIns="0" rtlCol="0" anchor="ctr"/>
          <a:lstStyle/>
          <a:p>
            <a:pPr algn="ctr" indent="0" marL="0">
              <a:buNone/>
            </a:pPr>
            <a:r>
              <a:rPr lang="en-US" sz="1050" b="1" dirty="0">
                <a:solidFill>
                  <a:srgbClr val="028090"/>
                </a:solidFill>
                <a:latin typeface="Arial" pitchFamily="34" charset="0"/>
                <a:ea typeface="Arial" pitchFamily="34" charset="-122"/>
                <a:cs typeface="Arial" pitchFamily="34" charset="-120"/>
              </a:rPr>
              <a:t>Scan to open in Colab</a:t>
            </a:r>
            <a:endParaRPr lang="en-US" sz="1050" dirty="0"/>
          </a:p>
        </p:txBody>
      </p:sp>
      <p:sp>
        <p:nvSpPr>
          <p:cNvPr id="15" name="Text 10"/>
          <p:cNvSpPr/>
          <p:nvPr/>
        </p:nvSpPr>
        <p:spPr>
          <a:xfrm>
            <a:off x="640080" y="6400800"/>
            <a:ext cx="548640" cy="274320"/>
          </a:xfrm>
          <a:prstGeom prst="rect">
            <a:avLst/>
          </a:prstGeom>
          <a:noFill/>
          <a:ln/>
        </p:spPr>
        <p:txBody>
          <a:bodyPr wrap="square" lIns="0" tIns="0" rIns="0" bIns="0" rtlCol="0" anchor="ctr"/>
          <a:lstStyle/>
          <a:p>
            <a:pPr algn="l" indent="0" marL="0">
              <a:buNone/>
            </a:pPr>
            <a:r>
              <a:rPr lang="en-US" sz="1000" dirty="0">
                <a:solidFill>
                  <a:srgbClr val="5C6B7A"/>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Trust Quotient (OTQ)</dc:title>
  <dc:subject>PptxGenJS Presentation</dc:subject>
  <dc:creator>Vernon T. Cox</dc:creator>
  <cp:lastModifiedBy>Vernon T. Cox</cp:lastModifiedBy>
  <cp:revision>1</cp:revision>
  <dcterms:created xsi:type="dcterms:W3CDTF">2026-06-18T18:28:21Z</dcterms:created>
  <dcterms:modified xsi:type="dcterms:W3CDTF">2026-06-18T18:28:21Z</dcterms:modified>
</cp:coreProperties>
</file>