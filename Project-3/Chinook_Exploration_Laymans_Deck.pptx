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44565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Track</c:v>
                  </c:pt>
                  <c:pt idx="1">
                    <c:v>InvoiceLine</c:v>
                  </c:pt>
                  <c:pt idx="2">
                    <c:v>PlaylistTrack</c:v>
                  </c:pt>
                  <c:pt idx="3">
                    <c:v>Playlist</c:v>
                  </c:pt>
                  <c:pt idx="4">
                    <c:v>Customer</c:v>
                  </c:pt>
                  <c:pt idx="5">
                    <c:v>Invoice</c:v>
                  </c:pt>
                  <c:pt idx="6">
                    <c:v>Album</c:v>
                  </c:pt>
                  <c:pt idx="7">
                    <c:v>Artist</c:v>
                  </c:pt>
                  <c:pt idx="8">
                    <c:v>Genre</c:v>
                  </c:pt>
                  <c:pt idx="9">
                    <c:v>MediaType</c:v>
                  </c:pt>
                  <c:pt idx="10">
                    <c:v>Employee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3503</c:v>
                </c:pt>
                <c:pt idx="1">
                  <c:v>2240</c:v>
                </c:pt>
                <c:pt idx="2">
                  <c:v>8715</c:v>
                </c:pt>
                <c:pt idx="3">
                  <c:v>18</c:v>
                </c:pt>
                <c:pt idx="4">
                  <c:v>59</c:v>
                </c:pt>
                <c:pt idx="5">
                  <c:v>412</c:v>
                </c:pt>
                <c:pt idx="6">
                  <c:v>347</c:v>
                </c:pt>
                <c:pt idx="7">
                  <c:v>275</c:v>
                </c:pt>
                <c:pt idx="8">
                  <c:v>25</c:v>
                </c:pt>
                <c:pt idx="9">
                  <c:v>5</c:v>
                </c:pt>
                <c:pt idx="10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44565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65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7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0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4F8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595360" y="118872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CNM DATA SCIENCE  ·  PROJECT 3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55448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Chinook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Database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731520" y="3749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tour of what's in the data, how much of it there is, and where in the world it comes from.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31520" y="5212080"/>
            <a:ext cx="45720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5394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Vernon T. Cox</a:t>
            </a:r>
            <a:pPr indent="0" marL="0">
              <a:buNone/>
            </a:pPr>
            <a:r>
              <a:rPr lang="en-US" sz="1500" dirty="0">
                <a:solidFill>
                  <a:srgbClr val="9FB3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Data Science Student, CNM   ·   GitHub: santed7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Chinook database?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the records for a small online music store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miniature version of something like the old iTunes Store.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keeps track of the music it sells, the people who buy it, the staff who help them, and a receipt for every purchase.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it's realistic but small, it's a perfect practice ground for asking business questions of data.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0" y="15544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Music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29400" y="26334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Artists, albums &amp; individual tracks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281160" y="15544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7830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09760" y="23317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People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9509760" y="26334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and support staff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0" y="33832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611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4160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Sales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629400" y="44622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for every purchase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9281160" y="3383280"/>
            <a:ext cx="26060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361188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509760" y="41605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Playlists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509760" y="446227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tracks are grouped together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questions we set out to answer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diving in, every exploration starts by asking the obvious things first.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560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0584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 here?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4160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kinds of information does the database actually store?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2628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2560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9204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much is there?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92040" y="4160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records exist — both per category and in total?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412480" y="2194560"/>
            <a:ext cx="35661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78240" y="25603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778240" y="2560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778240" y="3657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Where's it from?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78240" y="416052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different countries, states and cities show up?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943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1 — What's in here?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40080" y="1645920"/>
            <a:ext cx="3383280" cy="4023360"/>
          </a:xfrm>
          <a:prstGeom prst="rect">
            <a:avLst/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40080" y="210312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9600" dirty="0"/>
          </a:p>
        </p:txBody>
      </p:sp>
      <p:sp>
        <p:nvSpPr>
          <p:cNvPr id="6" name="Text 3"/>
          <p:cNvSpPr/>
          <p:nvPr/>
        </p:nvSpPr>
        <p:spPr>
          <a:xfrm>
            <a:off x="640080" y="3383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separate tables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3931920"/>
            <a:ext cx="2834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7D6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table is one neat list — like separate tabs in a spreadsheet, one per topic.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4805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table holds one kind of thing: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4480560" y="2194560"/>
            <a:ext cx="70408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Artists, Albums &amp; Tracks — the catalog of music itself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Genres &amp; Media Types — labels describing each track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the people buying music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— the staff supporting customers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&amp; Invoice Lines — the sales receipts</a:t>
            </a:r>
            <a:endParaRPr lang="en-US" sz="1700" dirty="0"/>
          </a:p>
          <a:p>
            <a:pPr marL="342900" indent="-342900">
              <a:lnSpc>
                <a:spcPts val="3000"/>
              </a:lnSpc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Playlists &amp; Playlist Tracks — how songs are grouped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480560" y="534924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a tiny but complete music-store business, end to end.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03504"/>
            <a:ext cx="457200" cy="4572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03504"/>
            <a:ext cx="457200" cy="4572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344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2 — How much is there?</a:t>
            </a:r>
            <a:endParaRPr lang="en-US" sz="3200" dirty="0"/>
          </a:p>
        </p:txBody>
      </p:sp>
      <p:sp>
        <p:nvSpPr>
          <p:cNvPr id="5" name="Text 1"/>
          <p:cNvSpPr/>
          <p:nvPr/>
        </p:nvSpPr>
        <p:spPr>
          <a:xfrm>
            <a:off x="640080" y="12801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tables are huge, some are tiny. The chart shows roughly how many records each holds.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7863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8869680" y="2194560"/>
            <a:ext cx="2651760" cy="246888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3"/>
          <p:cNvSpPr/>
          <p:nvPr/>
        </p:nvSpPr>
        <p:spPr>
          <a:xfrm>
            <a:off x="8869680" y="26517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15,600</a:t>
            </a:r>
            <a:endParaRPr lang="en-US" sz="4000" dirty="0"/>
          </a:p>
        </p:txBody>
      </p:sp>
      <p:sp>
        <p:nvSpPr>
          <p:cNvPr id="9" name="Text 4"/>
          <p:cNvSpPr/>
          <p:nvPr/>
        </p:nvSpPr>
        <p:spPr>
          <a:xfrm>
            <a:off x="8869680" y="35661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 total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F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11 tables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869680" y="484632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music catalog (tracks &amp; playlists) dwarfs everything else — exactly what you'd expect from a store.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03504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34440" y="5486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 3 — Where in the world?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40080" y="1325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lives with the customers and staff. Counting the unique places gives the store's reach.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21945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468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Countries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span two dozen nations worldwide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26280" y="21945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26280" y="2468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30+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452628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States / Regions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8463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state was recorded for the address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0" y="2194560"/>
            <a:ext cx="35661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412480" y="24688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</a:t>
            </a:r>
            <a:endParaRPr lang="en-US" sz="6400" dirty="0"/>
          </a:p>
        </p:txBody>
      </p:sp>
      <p:sp>
        <p:nvSpPr>
          <p:cNvPr id="15" name="Text 12"/>
          <p:cNvSpPr/>
          <p:nvPr/>
        </p:nvSpPr>
        <p:spPr>
          <a:xfrm>
            <a:off x="841248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0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Cities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732520" y="3931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cities customers call home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40080" y="4937760"/>
            <a:ext cx="10881360" cy="1280160"/>
          </a:xfrm>
          <a:prstGeom prst="rect">
            <a:avLst/>
          </a:prstGeom>
          <a:solidFill>
            <a:srgbClr val="0B202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525780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737360" y="507492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numbers are trustworthy:  </a:t>
            </a:r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DCEA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let the database count the distinct places directly, and blank entries are skipped automatically — so a missing address never inflates the totals.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8869680" y="3931920"/>
            <a:ext cx="2926080" cy="2926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772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takeaway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749808" y="1600200"/>
            <a:ext cx="457200" cy="64008"/>
          </a:xfrm>
          <a:prstGeom prst="rect">
            <a:avLst/>
          </a:prstGeom>
          <a:solidFill>
            <a:srgbClr val="02C39A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57400"/>
            <a:ext cx="457200" cy="4572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19659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whole little business  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B4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11 connected tables covering music, customers, staff and sales.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17520"/>
            <a:ext cx="4572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292608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 data is the music  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B4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~15,600 records in total, dominated by tracks and playlists.</a:t>
            </a:r>
            <a:endParaRPr lang="en-US" sz="17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97764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3040" y="388620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customer base  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B4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Buyers across 24 countries and 53 cities around the world.</a:t>
            </a:r>
            <a:endParaRPr lang="en-US" sz="17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937760"/>
            <a:ext cx="457200" cy="4572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63040" y="48463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ask questions of  </a:t>
            </a:r>
            <a:pPr indent="0" marL="0">
              <a:lnSpc>
                <a:spcPts val="2200"/>
              </a:lnSpc>
              <a:buNone/>
            </a:pPr>
            <a:r>
              <a:rPr lang="en-US" sz="1700" dirty="0">
                <a:solidFill>
                  <a:srgbClr val="B4C7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Clean, well-organized, and ideal for practicing real data work.</a:t>
            </a:r>
            <a:endParaRPr lang="en-US" sz="1700" dirty="0"/>
          </a:p>
        </p:txBody>
      </p:sp>
      <p:sp>
        <p:nvSpPr>
          <p:cNvPr id="13" name="Text 6"/>
          <p:cNvSpPr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3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 ·  Chinook SQLite Exploration  ·  Vernon T. Cox  ·  Data Science Student  ·  CNM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 the Chinook Music Database</dc:title>
  <dc:subject>PptxGenJS Presentation</dc:subject>
  <dc:creator>Vernon T. Cox (santed7)</dc:creator>
  <cp:lastModifiedBy>Vernon T. Cox (santed7)</cp:lastModifiedBy>
  <cp:revision>1</cp:revision>
  <dcterms:created xsi:type="dcterms:W3CDTF">2026-05-22T15:01:25Z</dcterms:created>
  <dcterms:modified xsi:type="dcterms:W3CDTF">2026-05-22T15:01:25Z</dcterms:modified>
</cp:coreProperties>
</file>