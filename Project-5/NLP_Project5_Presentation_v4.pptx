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7" autoAdjust="0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2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From short blurb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Biden</c:v>
                </c:pt>
                <c:pt idx="1">
                  <c:v>Clinton</c:v>
                </c:pt>
                <c:pt idx="2">
                  <c:v>Bush</c:v>
                </c:pt>
                <c:pt idx="3">
                  <c:v>Kerry</c:v>
                </c:pt>
                <c:pt idx="4">
                  <c:v>Reid</c:v>
                </c:pt>
                <c:pt idx="5">
                  <c:v>Pelosi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F1-4120-AFD7-4F88082EA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From full article</c:v>
                </c:pt>
              </c:strCache>
            </c:strRef>
          </c:tx>
          <c:spPr>
            <a:solidFill>
              <a:srgbClr val="FFB45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Biden</c:v>
                </c:pt>
                <c:pt idx="1">
                  <c:v>Clinton</c:v>
                </c:pt>
                <c:pt idx="2">
                  <c:v>Bush</c:v>
                </c:pt>
                <c:pt idx="3">
                  <c:v>Kerry</c:v>
                </c:pt>
                <c:pt idx="4">
                  <c:v>Reid</c:v>
                </c:pt>
                <c:pt idx="5">
                  <c:v>Pelosi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5</c:v>
                </c:pt>
                <c:pt idx="4">
                  <c:v>4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F1-4120-AFD7-4F88082EA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170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1708A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1708A"/>
                    </a:solidFill>
                    <a:latin typeface="Arial"/>
                  </a:rPr>
                  <a:t>Rank (1 = closest)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170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1708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3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928116"/>
            <a:ext cx="781812" cy="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928116"/>
            <a:ext cx="868680" cy="521208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82612" y="320040"/>
            <a:ext cx="868680" cy="521208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69480" y="1449324"/>
            <a:ext cx="781812" cy="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69480" y="1449324"/>
            <a:ext cx="0" cy="608076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51292" y="841248"/>
            <a:ext cx="173736" cy="1129284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51292" y="841248"/>
            <a:ext cx="868680" cy="694944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5028" y="1970532"/>
            <a:ext cx="694944" cy="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41364" y="868680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43750" y="281178"/>
            <a:ext cx="77724" cy="77724"/>
          </a:xfrm>
          <a:prstGeom prst="ellipse">
            <a:avLst/>
          </a:prstGeom>
          <a:solidFill>
            <a:srgbClr val="2EC4B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230618" y="1410462"/>
            <a:ext cx="77724" cy="777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91856" y="781812"/>
            <a:ext cx="118872" cy="118872"/>
          </a:xfrm>
          <a:prstGeom prst="ellipse">
            <a:avLst/>
          </a:prstGeom>
          <a:solidFill>
            <a:srgbClr val="2EC4B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86166" y="1931670"/>
            <a:ext cx="77724" cy="777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09410" y="2018538"/>
            <a:ext cx="77724" cy="77724"/>
          </a:xfrm>
          <a:prstGeom prst="ellipse">
            <a:avLst/>
          </a:prstGeom>
          <a:solidFill>
            <a:srgbClr val="2EC4B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860536" y="1476756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" y="3557016"/>
            <a:ext cx="576072" cy="0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" y="3557016"/>
            <a:ext cx="640080" cy="384048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8952" y="3108960"/>
            <a:ext cx="640080" cy="384048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3941064"/>
            <a:ext cx="576072" cy="0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3941064"/>
            <a:ext cx="0" cy="448056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399032" y="3493008"/>
            <a:ext cx="128016" cy="832104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99032" y="3493008"/>
            <a:ext cx="640080" cy="512064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527048" y="4325112"/>
            <a:ext cx="512064" cy="0"/>
          </a:xfrm>
          <a:prstGeom prst="line">
            <a:avLst/>
          </a:prstGeom>
          <a:noFill/>
          <a:ln w="12700">
            <a:solidFill>
              <a:srgbClr val="FFB45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23444" y="3497580"/>
            <a:ext cx="118872" cy="118872"/>
          </a:xfrm>
          <a:prstGeom prst="ellipse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0090" y="3070098"/>
            <a:ext cx="77724" cy="77724"/>
          </a:xfrm>
          <a:prstGeom prst="ellipse">
            <a:avLst/>
          </a:prstGeom>
          <a:solidFill>
            <a:srgbClr val="FFB45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84098" y="3902202"/>
            <a:ext cx="77724" cy="77724"/>
          </a:xfrm>
          <a:prstGeom prst="ellipse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39596" y="3433572"/>
            <a:ext cx="118872" cy="118872"/>
          </a:xfrm>
          <a:prstGeom prst="ellipse">
            <a:avLst/>
          </a:prstGeom>
          <a:solidFill>
            <a:srgbClr val="FFB45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88186" y="4286250"/>
            <a:ext cx="77724" cy="77724"/>
          </a:xfrm>
          <a:prstGeom prst="ellipse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00050" y="4350258"/>
            <a:ext cx="77724" cy="77724"/>
          </a:xfrm>
          <a:prstGeom prst="ellipse">
            <a:avLst/>
          </a:prstGeom>
          <a:solidFill>
            <a:srgbClr val="FFB45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979676" y="3945636"/>
            <a:ext cx="118872" cy="118872"/>
          </a:xfrm>
          <a:prstGeom prst="ellipse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 ·  NATURAL LANGUAGE PROCESSING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14173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a Computer to Read</a:t>
            </a:r>
            <a:endParaRPr lang="en-US" sz="4600" dirty="0"/>
          </a:p>
        </p:txBody>
      </p:sp>
      <p:sp>
        <p:nvSpPr>
          <p:cNvPr id="34" name="Text 32"/>
          <p:cNvSpPr/>
          <p:nvPr/>
        </p:nvSpPr>
        <p:spPr>
          <a:xfrm>
            <a:off x="658368" y="2514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famous people who “sound” the most alike — and why a machine can do it without understanding a single word.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8368" y="3977640"/>
            <a:ext cx="54864" cy="56692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" y="3931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Vernon T. Cox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—  Class Presentation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WE’RE ANSWERING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machine spot who’s alike?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short write-ups for tens of thousands of famous people. A human can skim two of them and say “these two are similar.” The goal: get a computer to do that judgment — fairly, and across the entire list at once.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218688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in the dataset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columns per person: a web address (URI), the name, and a paragraph-long overview.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532120" y="1417320"/>
            <a:ext cx="3063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32120" y="1417320"/>
            <a:ext cx="73152" cy="96012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42432" y="152704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42,785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333488" y="1527048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the list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2120" y="2532888"/>
            <a:ext cx="3063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532120" y="2532888"/>
            <a:ext cx="73152" cy="960120"/>
          </a:xfrm>
          <a:prstGeom prst="rect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42432" y="2642616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333488" y="2642616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person we choose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32120" y="3648456"/>
            <a:ext cx="3063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532120" y="3648456"/>
            <a:ext cx="73152" cy="9601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42432" y="375818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333488" y="3758184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matches we surface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words into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can’t “read,” but it can count. Two simple ideas do the heavy lifting: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121408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2307946"/>
            <a:ext cx="175565" cy="1755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1031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Score the </a:t>
            </a:r>
            <a:r>
              <a:rPr lang="en-US" sz="1450" b="1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r>
              <a:rPr lang="en-US" sz="1000" b="1" i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</a:t>
            </a:r>
            <a:r>
              <a:rPr lang="en-US" sz="1000" b="1" i="1">
                <a:solidFill>
                  <a:srgbClr val="0070C0"/>
                </a:solidFill>
              </a:rPr>
              <a:t>Term </a:t>
            </a:r>
            <a:r>
              <a:rPr lang="en-US" sz="1000" b="1" i="1" dirty="0">
                <a:solidFill>
                  <a:srgbClr val="0070C0"/>
                </a:solidFill>
              </a:rPr>
              <a:t>Frequency–Inverse </a:t>
            </a:r>
            <a:r>
              <a:rPr lang="en-US" sz="1000" b="1" i="1">
                <a:solidFill>
                  <a:srgbClr val="0070C0"/>
                </a:solidFill>
              </a:rPr>
              <a:t>Document Frequency] </a:t>
            </a:r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(TF-IDF)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27432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overview becomes a list of numbers. Common words like “the” barely count; rare, distinctive words (“goalkicker,” “senator”) count a lot — they’re what make a person’s story unique.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87452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19472" y="2121408"/>
            <a:ext cx="548640" cy="548640"/>
          </a:xfrm>
          <a:prstGeom prst="ellipse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010" y="2307946"/>
            <a:ext cx="175565" cy="1755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12140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Measure the overlap (cosine)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919472" y="27432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number-lists and get a single 0-to-1 score. Closer to 1 means the two descriptions “point the same way” — they share the distinctive words that matter.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703320"/>
            <a:ext cx="8046720" cy="960120"/>
          </a:xfrm>
          <a:prstGeom prst="rect">
            <a:avLst/>
          </a:prstGeom>
          <a:solidFill>
            <a:srgbClr val="162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7724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TWO GROCERY LISTS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77240" y="40782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shoppers buy mostly the same unusual items, they’re similar shoppers — even if you never read their names. Same trick, applied to words.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035040" y="4041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583680" y="404164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693408" y="4041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242048" y="404164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351776" y="4041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900416" y="404164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010144" y="4041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10 closest people — plus a mood reading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reference person — here, Barack Obama.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that person’s overview against all 42,785 others.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similarity and keep the top 10 — the nearest neighbors.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40690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3456432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3" y="3627425"/>
            <a:ext cx="160934" cy="1609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34564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sentiment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0233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score the tone of the reference write-up on a scale from −1 (negative) to +1 (positive). It tells us whether the text reads upbeat, neutral, or critical.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834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Illustrative: closest to Barack Obama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737360"/>
          <a:ext cx="3611880" cy="186537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Nearest person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A89B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Joe Biden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0.83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A89B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Hillary Clinton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0.79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A89B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George W. Bush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0.74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A89B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John Kerry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0.71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A89B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Bill Clinton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5"/>
                          </a:solidFill>
                        </a:rPr>
                        <a:t>0.68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983480" y="3456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plus 5 more, down to rank 10.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983480" y="3822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sentiment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83480" y="4114800"/>
            <a:ext cx="3611880" cy="182880"/>
          </a:xfrm>
          <a:prstGeom prst="rect">
            <a:avLst/>
          </a:prstGeom>
          <a:solidFill>
            <a:srgbClr val="DCE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784848" y="4114800"/>
            <a:ext cx="1234440" cy="18288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955280" y="4059936"/>
            <a:ext cx="292608" cy="292608"/>
          </a:xfrm>
          <a:prstGeom prst="ellipse">
            <a:avLst/>
          </a:prstGeom>
          <a:solidFill>
            <a:srgbClr val="1FA89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983480" y="43342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675120" y="43342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8138160" y="43342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full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blurbs only say so much. Here we pull each person’s entire Wikipedia article through the Wikipedia API, then ask: does reading more change who counts as “closest”?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52" y="2657612"/>
            <a:ext cx="134600" cy="13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full articles  </a:t>
            </a:r>
            <a:r>
              <a:rPr lang="en-US" sz="11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 the reference person and all 10 neighbors.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227832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52" y="3370844"/>
            <a:ext cx="134600" cy="134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1821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 on the full text  </a:t>
            </a:r>
            <a:r>
              <a:rPr lang="en-US" sz="11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 the same similarity scoring on the longer articles.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652" y="4084076"/>
            <a:ext cx="134600" cy="134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8953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rankings  </a:t>
            </a:r>
            <a:r>
              <a:rPr lang="en-US" sz="1150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rank difference shows how much the longer text shifted things.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9834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Illustrative: blurb rank vs. full-article rank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937760" y="1691640"/>
          <a:ext cx="37490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yourself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step turns the notebook into a tool. Type or pick any name in the dataset and the 10 closest people appear instantly — no code required.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642616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487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name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054096"/>
            <a:ext cx="457200" cy="457200"/>
          </a:xfrm>
          <a:prstGeom prst="ellipse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209544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054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runs the match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621024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776472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621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top 10 instantly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937760" y="1463040"/>
            <a:ext cx="365760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solidFill>
            <a:srgbClr val="162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5138928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similar people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166360" y="2103120"/>
            <a:ext cx="2514600" cy="41148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30352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Barack Obama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772400" y="210312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303" y="2243023"/>
            <a:ext cx="131674" cy="13167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166360" y="2697480"/>
            <a:ext cx="32004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285232" y="2788920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596128" y="2697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Biden · 0.83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166360" y="3118104"/>
            <a:ext cx="3200400" cy="384048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5285232" y="3209544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596128" y="31181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Hillary Clinton · 0.79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166360" y="3538728"/>
            <a:ext cx="32004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5285232" y="3630168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5596128" y="3538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W. Bush · 0.74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166360" y="3959352"/>
            <a:ext cx="3200400" cy="384048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285232" y="4050792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596128" y="39593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Kerry · 0.71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548640" y="4315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of the 42,785 names in the dataset — results update instantly.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589020"/>
            <a:ext cx="617220" cy="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3589020"/>
            <a:ext cx="685800" cy="41148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66660" y="3108960"/>
            <a:ext cx="685800" cy="41148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35240" y="4000500"/>
            <a:ext cx="617220" cy="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4000500"/>
            <a:ext cx="0" cy="48006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52460" y="3520440"/>
            <a:ext cx="137160" cy="89154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52460" y="3520440"/>
            <a:ext cx="685800" cy="54864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89620" y="4411980"/>
            <a:ext cx="548640" cy="0"/>
          </a:xfrm>
          <a:prstGeom prst="line">
            <a:avLst/>
          </a:prstGeom>
          <a:noFill/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90004" y="3529584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27798" y="3070098"/>
            <a:ext cx="77724" cy="77724"/>
          </a:xfrm>
          <a:prstGeom prst="ellipse">
            <a:avLst/>
          </a:prstGeom>
          <a:solidFill>
            <a:srgbClr val="2EC4B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96378" y="3961638"/>
            <a:ext cx="77724" cy="777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93024" y="3461004"/>
            <a:ext cx="118872" cy="118872"/>
          </a:xfrm>
          <a:prstGeom prst="ellipse">
            <a:avLst/>
          </a:prstGeom>
          <a:solidFill>
            <a:srgbClr val="2EC4B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50758" y="4373118"/>
            <a:ext cx="77724" cy="777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84898" y="4441698"/>
            <a:ext cx="77724" cy="77724"/>
          </a:xfrm>
          <a:prstGeom prst="ellipse">
            <a:avLst/>
          </a:prstGeom>
          <a:solidFill>
            <a:srgbClr val="2EC4B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878824" y="4009644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74980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shows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58368" y="1600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755648"/>
            <a:ext cx="146304" cy="14630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0160" y="1554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without understanding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never “knows” who anyone is. Clever counting and a little geometry are enough to rank who’s alike.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58368" y="2514600"/>
            <a:ext cx="457200" cy="457200"/>
          </a:xfrm>
          <a:prstGeom prst="ellipse">
            <a:avLst/>
          </a:prstGeom>
          <a:solidFill>
            <a:srgbClr val="FFB4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670048"/>
            <a:ext cx="146304" cy="14630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280160" y="2468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real products work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drives recommendations, search results, plagiarism checks, and chatbot retrieval.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58368" y="342900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584448"/>
            <a:ext cx="146304" cy="14630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80160" y="3383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can change the answer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articles re-ranked the neighbors vs. short blurbs — how much text you feed a model matters.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446520" y="1600200"/>
            <a:ext cx="2103120" cy="2606040"/>
          </a:xfrm>
          <a:prstGeom prst="rect">
            <a:avLst/>
          </a:prstGeom>
          <a:solidFill>
            <a:srgbClr val="1F2F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6446520" y="1600200"/>
            <a:ext cx="2103120" cy="54864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62940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629400" y="214884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(TF-IDF, cosine)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API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widgets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658368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 — from one name to its ten closest stories — runs on text alone.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750</Words>
  <Application>Microsoft Office PowerPoint</Application>
  <PresentationFormat>On-screen Show (16:9)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5 — Natural Language Processing</dc:title>
  <dc:subject>PptxGenJS Presentation</dc:subject>
  <dc:creator>Vernon T. Cox</dc:creator>
  <cp:lastModifiedBy>Vernon Cox</cp:lastModifiedBy>
  <cp:revision>2</cp:revision>
  <dcterms:created xsi:type="dcterms:W3CDTF">2026-05-29T12:28:05Z</dcterms:created>
  <dcterms:modified xsi:type="dcterms:W3CDTF">2026-05-29T22:17:50Z</dcterms:modified>
</cp:coreProperties>
</file>