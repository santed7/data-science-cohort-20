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78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3946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0"/>
            <a:ext cx="2560320" cy="1097280"/>
          </a:xfrm>
          <a:prstGeom prst="rect">
            <a:avLst/>
          </a:prstGeom>
          <a:solidFill>
            <a:srgbClr val="2A3A80"/>
          </a:solidFill>
          <a:ln w="12700">
            <a:solidFill>
              <a:srgbClr val="2A3A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0" y="0"/>
            <a:ext cx="1371600" cy="2286000"/>
          </a:xfrm>
          <a:prstGeom prst="rect">
            <a:avLst/>
          </a:prstGeom>
          <a:solidFill>
            <a:srgbClr val="1A3170"/>
          </a:solidFill>
          <a:ln w="12700">
            <a:solidFill>
              <a:srgbClr val="1A31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8AAEE0"/>
                </a:solidFill>
              </a:rPr>
              <a:t>HOUSING  ·  DATA  ·  PRIVACY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91440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Price</a:t>
            </a:r>
            <a:endParaRPr lang="en-US" sz="5200" dirty="0"/>
          </a:p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11480" y="27889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ADCFC"/>
                </a:solidFill>
              </a:rPr>
              <a:t>A step-by-step model for estimating home values · 2,930 homes · Ames, Iowa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A3A80"/>
          </a:solidFill>
          <a:ln w="12700">
            <a:solidFill>
              <a:srgbClr val="2A3A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4754880"/>
            <a:ext cx="8229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AEE0"/>
                </a:solidFill>
              </a:rPr>
              <a:t>Project 2  ·  Vernon T. Cox  ·  santed7  ·  1 / 12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Table of Contents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32688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50292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932688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98755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What Are We Trying to Do?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2618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What we are trying to solve and what data we have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00600" y="932688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00600" y="932688"/>
            <a:ext cx="50292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00600" y="932688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94960" y="98755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How the Model Works — Step by Step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94960" y="12618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How the model is organized from start to finish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1737360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" y="1737360"/>
            <a:ext cx="50292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" y="173736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179222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What We Found When We Looked at the Data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06654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What we discovered when we first looked at the data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0600" y="1737360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00600" y="1737360"/>
            <a:ext cx="50292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00600" y="173736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94960" y="179222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Testing Our Model: 9 Versions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94960" y="206654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Testing different versions of our model to find the most accurate one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2542032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0040" y="2542032"/>
            <a:ext cx="50292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0040" y="2542032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4400" y="259689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Feature Selection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287121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Figuring out which home features matter most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00600" y="2542032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00600" y="2542032"/>
            <a:ext cx="50292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00600" y="2542032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94960" y="259689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Data Anonymization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94960" y="287121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Protecting homeowner identities in our results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" y="3346704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20040" y="3346704"/>
            <a:ext cx="50292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20040" y="3346704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</a:rPr>
              <a:t>07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14400" y="340156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How We Can Make This Even Better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14400" y="36758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Ideas for making the project even better in the future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00600" y="3346704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800600" y="3346704"/>
            <a:ext cx="50292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800600" y="3346704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</a:rPr>
              <a:t>08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394960" y="340156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Summary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394960" y="36758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 quick look back at everything we accomplished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20040" y="4233672"/>
            <a:ext cx="850392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8AAE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320040" y="4233672"/>
            <a:ext cx="64008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93776" y="423367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AI Assistance: </a:t>
            </a:r>
            <a:r>
              <a:rPr lang="en-US" sz="1000" dirty="0">
                <a:solidFill>
                  <a:srgbClr val="1E293B"/>
                </a:solidFill>
              </a:rPr>
              <a:t>Artificial intelligence tools were used to help plan, organize, and build this project — including how it was structured, the code behind it, and this presentation.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A3A80"/>
          </a:solidFill>
          <a:ln w="12700">
            <a:solidFill>
              <a:srgbClr val="2A3A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11480" y="4754880"/>
            <a:ext cx="6858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AEE0"/>
                </a:solidFill>
              </a:rPr>
              <a:t>Vernon T. Cox  ·  Project 2: Housing Price Prediction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772400" y="4754880"/>
            <a:ext cx="11887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AEE0"/>
                </a:solidFill>
              </a:rPr>
              <a:t>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Problem Definition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5176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ADCFC"/>
                </a:solidFill>
              </a:rPr>
              <a:t>2,930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162763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AEE0"/>
                </a:solidFill>
              </a:rPr>
              <a:t>homes in our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AAEE0"/>
                </a:solidFill>
              </a:rPr>
              <a:t>dataset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0" y="960120"/>
            <a:ext cx="265176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0" y="10515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ADCFC"/>
                </a:solidFill>
              </a:rPr>
              <a:t>82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474720" y="162763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AEE0"/>
                </a:solidFill>
              </a:rPr>
              <a:t>different things we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AAEE0"/>
                </a:solidFill>
              </a:rPr>
              <a:t>know about each home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83680" y="960120"/>
            <a:ext cx="265176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0" y="10515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ADCFC"/>
                </a:solidFill>
              </a:rPr>
              <a:t>RMSPE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583680" y="162763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AEE0"/>
                </a:solidFill>
              </a:rPr>
              <a:t>our accuracy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AAEE0"/>
                </a:solidFill>
              </a:rPr>
              <a:t>goal: predict price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514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The Problem We Are Solving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5760" y="2834640"/>
            <a:ext cx="8412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2926080"/>
            <a:ext cx="8046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Traditional home appraisals</a:t>
            </a:r>
            <a:r>
              <a:rPr lang="en-US" sz="1300" dirty="0">
                <a:solidFill>
                  <a:srgbClr val="1E293B"/>
                </a:solidFill>
              </a:rPr>
              <a:t> are done by hand — they take time, cost money, and people make mistakes. This project builds a model that: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  Estimates a home's sale price based on its features and location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  Focuses on the most useful information to avoid over-complicating the prediction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  Protects homeowner privacy before sharing any results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A3A80"/>
          </a:solidFill>
          <a:ln w="12700">
            <a:solidFill>
              <a:srgbClr val="2A3A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4754880"/>
            <a:ext cx="6858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AEE0"/>
                </a:solidFill>
              </a:rPr>
              <a:t>Vernon T. Cox  ·  Project 2: Housing Price Prediction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0" y="4754880"/>
            <a:ext cx="11887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AEE0"/>
                </a:solidFill>
              </a:rPr>
              <a:t>4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What Is RMSPE?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ADCFC"/>
                </a:solidFill>
              </a:rPr>
              <a:t>Root Mean Squared Percentage Error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719072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2066544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066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33272" y="1810512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The model predicts a price for each home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33272" y="2121408"/>
            <a:ext cx="3364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For every home in our dataset, the model takes what it knows and produces an estimated sale price.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82312" y="1719072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919472" y="2066544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19472" y="2066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95544" y="1810512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We compare predictions to real prices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95544" y="2121408"/>
            <a:ext cx="3364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Each predicted price is measured against the actual price the home sold for — showing how far off the model was.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072384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3419856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419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33272" y="3163824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The error is expressed as a percentage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033272" y="3474720"/>
            <a:ext cx="3364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Instead of a dollar amount, we use percentages — a 20,000 miss on a 200,000 home counts as 10% error.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82312" y="3072384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919472" y="3419856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19472" y="3419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95544" y="3163824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We average and take the square root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95544" y="3474720"/>
            <a:ext cx="3364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All errors are combined into one number. A lower RMSPE means more accuracy — our best model scored 0.118, or about 11.8% error on average.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A3A80"/>
          </a:solidFill>
          <a:ln w="12700">
            <a:solidFill>
              <a:srgbClr val="2A3A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11480" y="4754880"/>
            <a:ext cx="6858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AEE0"/>
                </a:solidFill>
              </a:rPr>
              <a:t>Vernon T. Cox  ·  Project 2: Housing Price Prediction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0" y="4754880"/>
            <a:ext cx="11887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AEE0"/>
                </a:solidFill>
              </a:rPr>
              <a:t>3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How Our Model Works — Step by Step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1005840"/>
            <a:ext cx="1078992" cy="100584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1005840"/>
            <a:ext cx="1078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1: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Get Data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344168" y="1472184"/>
            <a:ext cx="13716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444752" y="1005840"/>
            <a:ext cx="1078992" cy="100584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444752" y="1005840"/>
            <a:ext cx="1078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2: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Explore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32888" y="1472184"/>
            <a:ext cx="13716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633472" y="1005840"/>
            <a:ext cx="1078992" cy="100584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33472" y="1005840"/>
            <a:ext cx="1078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3: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Clean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21608" y="1472184"/>
            <a:ext cx="13716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822192" y="1005840"/>
            <a:ext cx="1078992" cy="10058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22192" y="1005840"/>
            <a:ext cx="1078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4: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Build Models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10328" y="1472184"/>
            <a:ext cx="13716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010912" y="1005840"/>
            <a:ext cx="1078992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10912" y="1005840"/>
            <a:ext cx="1078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5: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Pick Best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99048" y="1472184"/>
            <a:ext cx="13716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199632" y="1005840"/>
            <a:ext cx="1078992" cy="1005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99632" y="1005840"/>
            <a:ext cx="1078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6: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Predict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287768" y="1472184"/>
            <a:ext cx="13716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388352" y="1005840"/>
            <a:ext cx="1078992" cy="100584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388352" y="1005840"/>
            <a:ext cx="1078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7: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Protect Privacy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51776" y="969264"/>
            <a:ext cx="1152144" cy="1078992"/>
          </a:xfrm>
          <a:prstGeom prst="rect">
            <a:avLst/>
          </a:prstGeom>
          <a:solidFill>
            <a:srgbClr val="000000">
              <a:alpha val="0"/>
            </a:srgbClr>
          </a:solidFill>
          <a:ln w="25400">
            <a:solidFill>
              <a:srgbClr val="9333E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2194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Important Choices We Made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56032" y="2542032"/>
            <a:ext cx="2103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56032" y="2542032"/>
            <a:ext cx="64008" cy="123444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93192" y="26334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Original data kept safe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93192" y="2889504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We always worked on a copy — the original data was never changed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468880" y="2542032"/>
            <a:ext cx="2103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468880" y="2542032"/>
            <a:ext cx="64008" cy="123444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606040" y="26334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Prices adjusted for better math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606040" y="2889504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Home prices vary a lot, so we adjusted the numbers to make predictions more accurate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81728" y="2542032"/>
            <a:ext cx="2103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681728" y="2542032"/>
            <a:ext cx="64008" cy="123444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18888" y="26334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Chosen to handle unusual prices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18888" y="2889504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Some homes had extreme prices, so we used a method that is not thrown off by outliers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894576" y="2542032"/>
            <a:ext cx="2103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894576" y="2542032"/>
            <a:ext cx="64008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031736" y="26334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Best version of our model chosen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031736" y="2889504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Keeps all useful home features in the model while reducing noise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A3A80"/>
          </a:solidFill>
          <a:ln w="12700">
            <a:solidFill>
              <a:srgbClr val="2A3A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11480" y="4754880"/>
            <a:ext cx="6858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AEE0"/>
                </a:solidFill>
              </a:rPr>
              <a:t>Vernon T. Cox  ·  Project 2: Housing Price Prediction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772400" y="4754880"/>
            <a:ext cx="11887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AEE0"/>
                </a:solidFill>
              </a:rPr>
              <a:t>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Exploratory Data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34AB7"/>
                </a:solidFill>
              </a:rPr>
              <a:t>What We Noticed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4206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54864" cy="56692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0352" y="130759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Most homes are moderately priced, but a few very expensive homes skew the averages — so we adjusted for that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4206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54864" cy="56692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30352" y="196596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Overall quality and total living area are the biggest drivers of price — more than anything else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578608"/>
            <a:ext cx="4206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2578608"/>
            <a:ext cx="54864" cy="56692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30352" y="262432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Location matters enormously — the same house can be worth very different amounts in different neighborhoods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236976"/>
            <a:ext cx="4206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3236976"/>
            <a:ext cx="54864" cy="56692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0352" y="3282696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A few unusually large homes were found — we made sure our model was not fooled by them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895344"/>
            <a:ext cx="4206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3895344"/>
            <a:ext cx="54864" cy="56692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0352" y="3941064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Some home details were missing — we filled gaps using the most common or middle values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46320" y="9144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34AB7"/>
                </a:solidFill>
              </a:rPr>
              <a:t>Which Home Features Are Most Linked to Price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1426464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OverallQual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80760" y="1426464"/>
            <a:ext cx="2592324" cy="32004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718804" y="142646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34AB7"/>
                </a:solidFill>
              </a:rPr>
              <a:t>0.81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2084832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GrLivArea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80760" y="2084832"/>
            <a:ext cx="2272284" cy="32004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398764" y="208483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34AB7"/>
                </a:solidFill>
              </a:rPr>
              <a:t>0.71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274320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GarageCars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80760" y="2743200"/>
            <a:ext cx="2048256" cy="32004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174736" y="27432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34AB7"/>
                </a:solidFill>
              </a:rPr>
              <a:t>0.64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46320" y="340156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TotalBsmtSF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80760" y="3401568"/>
            <a:ext cx="1952244" cy="32004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078724" y="340156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34AB7"/>
                </a:solidFill>
              </a:rPr>
              <a:t>0.61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46320" y="4059936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1stFlrSF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80760" y="4059936"/>
            <a:ext cx="1920240" cy="32004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046720" y="405993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34AB7"/>
                </a:solidFill>
              </a:rPr>
              <a:t>0.60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A3A80"/>
          </a:solidFill>
          <a:ln w="12700">
            <a:solidFill>
              <a:srgbClr val="2A3A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11480" y="4754880"/>
            <a:ext cx="6858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AEE0"/>
                </a:solidFill>
              </a:rPr>
              <a:t>Vernon T. Cox  ·  Project 2: Housing Price Prediction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772400" y="4754880"/>
            <a:ext cx="11887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AEE0"/>
                </a:solidFill>
              </a:rPr>
              <a:t>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Finding the Most Accurate Version of Our Model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74520" y="914400"/>
            <a:ext cx="2011680" cy="41148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74520" y="914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74151"/>
                </a:solidFill>
              </a:rPr>
              <a:t>Method 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374151"/>
                </a:solidFill>
              </a:rPr>
              <a:t>(standard)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0" y="914400"/>
            <a:ext cx="2011680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0" y="914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Method 2 ✓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(outlier-safe)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55080" y="914400"/>
            <a:ext cx="2011680" cy="41148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355080" y="914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74151"/>
                </a:solidFill>
              </a:rPr>
              <a:t>Method 3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374151"/>
                </a:solidFill>
              </a:rPr>
              <a:t>(0-1 scale)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" y="1417320"/>
            <a:ext cx="1508760" cy="74980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6032" y="1417320"/>
            <a:ext cx="1508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74151"/>
                </a:solidFill>
              </a:rPr>
              <a:t>Basic Model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374151"/>
                </a:solidFill>
              </a:rPr>
              <a:t>(straight line)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" y="2331720"/>
            <a:ext cx="150876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6032" y="2331720"/>
            <a:ext cx="1508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Smart Model ✓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(balanced)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6032" y="3246120"/>
            <a:ext cx="1508760" cy="74980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56032" y="3246120"/>
            <a:ext cx="1508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74151"/>
                </a:solidFill>
              </a:rPr>
              <a:t>Selective Model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374151"/>
                </a:solidFill>
              </a:rPr>
              <a:t>(trims extras)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74520" y="1417320"/>
            <a:ext cx="20116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874520" y="141732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0.148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114800" y="1417320"/>
            <a:ext cx="20116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800" y="141732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0.132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55080" y="1417320"/>
            <a:ext cx="20116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55080" y="141732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0.151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874520" y="2331720"/>
            <a:ext cx="20116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874520" y="233172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0.141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114800" y="2331720"/>
            <a:ext cx="2011680" cy="749808"/>
          </a:xfrm>
          <a:prstGeom prst="rect">
            <a:avLst/>
          </a:prstGeom>
          <a:solidFill>
            <a:srgbClr val="ECFDF5"/>
          </a:solidFill>
          <a:ln w="254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114800" y="233172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</a:rPr>
              <a:t>0.118 ★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55080" y="2331720"/>
            <a:ext cx="20116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55080" y="233172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0.129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874520" y="3246120"/>
            <a:ext cx="20116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874520" y="324612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0.149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114800" y="3246120"/>
            <a:ext cx="20116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114800" y="324612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0.126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355080" y="3246120"/>
            <a:ext cx="20116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355080" y="324612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0.139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256032" y="41605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</a:rPr>
              <a:t>★ Best result — confirmed by testing each version of the model on 5 different portions of the data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A3A80"/>
          </a:solidFill>
          <a:ln w="12700">
            <a:solidFill>
              <a:srgbClr val="2A3A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11480" y="4754880"/>
            <a:ext cx="6858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AEE0"/>
                </a:solidFill>
              </a:rPr>
              <a:t>Vernon T. Cox  ·  Project 2: Housing Price Prediction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772400" y="4754880"/>
            <a:ext cx="11887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AEE0"/>
                </a:solidFill>
              </a:rPr>
              <a:t>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Which Home Features Actually Matter?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160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16052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91440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How We Narrowed Down the Features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38404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Think of it like packing a suitcase with a strict weight limit:
</a:t>
            </a:r>
            <a:r>
              <a:rPr lang="en-US" sz="1150" b="1" dirty="0">
                <a:solidFill>
                  <a:srgbClr val="1E293B"/>
                </a:solidFill>
              </a:rPr>
              <a:t>    Only the most useful items make the cut.
</a:t>
            </a:r>
            <a:r>
              <a:rPr lang="en-US" sz="1150" dirty="0">
                <a:solidFill>
                  <a:srgbClr val="1E293B"/>
                </a:solidFill>
              </a:rPr>
              <a:t>The computer automatically drops home details that do not help predict price — keeping only what truly matters.
</a:t>
            </a:r>
            <a:r>
              <a:rPr lang="en-US" sz="1150" b="1" dirty="0">
                <a:solidFill>
                  <a:srgbClr val="1E293B"/>
                </a:solidFill>
              </a:rPr>
              <a:t>Project goal:</a:t>
            </a:r>
            <a:r>
              <a:rPr lang="en-US" sz="1150" dirty="0">
                <a:solidFill>
                  <a:srgbClr val="1E293B"/>
                </a:solidFill>
              </a:rPr>
              <a:t> use as few home features as possible while still predicting prices accurately.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4160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160520" cy="41148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63440" y="91440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Home Features That Made the Cut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417320"/>
            <a:ext cx="201168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47488" y="14173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Overall quality rating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728216"/>
            <a:ext cx="201168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47488" y="172821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Total living area (sq ft)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039112"/>
            <a:ext cx="201168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47488" y="20391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Garage capacity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350008"/>
            <a:ext cx="201168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47488" y="23500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Basement size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660904"/>
            <a:ext cx="201168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47488" y="26609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Year built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971800"/>
            <a:ext cx="201168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47488" y="29718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Neighborhood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3282696"/>
            <a:ext cx="201168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47488" y="328269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Exterior quality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593592"/>
            <a:ext cx="201168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47488" y="35935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Main floor size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3904488"/>
            <a:ext cx="201168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47488" y="39044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Finished basement area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4215384"/>
            <a:ext cx="201168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47488" y="421538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Full bathrooms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A3A80"/>
          </a:solidFill>
          <a:ln w="12700">
            <a:solidFill>
              <a:srgbClr val="2A3A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11480" y="4754880"/>
            <a:ext cx="6858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AEE0"/>
                </a:solidFill>
              </a:rPr>
              <a:t>Vernon T. Cox  ·  Project 2: Housing Price Prediction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772400" y="4754880"/>
            <a:ext cx="11887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AEE0"/>
                </a:solidFill>
              </a:rPr>
              <a:t>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Protecting Homeowner Privacy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777240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64008" cy="77724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9875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Once we finish predicting prices, we remove all personal details before sharing results with anyone. This step makes sure no one can figure out whose home is whose.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874520"/>
            <a:ext cx="27432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463040" y="1965960"/>
            <a:ext cx="457200" cy="457200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4630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9768" y="251460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Remove Personal Details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926080"/>
            <a:ext cx="2468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Delete names, addresses, and any other details that could identify who owns a home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18104" y="2212848"/>
            <a:ext cx="91440" cy="14630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27832" y="1874520"/>
            <a:ext cx="27432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370832" y="1965960"/>
            <a:ext cx="457200" cy="457200"/>
          </a:xfrm>
          <a:prstGeom prst="ellipse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370832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37560" y="251460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Give Each Home a Code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64992" y="2926080"/>
            <a:ext cx="2468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Each home gets a simple label like Home_001, Home_002 — so data stays organized without revealing anyone's identity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25896" y="2212848"/>
            <a:ext cx="91440" cy="14630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135624" y="1874520"/>
            <a:ext cx="27432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278624" y="1965960"/>
            <a:ext cx="457200" cy="4572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278624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45352" y="251460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Share Results Safely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72784" y="2926080"/>
            <a:ext cx="2468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The final file only includes the home's features, our predicted price, and a code number — nothing personal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4526280"/>
            <a:ext cx="8503920" cy="41148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11480" y="452628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df_anon = df_output.drop(columns=pii_cols).assign(ClientID=[f"Client_{i+1:03d}" for i in range(len(df_output))])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A3A80"/>
          </a:solidFill>
          <a:ln w="12700">
            <a:solidFill>
              <a:srgbClr val="2A3A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11480" y="4754880"/>
            <a:ext cx="6858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AEE0"/>
                </a:solidFill>
              </a:rPr>
              <a:t>Vernon T. Cox  ·  Project 2: Housing Price Prediction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0" y="4754880"/>
            <a:ext cx="11887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AEE0"/>
                </a:solidFill>
              </a:rPr>
              <a:t>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Future Needs &amp; Extensions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91440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56032" y="914400"/>
            <a:ext cx="64008" cy="123444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502152" y="987552"/>
            <a:ext cx="886968" cy="25603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502152" y="987552"/>
            <a:ext cx="886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Modeling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20624" y="1005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Upgrade to more powerful models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0624" y="1298448"/>
            <a:ext cx="3913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Test more advanced models — like combining several models together — to get even more accurate price predictions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91440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64008" cy="123444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955280" y="987552"/>
            <a:ext cx="886968" cy="25603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955280" y="987552"/>
            <a:ext cx="886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Features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873752" y="1005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Find smarter combinations of home features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73752" y="1298448"/>
            <a:ext cx="3913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Explore whether combining home features together — like size multiplied by quality — leads to better predictions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6032" y="228600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56032" y="2286000"/>
            <a:ext cx="64008" cy="123444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502152" y="2359152"/>
            <a:ext cx="886968" cy="256032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502152" y="2359152"/>
            <a:ext cx="886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Privacy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20624" y="2377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Build a permanent privacy protection tool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20624" y="2670048"/>
            <a:ext cx="3913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Create a reusable, tested tool that automatically removes personal details every time results are shared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228600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09160" y="2286000"/>
            <a:ext cx="64008" cy="123444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955280" y="2359152"/>
            <a:ext cx="886968" cy="256032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955280" y="2359152"/>
            <a:ext cx="886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Validation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73752" y="2377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Test on homes outside of Ames, Iowa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73752" y="2670048"/>
            <a:ext cx="3913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See whether our model works just as well on homes from other cities — not just Ames, Iowa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6032" y="365760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56032" y="3657600"/>
            <a:ext cx="64008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502152" y="3730752"/>
            <a:ext cx="886968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502152" y="3730752"/>
            <a:ext cx="886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Optimization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20624" y="3749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Fine-tune the model settings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20624" y="4041648"/>
            <a:ext cx="3913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Systematically test more model settings to squeeze out better accuracy — we have only scratched the surface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09160" y="365760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709160" y="3657600"/>
            <a:ext cx="64008" cy="1234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955280" y="3730752"/>
            <a:ext cx="886968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955280" y="3730752"/>
            <a:ext cx="886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Deployment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873752" y="3749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Build a simple tool anyone can use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73752" y="4041648"/>
            <a:ext cx="3913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Create a simple website where anyone can type in a home's details and instantly get a predicted price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A3A80"/>
          </a:solidFill>
          <a:ln w="12700">
            <a:solidFill>
              <a:srgbClr val="2A3A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11480" y="4754880"/>
            <a:ext cx="6858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AEE0"/>
                </a:solidFill>
              </a:rPr>
              <a:t>Vernon T. Cox  ·  Project 2: Housing Price Prediction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772400" y="4754880"/>
            <a:ext cx="11887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AEE0"/>
                </a:solidFill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1A3170"/>
          </a:solidFill>
          <a:ln w="12700">
            <a:solidFill>
              <a:srgbClr val="1A31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Project Summary — What We Accomplished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7132320" cy="5029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</a:rPr>
              <a:t>✦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04672" y="118872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2,930 homes from Ames, Iowa · 82 things we knew about each home · goal was to predict price as accurately as possible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783080"/>
            <a:ext cx="7132320" cy="5029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</a:rPr>
              <a:t>✦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178308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7 clear steps: get the data → explore it → clean it → build the model → pick the best version → predict prices → protect privacy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2377440"/>
            <a:ext cx="7132320" cy="5029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37744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</a:rPr>
              <a:t>✦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" y="237744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Our best model was tested 5 different ways to make sure it really works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2971800"/>
            <a:ext cx="7132320" cy="5029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297180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</a:rPr>
              <a:t>✦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4672" y="297180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We kept only the home features that truly matter — no unnecessary information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3566160"/>
            <a:ext cx="7132320" cy="5029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56616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</a:rPr>
              <a:t>✦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4672" y="356616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All personal homeowner details are removed before any results are shared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4160520"/>
            <a:ext cx="7132320" cy="5029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416052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</a:rPr>
              <a:t>✦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4672" y="416052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Next steps: upgrade the model, fine-tune its settings, and build a tool anyone can use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A3A80"/>
          </a:solidFill>
          <a:ln w="12700">
            <a:solidFill>
              <a:srgbClr val="2A3A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1480" y="4754880"/>
            <a:ext cx="6858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AEE0"/>
                </a:solidFill>
              </a:rPr>
              <a:t>Vernon T. Cox  ·  Project 2: Housing Price Prediction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72400" y="4754880"/>
            <a:ext cx="11887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AEE0"/>
                </a:solidFill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1A3170"/>
          </a:solidFill>
          <a:ln w="12700">
            <a:solidFill>
              <a:srgbClr val="1A31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583680" y="3840480"/>
            <a:ext cx="2560320" cy="1303020"/>
          </a:xfrm>
          <a:prstGeom prst="rect">
            <a:avLst/>
          </a:prstGeom>
          <a:solidFill>
            <a:srgbClr val="2A3A80"/>
          </a:solidFill>
          <a:ln w="12700">
            <a:solidFill>
              <a:srgbClr val="2A3A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903720" y="365760"/>
            <a:ext cx="1463040" cy="146304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903720" y="36576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0D9488"/>
                </a:solidFill>
              </a:rPr>
              <a:t>?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411480" y="9144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11480" y="19659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ADCFC"/>
                </a:solidFill>
              </a:rPr>
              <a:t>Thank you for your time.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A3A80"/>
          </a:solidFill>
          <a:ln w="12700">
            <a:solidFill>
              <a:srgbClr val="2A3A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4754880"/>
            <a:ext cx="83210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AEE0"/>
                </a:solidFill>
              </a:rPr>
              <a:t>Vernon T. Cox  ·  Project 2: Housing Price Prediction  ·  12 /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1425</Words>
  <Application>Microsoft Office PowerPoint</Application>
  <PresentationFormat>On-screen Show (16:9)</PresentationFormat>
  <Paragraphs>219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2: Housing Price Prediction</dc:title>
  <dc:subject>PptxGenJS Presentation</dc:subject>
  <dc:creator>PptxGenJS</dc:creator>
  <cp:lastModifiedBy>COX, VERNON</cp:lastModifiedBy>
  <cp:revision>2</cp:revision>
  <dcterms:created xsi:type="dcterms:W3CDTF">2026-04-14T22:37:01Z</dcterms:created>
  <dcterms:modified xsi:type="dcterms:W3CDTF">2026-04-14T23:07:03Z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8bb7484-22c2-4b98-9fb8-3ab13d821527_Enabled">
    <vt:lpwstr>true</vt:lpwstr>
  </property>
  <property fmtid="{D5CDD505-2E9C-101B-9397-08002B2CF9AE}" pid="3" name="MSIP_Label_d8bb7484-22c2-4b98-9fb8-3ab13d821527_SetDate">
    <vt:lpwstr>2026-04-14T23:07:02Z</vt:lpwstr>
  </property>
  <property fmtid="{D5CDD505-2E9C-101B-9397-08002B2CF9AE}" pid="4" name="MSIP_Label_d8bb7484-22c2-4b98-9fb8-3ab13d821527_Method">
    <vt:lpwstr>Standard</vt:lpwstr>
  </property>
  <property fmtid="{D5CDD505-2E9C-101B-9397-08002B2CF9AE}" pid="5" name="MSIP_Label_d8bb7484-22c2-4b98-9fb8-3ab13d821527_Name">
    <vt:lpwstr>defa4170-0d19-0005-0004-bc88714345d2</vt:lpwstr>
  </property>
  <property fmtid="{D5CDD505-2E9C-101B-9397-08002B2CF9AE}" pid="6" name="MSIP_Label_d8bb7484-22c2-4b98-9fb8-3ab13d821527_SiteId">
    <vt:lpwstr>f50e076b-86a5-45f3-87b0-3f4d0ec5e94e</vt:lpwstr>
  </property>
  <property fmtid="{D5CDD505-2E9C-101B-9397-08002B2CF9AE}" pid="7" name="MSIP_Label_d8bb7484-22c2-4b98-9fb8-3ab13d821527_ActionId">
    <vt:lpwstr>ae4f2216-b52d-4bab-8d0e-0ea23f0eb8ac</vt:lpwstr>
  </property>
  <property fmtid="{D5CDD505-2E9C-101B-9397-08002B2CF9AE}" pid="8" name="MSIP_Label_d8bb7484-22c2-4b98-9fb8-3ab13d821527_ContentBits">
    <vt:lpwstr>0</vt:lpwstr>
  </property>
  <property fmtid="{D5CDD505-2E9C-101B-9397-08002B2CF9AE}" pid="9" name="MSIP_Label_d8bb7484-22c2-4b98-9fb8-3ab13d821527_Tag">
    <vt:lpwstr>10, 3, 0, 1</vt:lpwstr>
  </property>
</Properties>
</file>